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68" r:id="rId9"/>
    <p:sldId id="263" r:id="rId10"/>
    <p:sldId id="269" r:id="rId11"/>
    <p:sldId id="272" r:id="rId12"/>
    <p:sldId id="270" r:id="rId13"/>
    <p:sldId id="273" r:id="rId14"/>
    <p:sldId id="274" r:id="rId15"/>
    <p:sldId id="271" r:id="rId16"/>
    <p:sldId id="264" r:id="rId17"/>
    <p:sldId id="265" r:id="rId18"/>
    <p:sldId id="266" r:id="rId19"/>
    <p:sldId id="275" r:id="rId20"/>
    <p:sldId id="267" r:id="rId2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28.01.2026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1649691"/>
            <a:ext cx="10124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smtClean="0">
                <a:solidFill>
                  <a:srgbClr val="002060"/>
                </a:solidFill>
                <a:cs typeface="Arial" panose="020B0604020202020204" pitchFamily="34" charset="0"/>
              </a:rPr>
              <a:t>Основи асимптотичного аналізу складності алгоритму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82805" y="725865"/>
                <a:ext cx="115007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4800" b="1" smtClean="0">
                    <a:solidFill>
                      <a:srgbClr val="002060"/>
                    </a:solidFill>
                    <a:cs typeface="Arial" panose="020B0604020202020204" pitchFamily="34" charset="0"/>
                  </a:rPr>
                  <a:t>Що таке складність алгоритму та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n-US" sz="4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uk-UA" sz="4800" smtClean="0"/>
                      <m:t>·</m:t>
                    </m:r>
                    <m:r>
                      <a:rPr lang="en-US" sz="4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uk-UA" sz="4800" b="1">
                  <a:solidFill>
                    <a:srgbClr val="00206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5" y="725865"/>
                <a:ext cx="11500701" cy="830997"/>
              </a:xfrm>
              <a:prstGeom prst="rect">
                <a:avLst/>
              </a:prstGeom>
              <a:blipFill rotWithShape="0">
                <a:blip r:embed="rId2"/>
                <a:stretch>
                  <a:fillRect t="-16176" b="-3897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11200" y="2145541"/>
                <a:ext cx="1085894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uk-UA" sz="3200" smtClean="0"/>
                  <a:t>Складність алгоритму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3200" b="1" smtClean="0"/>
                  <a:t> </a:t>
                </a:r>
                <a:r>
                  <a:rPr lang="uk-UA" sz="3200" smtClean="0"/>
                  <a:t>– кількість базових операцій, виконаних </a:t>
                </a:r>
                <a:r>
                  <a:rPr lang="uk-UA" sz="3200"/>
                  <a:t>в</a:t>
                </a:r>
                <a:r>
                  <a:rPr lang="uk-UA" sz="3200" smtClean="0"/>
                  <a:t> залежності від вхідних даних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smtClean="0"/>
                  <a:t>.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2145541"/>
                <a:ext cx="10858946" cy="1077218"/>
              </a:xfrm>
              <a:prstGeom prst="rect">
                <a:avLst/>
              </a:prstGeom>
              <a:blipFill rotWithShape="0">
                <a:blip r:embed="rId3"/>
                <a:stretch>
                  <a:fillRect l="-1460" t="-6780" r="-1404" b="-1807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11200" y="3519050"/>
                <a:ext cx="1085894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ru-RU" sz="3200" smtClean="0"/>
                  <a:t> </a:t>
                </a:r>
                <a:r>
                  <a:rPr lang="uk-UA" sz="3200" smtClean="0"/>
                  <a:t>–</a:t>
                </a:r>
                <a:r>
                  <a:rPr lang="ru-RU" sz="3200" smtClean="0"/>
                  <a:t> це асимптотична верхня межа росту </a:t>
                </a:r>
                <a14:m>
                  <m:oMath xmlns:m="http://schemas.openxmlformats.org/officeDocument/2006/math"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3200" smtClean="0"/>
                  <a:t>.</a:t>
                </a:r>
              </a:p>
              <a:p>
                <a:pPr algn="just"/>
                <a:endParaRPr lang="ru-RU" sz="1200" smtClean="0"/>
              </a:p>
              <a:p>
                <a:pPr algn="just"/>
                <a:r>
                  <a:rPr lang="ru-RU" sz="3200" smtClean="0"/>
                  <a:t>Формально: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)) ⇔</m:t>
                      </m:r>
                    </m:oMath>
                  </m:oMathPara>
                </a14:m>
                <a:endParaRPr lang="pt-BR" sz="3200" b="1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∃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₀ : ∀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₀  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) ≤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3519050"/>
                <a:ext cx="10858946" cy="2308324"/>
              </a:xfrm>
              <a:prstGeom prst="rect">
                <a:avLst/>
              </a:prstGeom>
              <a:blipFill rotWithShape="0">
                <a:blip r:embed="rId4"/>
                <a:stretch>
                  <a:fillRect l="-1460" t="-316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21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82804" y="593785"/>
                <a:ext cx="1150070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4800" b="1" smtClean="0">
                    <a:solidFill>
                      <a:srgbClr val="002060"/>
                    </a:solidFill>
                    <a:cs typeface="Arial" panose="020B0604020202020204" pitchFamily="34" charset="0"/>
                  </a:rPr>
                  <a:t>Що таке складність алгоритму та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d>
                      <m:dPr>
                        <m:ctrlPr>
                          <a:rPr lang="en-US" sz="4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uk-UA" sz="4800" smtClean="0"/>
                          <m:t>·</m:t>
                        </m:r>
                      </m:e>
                    </m:d>
                  </m:oMath>
                </a14:m>
                <a:endParaRPr lang="uk-UA" sz="4800" b="1" smtClean="0">
                  <a:solidFill>
                    <a:srgbClr val="002060"/>
                  </a:solidFill>
                  <a:cs typeface="Arial" panose="020B0604020202020204" pitchFamily="34" charset="0"/>
                </a:endParaRPr>
              </a:p>
              <a:p>
                <a:pPr algn="ctr"/>
                <a:r>
                  <a:rPr lang="uk-UA" sz="4800" b="1" smtClean="0">
                    <a:solidFill>
                      <a:srgbClr val="002060"/>
                    </a:solidFill>
                    <a:cs typeface="Arial" panose="020B0604020202020204" pitchFamily="34" charset="0"/>
                  </a:rPr>
                  <a:t>(на практиці)</a:t>
                </a:r>
                <a:endParaRPr lang="uk-UA" sz="4800" b="1">
                  <a:solidFill>
                    <a:srgbClr val="00206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4" y="593785"/>
                <a:ext cx="11500701" cy="1569660"/>
              </a:xfrm>
              <a:prstGeom prst="rect">
                <a:avLst/>
              </a:prstGeom>
              <a:blipFill rotWithShape="0">
                <a:blip r:embed="rId2"/>
                <a:stretch>
                  <a:fillRect t="-8527" b="-1976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3682" y="2803525"/>
                <a:ext cx="10858946" cy="3091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Нехай ми порахували</a:t>
                </a:r>
                <a:r>
                  <a:rPr lang="en-US" sz="3200" smtClean="0"/>
                  <a:t> </a:t>
                </a:r>
                <a:r>
                  <a:rPr lang="uk-UA" sz="3200" smtClean="0"/>
                  <a:t>кількість базових операцій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𝟓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d>
                          <m:d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func>
                  </m:oMath>
                </a14:m>
                <a:endParaRPr lang="uk-UA" sz="32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Викидаємо всі порядки крім найбільшого: </a:t>
                </a:r>
                <a14:m>
                  <m:oMath xmlns:m="http://schemas.openxmlformats.org/officeDocument/2006/math"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𝟓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uk-UA" sz="32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Викидаємо константи: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uk-UA" sz="32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Складність алгоритму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algn="just"/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82" y="2803525"/>
                <a:ext cx="10858946" cy="3091616"/>
              </a:xfrm>
              <a:prstGeom prst="rect">
                <a:avLst/>
              </a:prstGeom>
              <a:blipFill rotWithShape="0">
                <a:blip r:embed="rId3"/>
                <a:stretch>
                  <a:fillRect l="-1291" t="-236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28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33" y="2326640"/>
            <a:ext cx="3687065" cy="2524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524" y="0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C</a:t>
            </a:r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кладність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: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сума перших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n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чисел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893" y="2326640"/>
            <a:ext cx="3366460" cy="14594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048" y="2326640"/>
            <a:ext cx="3812918" cy="3108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1610" y="1019114"/>
                <a:ext cx="3383030" cy="111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200" b="1" i="1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10" y="1019114"/>
                <a:ext cx="3383030" cy="111940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44583" y="1019114"/>
                <a:ext cx="4113847" cy="1099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3200" b="1" i="1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583" y="1019114"/>
                <a:ext cx="4113847" cy="10995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42723" y="1171514"/>
                <a:ext cx="3383030" cy="111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3200" b="1" i="1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723" y="1171514"/>
                <a:ext cx="3383030" cy="111940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04765" y="5642700"/>
                <a:ext cx="10858946" cy="1088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uk-UA" sz="3200" smtClean="0"/>
                  <a:t>На практиці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3200" b="1" smtClean="0"/>
                  <a:t> </a:t>
                </a:r>
                <a:r>
                  <a:rPr lang="uk-UA" sz="3200" smtClean="0"/>
                  <a:t>не обчислюють, головне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uk-UA" sz="3200" smtClean="0"/>
                  <a:t>.</a:t>
                </a:r>
                <a:endParaRPr lang="uk-UA" sz="3200"/>
              </a:p>
              <a:p>
                <a:pPr algn="just"/>
                <a:r>
                  <a:rPr lang="uk-UA" sz="3200" smtClean="0"/>
                  <a:t>З константами гратись не потрібно</a:t>
                </a:r>
                <a:r>
                  <a:rPr lang="en-US" sz="3200" smtClean="0"/>
                  <a:t>.</a:t>
                </a:r>
                <a:endParaRPr lang="uk-UA" sz="32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65" y="5642700"/>
                <a:ext cx="10858946" cy="1088375"/>
              </a:xfrm>
              <a:prstGeom prst="rect">
                <a:avLst/>
              </a:prstGeom>
              <a:blipFill rotWithShape="0">
                <a:blip r:embed="rId8"/>
                <a:stretch>
                  <a:fillRect l="-1404" t="-6742" b="-1685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80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04" y="325120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операції ба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ові 𝑶(𝟏)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5282" y="1411605"/>
            <a:ext cx="1085894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 smtClean="0"/>
              <a:t>Арифметика: +</a:t>
            </a:r>
            <a:r>
              <a:rPr lang="en-US" sz="3200"/>
              <a:t>,</a:t>
            </a:r>
            <a:r>
              <a:rPr lang="uk-UA" sz="3200" smtClean="0"/>
              <a:t> −</a:t>
            </a:r>
            <a:r>
              <a:rPr lang="en-US" sz="3200" smtClean="0"/>
              <a:t>,</a:t>
            </a:r>
            <a:r>
              <a:rPr lang="uk-UA" sz="3200" smtClean="0"/>
              <a:t> *</a:t>
            </a:r>
            <a:r>
              <a:rPr lang="en-US" sz="3200" smtClean="0"/>
              <a:t>,</a:t>
            </a:r>
            <a:r>
              <a:rPr lang="uk-UA" sz="3200" smtClean="0"/>
              <a:t> /</a:t>
            </a:r>
            <a:r>
              <a:rPr lang="en-US" sz="3200" smtClean="0"/>
              <a:t>,</a:t>
            </a:r>
            <a:r>
              <a:rPr lang="uk-UA" sz="3200" smtClean="0"/>
              <a:t> ++</a:t>
            </a:r>
            <a:r>
              <a:rPr lang="en-US" sz="3200" smtClean="0"/>
              <a:t>,</a:t>
            </a:r>
            <a:r>
              <a:rPr lang="uk-UA" sz="3200" smtClean="0"/>
              <a:t> --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 smtClean="0"/>
              <a:t>Порівняння: &lt;</a:t>
            </a:r>
            <a:r>
              <a:rPr lang="en-US" sz="3200" smtClean="0"/>
              <a:t>, </a:t>
            </a:r>
            <a:r>
              <a:rPr lang="uk-UA" sz="3200" smtClean="0"/>
              <a:t>&lt;=</a:t>
            </a:r>
            <a:r>
              <a:rPr lang="en-US" sz="3200" smtClean="0"/>
              <a:t>,</a:t>
            </a:r>
            <a:r>
              <a:rPr lang="uk-UA" sz="3200" smtClean="0"/>
              <a:t> ==</a:t>
            </a:r>
            <a:r>
              <a:rPr lang="en-US" sz="3200" smtClean="0"/>
              <a:t>,</a:t>
            </a:r>
            <a:r>
              <a:rPr lang="uk-UA" sz="3200" smtClean="0"/>
              <a:t> !=</a:t>
            </a:r>
            <a:endParaRPr lang="en-US" sz="32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/>
              <a:t>П</a:t>
            </a:r>
            <a:r>
              <a:rPr lang="uk-UA" sz="3200" smtClean="0"/>
              <a:t>рисвоєння: =</a:t>
            </a:r>
            <a:endParaRPr lang="en-US" sz="32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smtClean="0"/>
              <a:t>swap </a:t>
            </a:r>
            <a:r>
              <a:rPr lang="uk-UA" sz="3200" smtClean="0"/>
              <a:t>(зазвичай)</a:t>
            </a:r>
            <a:endParaRPr lang="en-US" sz="320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/>
              <a:t>Л</a:t>
            </a:r>
            <a:r>
              <a:rPr lang="uk-UA" sz="3200" smtClean="0"/>
              <a:t>огічні: &amp;&amp;</a:t>
            </a:r>
            <a:r>
              <a:rPr lang="en-US" sz="3200" smtClean="0"/>
              <a:t>,</a:t>
            </a:r>
            <a:r>
              <a:rPr lang="uk-UA" sz="3200" smtClean="0"/>
              <a:t> ||</a:t>
            </a:r>
            <a:r>
              <a:rPr lang="en-US" sz="3200" smtClean="0"/>
              <a:t>,</a:t>
            </a:r>
            <a:r>
              <a:rPr lang="uk-UA" sz="3200" smtClean="0"/>
              <a:t> !</a:t>
            </a:r>
            <a:endParaRPr lang="en-US" sz="32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/>
              <a:t>Д</a:t>
            </a:r>
            <a:r>
              <a:rPr lang="uk-UA" sz="3200" smtClean="0"/>
              <a:t>оступ до масиву: </a:t>
            </a:r>
            <a:r>
              <a:rPr lang="en-US" sz="3200" smtClean="0"/>
              <a:t>a[i]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/>
              <a:t>З</a:t>
            </a:r>
            <a:r>
              <a:rPr lang="uk-UA" sz="3200" smtClean="0"/>
              <a:t>вернення до поля: </a:t>
            </a:r>
            <a:r>
              <a:rPr lang="en-US" sz="3200" smtClean="0"/>
              <a:t>obj.x</a:t>
            </a:r>
            <a:r>
              <a:rPr lang="uk-UA" sz="3200" smtClean="0"/>
              <a:t>, </a:t>
            </a:r>
            <a:r>
              <a:rPr lang="en-US" sz="3200" smtClean="0"/>
              <a:t>ptr-&gt;x</a:t>
            </a:r>
            <a:endParaRPr lang="uk-UA" sz="32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3200" smtClean="0"/>
              <a:t>Більшість функцій з &lt;</a:t>
            </a:r>
            <a:r>
              <a:rPr lang="en-US" sz="3200" smtClean="0"/>
              <a:t>cmath&gt;: sqrt, sin, log (</a:t>
            </a:r>
            <a:r>
              <a:rPr lang="uk-UA" sz="3200" smtClean="0"/>
              <a:t>вважаємо </a:t>
            </a:r>
            <a:r>
              <a:rPr lang="en-US" sz="3200" smtClean="0"/>
              <a:t>O(1))</a:t>
            </a:r>
            <a:endParaRPr lang="uk-UA" sz="32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smtClean="0"/>
              <a:t>new / delete (</a:t>
            </a:r>
            <a:r>
              <a:rPr lang="uk-UA" sz="3200" smtClean="0"/>
              <a:t>асимптотично </a:t>
            </a:r>
            <a:r>
              <a:rPr lang="en-US" sz="3200" smtClean="0"/>
              <a:t>O(1)</a:t>
            </a:r>
            <a:r>
              <a:rPr lang="uk-UA" sz="3200" smtClean="0"/>
              <a:t>, </a:t>
            </a:r>
            <a:r>
              <a:rPr lang="en-US" sz="3200" smtClean="0"/>
              <a:t>new </a:t>
            </a:r>
            <a:r>
              <a:rPr lang="uk-UA" sz="3200" smtClean="0"/>
              <a:t>одиничного елемента</a:t>
            </a:r>
            <a:r>
              <a:rPr lang="en-US" sz="3200" smtClean="0"/>
              <a:t>)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350743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04" y="325120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Які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операції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зазвичай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&gt;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𝑶(𝟏)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25602" y="2366645"/>
                <a:ext cx="1085894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/>
                  <a:t>Ц</a:t>
                </a:r>
                <a:r>
                  <a:rPr lang="uk-UA" sz="3200" smtClean="0"/>
                  <a:t>икли </a:t>
                </a:r>
                <a:r>
                  <a:rPr lang="en-US" sz="3200" smtClean="0"/>
                  <a:t>for / while</a:t>
                </a:r>
                <a:r>
                  <a:rPr lang="uk-UA" sz="3200" smtClean="0"/>
                  <a:t> (зазичай)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Рекурсія (зазвичай)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3200" smtClean="0"/>
                  <a:t>new [] (</a:t>
                </a:r>
                <a:r>
                  <a:rPr lang="uk-UA" sz="3200" smtClean="0"/>
                  <a:t>аллокація масива</a:t>
                </a:r>
                <a:r>
                  <a:rPr lang="en-US" sz="3200" smtClean="0"/>
                  <a:t>)</a:t>
                </a:r>
                <a:endParaRPr lang="uk-UA" sz="32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Все що містить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як частину алгоритму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02" y="2366645"/>
                <a:ext cx="10858946" cy="2062103"/>
              </a:xfrm>
              <a:prstGeom prst="rect">
                <a:avLst/>
              </a:prstGeom>
              <a:blipFill rotWithShape="0">
                <a:blip r:embed="rId2"/>
                <a:stretch>
                  <a:fillRect l="-1291" t="-3835" b="-885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12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55" y="1064677"/>
            <a:ext cx="4135545" cy="5453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1844" y="233680"/>
            <a:ext cx="1150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#include &lt;random&gt;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523" y="1569286"/>
            <a:ext cx="4191932" cy="2078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60523" y="1024594"/>
            <a:ext cx="1814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3200" smtClean="0"/>
              <a:t>Запуск 1</a:t>
            </a:r>
            <a:endParaRPr lang="uk-UA" sz="3200"/>
          </a:p>
        </p:txBody>
      </p:sp>
      <p:sp>
        <p:nvSpPr>
          <p:cNvPr id="7" name="TextBox 6"/>
          <p:cNvSpPr txBox="1"/>
          <p:nvPr/>
        </p:nvSpPr>
        <p:spPr>
          <a:xfrm>
            <a:off x="6060523" y="3749903"/>
            <a:ext cx="1814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3200" smtClean="0"/>
              <a:t>Запуск 2</a:t>
            </a:r>
            <a:endParaRPr lang="uk-UA" sz="320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523" y="4334678"/>
            <a:ext cx="4191932" cy="20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7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250" y="233680"/>
            <a:ext cx="11722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Найкраща, середня та найгірша складність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4983" y="1938994"/>
            <a:ext cx="105510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smtClean="0"/>
              <a:t>Best case</a:t>
            </a:r>
            <a:r>
              <a:rPr lang="uk-UA" sz="3200" b="1" smtClean="0"/>
              <a:t> </a:t>
            </a:r>
            <a:r>
              <a:rPr lang="uk-UA" sz="3200" smtClean="0"/>
              <a:t>–</a:t>
            </a:r>
            <a:r>
              <a:rPr lang="en-US" sz="3200" smtClean="0"/>
              <a:t> </a:t>
            </a:r>
            <a:r>
              <a:rPr lang="uk-UA" sz="3200" smtClean="0"/>
              <a:t>мінімальна кількість базових операцій (найкращий можливий вхід, використовується рідко)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smtClean="0"/>
              <a:t>Average case </a:t>
            </a:r>
            <a:r>
              <a:rPr lang="uk-UA" sz="3200" smtClean="0"/>
              <a:t>–</a:t>
            </a:r>
            <a:r>
              <a:rPr lang="en-US" sz="3200" smtClean="0"/>
              <a:t> </a:t>
            </a:r>
            <a:r>
              <a:rPr lang="uk-UA" sz="3200" smtClean="0"/>
              <a:t>середня кількість операцій (для “типового” входу)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smtClean="0"/>
              <a:t>Worst case </a:t>
            </a:r>
            <a:r>
              <a:rPr lang="uk-UA" sz="3200" smtClean="0"/>
              <a:t>–</a:t>
            </a:r>
            <a:r>
              <a:rPr lang="en-US" sz="3200" smtClean="0"/>
              <a:t> </a:t>
            </a:r>
            <a:r>
              <a:rPr lang="uk-UA" sz="3200" smtClean="0"/>
              <a:t>максимальна кількість операцій (найгірший можливий вхід)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45605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75651" y="26416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Лінійний пошук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7" y="1935175"/>
            <a:ext cx="6036163" cy="34292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16263" y="2725753"/>
                <a:ext cx="412229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263" y="2725753"/>
                <a:ext cx="4122297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3402" t="-4651" b="-1201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37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Сортування бульбашкою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31223" y="2746073"/>
                <a:ext cx="4122297" cy="1611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223" y="2746073"/>
                <a:ext cx="4122297" cy="1611852"/>
              </a:xfrm>
              <a:prstGeom prst="rect">
                <a:avLst/>
              </a:prstGeom>
              <a:blipFill rotWithShape="0">
                <a:blip r:embed="rId2"/>
                <a:stretch>
                  <a:fillRect l="-3397" t="-4528" b="-905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53" y="1542723"/>
            <a:ext cx="6401693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8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Бінарний пошук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244080" y="2746073"/>
                <a:ext cx="471423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080" y="2746073"/>
                <a:ext cx="4714239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2972" t="-4651" b="-1201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43" y="1372532"/>
            <a:ext cx="4781677" cy="516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2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Порядок складностей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2766393"/>
                <a:ext cx="12192000" cy="559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uk-UA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uk-UA" sz="300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66393"/>
                <a:ext cx="12192000" cy="5591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864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32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Складність операції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vs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складність алгоритму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071360" y="3952779"/>
                <a:ext cx="4714239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Складність алгоритму: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32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360" y="3952779"/>
                <a:ext cx="4714239" cy="2062103"/>
              </a:xfrm>
              <a:prstGeom prst="rect">
                <a:avLst/>
              </a:prstGeom>
              <a:blipFill rotWithShape="0">
                <a:blip r:embed="rId2"/>
                <a:stretch>
                  <a:fillRect l="-3234" t="-3835" b="-885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071361" y="1772860"/>
                <a:ext cx="4714239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Складність операції: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uk-UA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uk-UA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32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361" y="1772860"/>
                <a:ext cx="4714239" cy="2062103"/>
              </a:xfrm>
              <a:prstGeom prst="rect">
                <a:avLst/>
              </a:prstGeom>
              <a:blipFill rotWithShape="0">
                <a:blip r:embed="rId3"/>
                <a:stretch>
                  <a:fillRect l="-3234" t="-3846" b="-917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726" y="1277720"/>
            <a:ext cx="4119474" cy="511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Складність по пам’яті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5602" y="1431925"/>
            <a:ext cx="108589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3200" smtClean="0"/>
              <a:t>Складність по пам’яті – скільки максимум використається пам’яті в залежності від </a:t>
            </a:r>
            <a:r>
              <a:rPr lang="en-US" sz="3200" b="1" smtClean="0"/>
              <a:t>n</a:t>
            </a:r>
            <a:r>
              <a:rPr lang="en-US" sz="3200" smtClean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00" y="3048175"/>
            <a:ext cx="3296110" cy="4572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011" y="5026088"/>
            <a:ext cx="3858163" cy="5239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855" y="4431681"/>
            <a:ext cx="3596801" cy="17127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217497" y="2531314"/>
                <a:ext cx="21951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uk-UA" sz="3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smtClean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497" y="2531314"/>
                <a:ext cx="2195188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322661" y="2387488"/>
                <a:ext cx="21951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smtClean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661" y="2387488"/>
                <a:ext cx="2195188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217497" y="4372929"/>
                <a:ext cx="21951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smtClean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497" y="4372929"/>
                <a:ext cx="2195188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322661" y="3846906"/>
                <a:ext cx="21951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uk-UA" sz="3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smtClean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661" y="3846906"/>
                <a:ext cx="2195188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667" y="3171072"/>
            <a:ext cx="320084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31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84" y="1313677"/>
            <a:ext cx="3872355" cy="5025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Проста факторизація числа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10447" y="2764927"/>
                <a:ext cx="4714239" cy="1575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uk-UA" sz="3200" b="0" i="0" smtClean="0">
                        <a:latin typeface="Cambria Math" panose="02040503050406030204" pitchFamily="18" charset="0"/>
                      </a:rPr>
                      <m:t>???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447" y="2764927"/>
                <a:ext cx="4714239" cy="1575239"/>
              </a:xfrm>
              <a:prstGeom prst="rect">
                <a:avLst/>
              </a:prstGeom>
              <a:blipFill rotWithShape="0">
                <a:blip r:embed="rId3"/>
                <a:stretch>
                  <a:fillRect l="-2972" t="-4651" b="-1240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149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01" y="1517715"/>
            <a:ext cx="3815527" cy="44276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6451" y="294640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Сума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1..n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(з заковиркою)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10447" y="2764927"/>
                <a:ext cx="4714239" cy="1575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uk-UA" sz="32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uk-UA" sz="32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447" y="2764927"/>
                <a:ext cx="4714239" cy="1575239"/>
              </a:xfrm>
              <a:prstGeom prst="rect">
                <a:avLst/>
              </a:prstGeom>
              <a:blipFill rotWithShape="0">
                <a:blip r:embed="rId3"/>
                <a:stretch>
                  <a:fillRect l="-2972" t="-4651" b="-1201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66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520" y="1187776"/>
            <a:ext cx="3341012" cy="52931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6451" y="256933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Бінарний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пошук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по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float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004875" y="2764927"/>
                <a:ext cx="5519812" cy="219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𝐸𝑃𝑆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𝐸𝑃𝑆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𝐸𝑃𝑆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uk-UA" sz="32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875" y="2764927"/>
                <a:ext cx="5519812" cy="2192139"/>
              </a:xfrm>
              <a:prstGeom prst="rect">
                <a:avLst/>
              </a:prstGeom>
              <a:blipFill rotWithShape="0">
                <a:blip r:embed="rId3"/>
                <a:stretch>
                  <a:fillRect l="-2539" b="-390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078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01" y="1596162"/>
            <a:ext cx="3639058" cy="4382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6451" y="256933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Приклад рекурсії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004875" y="2764927"/>
                <a:ext cx="551981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uk-UA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875" y="2764927"/>
                <a:ext cx="5519812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2539" t="-4669" b="-1245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265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01" y="895546"/>
            <a:ext cx="2664693" cy="56955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7024" y="64549"/>
            <a:ext cx="7857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Сортування підрахунком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646656" y="2746073"/>
                <a:ext cx="551981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Best case</a:t>
                </a:r>
                <a:r>
                  <a:rPr lang="uk-UA" sz="3200" b="1" smtClean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Average case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1" smtClean="0"/>
                  <a:t>Worst case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uk-UA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200" smtClean="0"/>
                  <a:t>)</a:t>
                </a:r>
                <a:endParaRPr lang="uk-UA" sz="32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656" y="2746073"/>
                <a:ext cx="5519812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2539" t="-4651" b="-1201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353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6900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542</Words>
  <Application>Microsoft Office PowerPoint</Application>
  <PresentationFormat>Широкоэкранный</PresentationFormat>
  <Paragraphs>94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18</cp:revision>
  <dcterms:created xsi:type="dcterms:W3CDTF">2026-01-27T07:18:31Z</dcterms:created>
  <dcterms:modified xsi:type="dcterms:W3CDTF">2026-01-28T01:18:11Z</dcterms:modified>
</cp:coreProperties>
</file>