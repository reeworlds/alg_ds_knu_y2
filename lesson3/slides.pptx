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81" r:id="rId4"/>
    <p:sldId id="282" r:id="rId5"/>
    <p:sldId id="283" r:id="rId6"/>
    <p:sldId id="267" r:id="rId7"/>
    <p:sldId id="277" r:id="rId8"/>
    <p:sldId id="278" r:id="rId9"/>
    <p:sldId id="279" r:id="rId10"/>
    <p:sldId id="280" r:id="rId11"/>
    <p:sldId id="284" r:id="rId12"/>
    <p:sldId id="289" r:id="rId13"/>
    <p:sldId id="290" r:id="rId14"/>
    <p:sldId id="291" r:id="rId15"/>
    <p:sldId id="285" r:id="rId16"/>
    <p:sldId id="292" r:id="rId17"/>
    <p:sldId id="286" r:id="rId18"/>
    <p:sldId id="293" r:id="rId19"/>
    <p:sldId id="294" r:id="rId20"/>
    <p:sldId id="297" r:id="rId21"/>
    <p:sldId id="300" r:id="rId22"/>
    <p:sldId id="302" r:id="rId23"/>
    <p:sldId id="295" r:id="rId24"/>
    <p:sldId id="303" r:id="rId25"/>
    <p:sldId id="305" r:id="rId26"/>
    <p:sldId id="304" r:id="rId27"/>
    <p:sldId id="307" r:id="rId28"/>
    <p:sldId id="306" r:id="rId29"/>
    <p:sldId id="288" r:id="rId3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11.02.2026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1649691"/>
            <a:ext cx="10124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Рекурсія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2495" y="388195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Рекурсія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0962" y="2162503"/>
            <a:ext cx="10473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4000" smtClean="0"/>
              <a:t>Рекурсія – це коли функція викликає сама себе.</a:t>
            </a:r>
            <a:endParaRPr lang="en-US" sz="4000" smtClean="0"/>
          </a:p>
        </p:txBody>
      </p:sp>
      <p:pic>
        <p:nvPicPr>
          <p:cNvPr id="2" name="Picture 2" descr="🙃 Upside-Down Face Emoji: Meaning &amp; Us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392" y="3813700"/>
            <a:ext cx="2012590" cy="201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93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2495" y="388195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Рекурсія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5403" y="1380355"/>
            <a:ext cx="67869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3200" b="1" smtClean="0"/>
              <a:t>Коли вона виникає?</a:t>
            </a:r>
          </a:p>
          <a:p>
            <a:pPr marL="571500" indent="-571500" algn="just">
              <a:buFontTx/>
              <a:buChar char="-"/>
            </a:pPr>
            <a:r>
              <a:rPr lang="uk-UA" sz="3200" smtClean="0"/>
              <a:t>Рекурсивні математичні формули</a:t>
            </a:r>
            <a:r>
              <a:rPr lang="en-US" sz="3200" smtClean="0"/>
              <a:t>;</a:t>
            </a:r>
            <a:endParaRPr lang="uk-UA" sz="3200" smtClean="0"/>
          </a:p>
          <a:p>
            <a:pPr marL="571500" indent="-571500" algn="just">
              <a:buFontTx/>
              <a:buChar char="-"/>
            </a:pPr>
            <a:r>
              <a:rPr lang="uk-UA" sz="3200" smtClean="0"/>
              <a:t>Повторення з розгалуженням</a:t>
            </a:r>
            <a:r>
              <a:rPr lang="en-US" sz="3200" smtClean="0"/>
              <a:t>;</a:t>
            </a:r>
            <a:endParaRPr lang="uk-UA" sz="3200" smtClean="0"/>
          </a:p>
          <a:p>
            <a:pPr marL="571500" indent="-571500" algn="just">
              <a:buFontTx/>
              <a:buChar char="-"/>
            </a:pPr>
            <a:r>
              <a:rPr lang="uk-UA" sz="3200" smtClean="0"/>
              <a:t>Графи (ще будемо розглядати)</a:t>
            </a:r>
            <a:r>
              <a:rPr lang="en-US" sz="3200" smtClean="0"/>
              <a:t>;</a:t>
            </a:r>
            <a:endParaRPr lang="uk-UA" sz="3200" smtClean="0"/>
          </a:p>
          <a:p>
            <a:pPr marL="571500" indent="-571500" algn="just">
              <a:buFontTx/>
              <a:buChar char="-"/>
            </a:pPr>
            <a:r>
              <a:rPr lang="uk-UA" sz="3200" smtClean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52122" y="4389667"/>
                <a:ext cx="46820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𝑓𝑎𝑐𝑡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𝑓𝑎𝑐𝑡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122" y="4389667"/>
                <a:ext cx="4682051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5491" y="5261463"/>
                <a:ext cx="60553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91" y="5261463"/>
                <a:ext cx="6055312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ymmetric fractal trees in three dimensions - ScienceDirect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7" b="11692"/>
          <a:stretch/>
        </p:blipFill>
        <p:spPr bwMode="auto">
          <a:xfrm>
            <a:off x="8567998" y="3179240"/>
            <a:ext cx="2758763" cy="319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67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2495" y="388195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Рекурсія: пройти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n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кроків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22973" y="1770124"/>
            <a:ext cx="1392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smtClean="0"/>
              <a:t>Цикл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5" y="2515155"/>
            <a:ext cx="3676295" cy="199926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25" y="2515155"/>
            <a:ext cx="3211928" cy="19992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042" y="2128655"/>
            <a:ext cx="3007960" cy="30560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52360" y="1770124"/>
            <a:ext cx="2441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smtClean="0"/>
              <a:t>Рекурсія (</a:t>
            </a:r>
            <a:r>
              <a:rPr lang="en-US" sz="3200" smtClean="0"/>
              <a:t>v1</a:t>
            </a:r>
            <a:r>
              <a:rPr lang="uk-UA" sz="3200" smtClean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2250" y="1375769"/>
            <a:ext cx="2441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smtClean="0"/>
              <a:t>Рекурсія (</a:t>
            </a:r>
            <a:r>
              <a:rPr lang="en-US" sz="3200" smtClean="0"/>
              <a:t>v2</a:t>
            </a:r>
            <a:r>
              <a:rPr lang="uk-UA" sz="3200" smtClean="0"/>
              <a:t>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92011" y="5052767"/>
            <a:ext cx="2026603" cy="5750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Овал 11"/>
          <p:cNvSpPr/>
          <p:nvPr/>
        </p:nvSpPr>
        <p:spPr>
          <a:xfrm>
            <a:off x="942681" y="52507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Овал 14"/>
          <p:cNvSpPr/>
          <p:nvPr/>
        </p:nvSpPr>
        <p:spPr>
          <a:xfrm>
            <a:off x="1418418" y="52507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Овал 16"/>
          <p:cNvSpPr/>
          <p:nvPr/>
        </p:nvSpPr>
        <p:spPr>
          <a:xfrm>
            <a:off x="1894155" y="52507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Овал 18"/>
          <p:cNvSpPr/>
          <p:nvPr/>
        </p:nvSpPr>
        <p:spPr>
          <a:xfrm>
            <a:off x="2365970" y="52507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Прямоугольник 22"/>
          <p:cNvSpPr/>
          <p:nvPr/>
        </p:nvSpPr>
        <p:spPr>
          <a:xfrm>
            <a:off x="4789407" y="4930219"/>
            <a:ext cx="2658200" cy="8012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Овал 23"/>
          <p:cNvSpPr/>
          <p:nvPr/>
        </p:nvSpPr>
        <p:spPr>
          <a:xfrm>
            <a:off x="4940077" y="52507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Прямоугольник 33"/>
          <p:cNvSpPr/>
          <p:nvPr/>
        </p:nvSpPr>
        <p:spPr>
          <a:xfrm>
            <a:off x="5269856" y="5015059"/>
            <a:ext cx="2064198" cy="6315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Овал 34"/>
          <p:cNvSpPr/>
          <p:nvPr/>
        </p:nvSpPr>
        <p:spPr>
          <a:xfrm>
            <a:off x="5420526" y="5250728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6" name="Прямоугольник 35"/>
          <p:cNvSpPr/>
          <p:nvPr/>
        </p:nvSpPr>
        <p:spPr>
          <a:xfrm>
            <a:off x="5708499" y="5090474"/>
            <a:ext cx="1503914" cy="480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7" name="Овал 36"/>
          <p:cNvSpPr/>
          <p:nvPr/>
        </p:nvSpPr>
        <p:spPr>
          <a:xfrm>
            <a:off x="5844618" y="5250728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Прямоугольник 37"/>
          <p:cNvSpPr/>
          <p:nvPr/>
        </p:nvSpPr>
        <p:spPr>
          <a:xfrm>
            <a:off x="6136334" y="5165889"/>
            <a:ext cx="914915" cy="3487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Овал 38"/>
          <p:cNvSpPr/>
          <p:nvPr/>
        </p:nvSpPr>
        <p:spPr>
          <a:xfrm>
            <a:off x="6287289" y="5250728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8" name="Прямоугольник 47"/>
          <p:cNvSpPr/>
          <p:nvPr/>
        </p:nvSpPr>
        <p:spPr>
          <a:xfrm>
            <a:off x="8786802" y="5508721"/>
            <a:ext cx="2770459" cy="8012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9" name="Прямоугольник 48"/>
          <p:cNvSpPr/>
          <p:nvPr/>
        </p:nvSpPr>
        <p:spPr>
          <a:xfrm>
            <a:off x="8863256" y="5593561"/>
            <a:ext cx="1242278" cy="6315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0" name="Прямоугольник 49"/>
          <p:cNvSpPr/>
          <p:nvPr/>
        </p:nvSpPr>
        <p:spPr>
          <a:xfrm>
            <a:off x="10181987" y="5593560"/>
            <a:ext cx="1242278" cy="6315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1" name="Прямоугольник 50"/>
          <p:cNvSpPr/>
          <p:nvPr/>
        </p:nvSpPr>
        <p:spPr>
          <a:xfrm>
            <a:off x="8924610" y="5676507"/>
            <a:ext cx="511621" cy="480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2" name="Прямоугольник 51"/>
          <p:cNvSpPr/>
          <p:nvPr/>
        </p:nvSpPr>
        <p:spPr>
          <a:xfrm>
            <a:off x="9497585" y="5679026"/>
            <a:ext cx="511621" cy="480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7" name="Прямоугольник 56"/>
          <p:cNvSpPr/>
          <p:nvPr/>
        </p:nvSpPr>
        <p:spPr>
          <a:xfrm>
            <a:off x="10252675" y="5673988"/>
            <a:ext cx="511621" cy="480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8" name="Прямоугольник 57"/>
          <p:cNvSpPr/>
          <p:nvPr/>
        </p:nvSpPr>
        <p:spPr>
          <a:xfrm>
            <a:off x="10825650" y="5676507"/>
            <a:ext cx="511621" cy="480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9" name="Овал 58"/>
          <p:cNvSpPr/>
          <p:nvPr/>
        </p:nvSpPr>
        <p:spPr>
          <a:xfrm>
            <a:off x="9086199" y="5827335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0" name="Овал 59"/>
          <p:cNvSpPr/>
          <p:nvPr/>
        </p:nvSpPr>
        <p:spPr>
          <a:xfrm>
            <a:off x="9662180" y="5827334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1" name="Овал 60"/>
          <p:cNvSpPr/>
          <p:nvPr/>
        </p:nvSpPr>
        <p:spPr>
          <a:xfrm>
            <a:off x="10395397" y="5827334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2" name="Овал 61"/>
          <p:cNvSpPr/>
          <p:nvPr/>
        </p:nvSpPr>
        <p:spPr>
          <a:xfrm>
            <a:off x="10991905" y="5818229"/>
            <a:ext cx="179109" cy="1791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Прямоугольник 32"/>
          <p:cNvSpPr/>
          <p:nvPr/>
        </p:nvSpPr>
        <p:spPr>
          <a:xfrm>
            <a:off x="6555258" y="5250728"/>
            <a:ext cx="421643" cy="1791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990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2011" y="388195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Рекурсія: повторення з розгалуженням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1909" y="5752281"/>
            <a:ext cx="11307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/>
              <a:t>Простим циклом відтворити таку логіку практично </a:t>
            </a:r>
            <a:r>
              <a:rPr lang="ru-RU" sz="3200" smtClean="0"/>
              <a:t>неможливо</a:t>
            </a:r>
            <a:r>
              <a:rPr lang="en-US" sz="3200" smtClean="0"/>
              <a:t>!</a:t>
            </a:r>
            <a:endParaRPr lang="uk-UA" sz="3200" b="1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09" y="1624917"/>
            <a:ext cx="8187056" cy="3470517"/>
          </a:xfrm>
          <a:prstGeom prst="rect">
            <a:avLst/>
          </a:pr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993" y="1800624"/>
            <a:ext cx="3212408" cy="30697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3817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9" y="2157765"/>
            <a:ext cx="4118978" cy="3383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73513" y="3356848"/>
                <a:ext cx="46820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𝑓𝑎𝑐𝑡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𝑓𝑎𝑐𝑡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513" y="3356848"/>
                <a:ext cx="468205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92011" y="388195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Факторіал (С++)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8164" y="1323367"/>
            <a:ext cx="54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e1_factorial.cpp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403569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11" y="209086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Факторіал (Схема)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80" y="2195474"/>
            <a:ext cx="2572131" cy="211257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6" y="1122567"/>
            <a:ext cx="2885819" cy="706234"/>
          </a:xfrm>
          <a:prstGeom prst="rect">
            <a:avLst/>
          </a:prstGeom>
        </p:spPr>
      </p:pic>
      <p:cxnSp>
        <p:nvCxnSpPr>
          <p:cNvPr id="10" name="Прямая со стрелкой 9"/>
          <p:cNvCxnSpPr>
            <a:endCxn id="3" idx="0"/>
          </p:cNvCxnSpPr>
          <p:nvPr/>
        </p:nvCxnSpPr>
        <p:spPr>
          <a:xfrm flipH="1">
            <a:off x="1739046" y="1663095"/>
            <a:ext cx="1202119" cy="5323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611" y="2574117"/>
            <a:ext cx="2572131" cy="211257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685" y="2970043"/>
            <a:ext cx="2572131" cy="211257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760" y="3630405"/>
            <a:ext cx="2572131" cy="21125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81900" y="162741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FF0000"/>
                </a:solidFill>
              </a:rPr>
              <a:t>4</a:t>
            </a:r>
            <a:endParaRPr lang="uk-UA" sz="4400" b="1">
              <a:solidFill>
                <a:srgbClr val="FF0000"/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V="1">
            <a:off x="2580473" y="2901708"/>
            <a:ext cx="1878405" cy="8972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5647168" y="3251762"/>
            <a:ext cx="1878405" cy="8972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8568065" y="3921551"/>
            <a:ext cx="1820273" cy="6068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61" y="2741351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FF0000"/>
                </a:solidFill>
              </a:rPr>
              <a:t>3</a:t>
            </a:r>
            <a:endParaRPr lang="uk-UA" sz="4400" b="1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4861" y="306207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FF0000"/>
                </a:solidFill>
              </a:rPr>
              <a:t>2</a:t>
            </a:r>
            <a:endParaRPr lang="uk-UA" sz="4400" b="1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22788" y="356514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FF0000"/>
                </a:solidFill>
              </a:rPr>
              <a:t>1</a:t>
            </a:r>
            <a:endParaRPr lang="uk-UA" sz="4400" b="1">
              <a:solidFill>
                <a:srgbClr val="FF0000"/>
              </a:solidFill>
            </a:endParaRPr>
          </a:p>
        </p:txBody>
      </p:sp>
      <p:sp>
        <p:nvSpPr>
          <p:cNvPr id="28" name="Дуга 27"/>
          <p:cNvSpPr/>
          <p:nvPr/>
        </p:nvSpPr>
        <p:spPr>
          <a:xfrm rot="8437400">
            <a:off x="8250034" y="2751165"/>
            <a:ext cx="2485508" cy="248550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9" name="TextBox 28"/>
          <p:cNvSpPr txBox="1"/>
          <p:nvPr/>
        </p:nvSpPr>
        <p:spPr>
          <a:xfrm>
            <a:off x="8778049" y="509518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00B050"/>
                </a:solidFill>
              </a:rPr>
              <a:t>1</a:t>
            </a:r>
            <a:endParaRPr lang="uk-UA" sz="4400" b="1">
              <a:solidFill>
                <a:srgbClr val="00B050"/>
              </a:solidFill>
            </a:endParaRPr>
          </a:p>
        </p:txBody>
      </p:sp>
      <p:sp>
        <p:nvSpPr>
          <p:cNvPr id="30" name="Дуга 29"/>
          <p:cNvSpPr/>
          <p:nvPr/>
        </p:nvSpPr>
        <p:spPr>
          <a:xfrm rot="9098114">
            <a:off x="5573552" y="3053982"/>
            <a:ext cx="1761186" cy="1761186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TextBox 30"/>
          <p:cNvSpPr txBox="1"/>
          <p:nvPr/>
        </p:nvSpPr>
        <p:spPr>
          <a:xfrm>
            <a:off x="5749507" y="465990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00B050"/>
                </a:solidFill>
              </a:rPr>
              <a:t>2</a:t>
            </a:r>
            <a:endParaRPr lang="uk-UA" sz="4400" b="1">
              <a:solidFill>
                <a:srgbClr val="00B050"/>
              </a:solidFill>
            </a:endParaRPr>
          </a:p>
        </p:txBody>
      </p:sp>
      <p:sp>
        <p:nvSpPr>
          <p:cNvPr id="32" name="Дуга 31"/>
          <p:cNvSpPr/>
          <p:nvPr/>
        </p:nvSpPr>
        <p:spPr>
          <a:xfrm rot="9332883">
            <a:off x="2417399" y="2589544"/>
            <a:ext cx="2339647" cy="1761186"/>
          </a:xfrm>
          <a:prstGeom prst="arc">
            <a:avLst>
              <a:gd name="adj1" fmla="val 16212376"/>
              <a:gd name="adj2" fmla="val 21453005"/>
            </a:avLst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TextBox 32"/>
          <p:cNvSpPr txBox="1"/>
          <p:nvPr/>
        </p:nvSpPr>
        <p:spPr>
          <a:xfrm>
            <a:off x="2858886" y="4368459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00B050"/>
                </a:solidFill>
              </a:rPr>
              <a:t>6</a:t>
            </a:r>
            <a:endParaRPr lang="uk-UA" sz="4400" b="1">
              <a:solidFill>
                <a:srgbClr val="00B050"/>
              </a:solidFill>
            </a:endParaRPr>
          </a:p>
        </p:txBody>
      </p:sp>
      <p:sp>
        <p:nvSpPr>
          <p:cNvPr id="34" name="Дуга 33"/>
          <p:cNvSpPr/>
          <p:nvPr/>
        </p:nvSpPr>
        <p:spPr>
          <a:xfrm rot="14470638">
            <a:off x="660103" y="1351067"/>
            <a:ext cx="3355640" cy="3422005"/>
          </a:xfrm>
          <a:prstGeom prst="arc">
            <a:avLst>
              <a:gd name="adj1" fmla="val 16212376"/>
              <a:gd name="adj2" fmla="val 21453005"/>
            </a:avLst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TextBox 34"/>
          <p:cNvSpPr txBox="1"/>
          <p:nvPr/>
        </p:nvSpPr>
        <p:spPr>
          <a:xfrm>
            <a:off x="159423" y="1627417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solidFill>
                  <a:srgbClr val="00B050"/>
                </a:solidFill>
              </a:rPr>
              <a:t>24</a:t>
            </a:r>
            <a:endParaRPr lang="uk-UA" sz="44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2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11" y="350488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32116" y="1880647"/>
                <a:ext cx="6655220" cy="18234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uk-UA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𝒇𝒊𝒃</m:t>
                              </m:r>
                              <m:d>
                                <m:dPr>
                                  <m:ctrlP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𝒇𝒊𝒃</m:t>
                              </m:r>
                              <m:d>
                                <m:dPr>
                                  <m:ctrlP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𝒇𝒊𝒃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uk-UA" sz="3200" b="1"/>
                                <m:t> </m:t>
                              </m:r>
                            </m:e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𝒇𝒊𝒃</m:t>
                              </m:r>
                              <m:d>
                                <m:dPr>
                                  <m:ctrlP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𝒇𝒊𝒃</m:t>
                              </m:r>
                              <m:d>
                                <m:dPr>
                                  <m:ctrlP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16" y="1880647"/>
                <a:ext cx="6655220" cy="18234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54474" y="4828455"/>
            <a:ext cx="11307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smtClean="0"/>
              <a:t>1</a:t>
            </a:r>
            <a:r>
              <a:rPr lang="en-US" sz="3200" smtClean="0"/>
              <a:t>, 1, 2, 3, 5, 8, 13, 21, 34…</a:t>
            </a:r>
            <a:endParaRPr lang="uk-UA" sz="3200" b="1" smtClean="0"/>
          </a:p>
        </p:txBody>
      </p:sp>
    </p:spTree>
    <p:extLst>
      <p:ext uri="{BB962C8B-B14F-4D97-AF65-F5344CB8AC3E}">
        <p14:creationId xmlns:p14="http://schemas.microsoft.com/office/powerpoint/2010/main" val="17859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327" y="2027434"/>
            <a:ext cx="5288295" cy="3091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011" y="350488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наївний,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C++)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36291" y="1464960"/>
            <a:ext cx="54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e2_fib_exp.cpp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81699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11" y="350488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наївний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999075"/>
                  </p:ext>
                </p:extLst>
              </p:nvPr>
            </p:nvGraphicFramePr>
            <p:xfrm>
              <a:off x="1626647" y="1313555"/>
              <a:ext cx="8127999" cy="509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/>
                    <a:gridCol w="2709333"/>
                    <a:gridCol w="2709333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smtClean="0"/>
                            <a:t>n</a:t>
                          </a:r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𝒇𝒊𝒃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1" smtClean="0"/>
                            <a:t>Кількість операцій</a:t>
                          </a:r>
                          <a:endParaRPr lang="uk-UA" sz="2800" b="1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15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109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377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753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2584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5167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17711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35421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121393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242785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832040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1664079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999075"/>
                  </p:ext>
                </p:extLst>
              </p:nvPr>
            </p:nvGraphicFramePr>
            <p:xfrm>
              <a:off x="1626647" y="1313555"/>
              <a:ext cx="8127999" cy="509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/>
                    <a:gridCol w="2709333"/>
                    <a:gridCol w="2709333"/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smtClean="0"/>
                            <a:t>n</a:t>
                          </a:r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225" t="-5806" r="-100449" b="-45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1" smtClean="0"/>
                            <a:t>Кількість операцій</a:t>
                          </a:r>
                          <a:endParaRPr lang="uk-UA" sz="2800" b="1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15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109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377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753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2584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5167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17711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35421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121393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242785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832040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C00000"/>
                              </a:solidFill>
                            </a:rPr>
                            <a:t>1664079</a:t>
                          </a:r>
                          <a:endParaRPr lang="uk-UA" sz="2800" b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9158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11" y="350488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наївний, складність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11" y="2146197"/>
            <a:ext cx="5198013" cy="3038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390351" y="2423358"/>
                <a:ext cx="49207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uk-UA" sz="3200" smtClean="0"/>
                  <a:t>Проста оцінка: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351" y="2423358"/>
                <a:ext cx="4920792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2632" b="-3578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90351" y="3342303"/>
                <a:ext cx="503391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uk-UA" sz="3200" smtClean="0"/>
                  <a:t>Більш точна оцінка: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e>
                          <m:sup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uk-UA" sz="3200" b="1" smtClean="0"/>
                  <a:t>, </a:t>
                </a:r>
                <a:r>
                  <a:rPr lang="uk-UA" sz="3200" smtClean="0"/>
                  <a:t>де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𝟔𝟏𝟖𝟎𝟑</m:t>
                    </m:r>
                  </m:oMath>
                </a14:m>
                <a:endParaRPr lang="uk-UA" sz="3200" b="1" smtClean="0"/>
              </a:p>
              <a:p>
                <a:pPr algn="ctr"/>
                <a:r>
                  <a:rPr lang="en-US" sz="3200" smtClean="0"/>
                  <a:t>(</a:t>
                </a:r>
                <a:r>
                  <a:rPr lang="uk-UA" sz="3200" smtClean="0"/>
                  <a:t>всерівно експонента</a:t>
                </a:r>
                <a:r>
                  <a:rPr lang="en-US" sz="3200" smtClean="0"/>
                  <a:t>)</a:t>
                </a:r>
                <a:endParaRPr lang="uk-UA" sz="320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351" y="3342303"/>
                <a:ext cx="5033914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1937" t="-4651" r="-3995" b="-1162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0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011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наївний, схема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8998" y="3986270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8" y="3986270"/>
                <a:ext cx="2859629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2208149" y="5301951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149" y="5301951"/>
                <a:ext cx="2859629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3910234" y="593021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234" y="5930211"/>
                <a:ext cx="1242135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4126920" y="4680219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0" y="4680219"/>
                <a:ext cx="285962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5487070" y="530195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070" y="5301951"/>
                <a:ext cx="1242135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6906809" y="529357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809" y="5293571"/>
                <a:ext cx="1242135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/>
              <p:cNvSpPr/>
              <p:nvPr/>
            </p:nvSpPr>
            <p:spPr>
              <a:xfrm>
                <a:off x="1450128" y="2258252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39" name="Прямоугольник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128" y="2258252"/>
                <a:ext cx="2859629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Прямая со стрелкой 40"/>
          <p:cNvCxnSpPr/>
          <p:nvPr/>
        </p:nvCxnSpPr>
        <p:spPr>
          <a:xfrm flipH="1">
            <a:off x="2771480" y="4383464"/>
            <a:ext cx="282806" cy="980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V="1">
            <a:off x="3685880" y="5081047"/>
            <a:ext cx="763572" cy="2733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H="1">
            <a:off x="4289196" y="5722070"/>
            <a:ext cx="358218" cy="2828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>
            <a:off x="5665509" y="5062194"/>
            <a:ext cx="169683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>
            <a:off x="6589336" y="5062194"/>
            <a:ext cx="641023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Прямоугольник 56"/>
              <p:cNvSpPr/>
              <p:nvPr/>
            </p:nvSpPr>
            <p:spPr>
              <a:xfrm>
                <a:off x="3707628" y="3210584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7" name="Прямоугольник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628" y="3210584"/>
                <a:ext cx="2859629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Прямоугольник 57"/>
              <p:cNvSpPr/>
              <p:nvPr/>
            </p:nvSpPr>
            <p:spPr>
              <a:xfrm>
                <a:off x="5409713" y="383884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58" name="Прямоугольник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713" y="3838844"/>
                <a:ext cx="1242135" cy="400110"/>
              </a:xfrm>
              <a:prstGeom prst="rect">
                <a:avLst/>
              </a:prstGeom>
              <a:blipFill rotWithShape="0">
                <a:blip r:embed="rId10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Прямоугольник 58"/>
              <p:cNvSpPr/>
              <p:nvPr/>
            </p:nvSpPr>
            <p:spPr>
              <a:xfrm>
                <a:off x="5626399" y="2588852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9" name="Прямоугольник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399" y="2588852"/>
                <a:ext cx="2859629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Прямоугольник 59"/>
              <p:cNvSpPr/>
              <p:nvPr/>
            </p:nvSpPr>
            <p:spPr>
              <a:xfrm>
                <a:off x="6986549" y="321058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0" name="Прямоугольник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549" y="3210584"/>
                <a:ext cx="1242135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Прямоугольник 60"/>
              <p:cNvSpPr/>
              <p:nvPr/>
            </p:nvSpPr>
            <p:spPr>
              <a:xfrm>
                <a:off x="8406288" y="320220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1" name="Прямоугольник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288" y="3202204"/>
                <a:ext cx="1242135" cy="400110"/>
              </a:xfrm>
              <a:prstGeom prst="rect">
                <a:avLst/>
              </a:prstGeom>
              <a:blipFill rotWithShape="0">
                <a:blip r:embed="rId13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Прямая со стрелкой 61"/>
          <p:cNvCxnSpPr/>
          <p:nvPr/>
        </p:nvCxnSpPr>
        <p:spPr>
          <a:xfrm flipV="1">
            <a:off x="5185359" y="2989680"/>
            <a:ext cx="763572" cy="2733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 flipH="1">
            <a:off x="5788675" y="3630703"/>
            <a:ext cx="358218" cy="2828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>
            <a:off x="7070720" y="2989680"/>
            <a:ext cx="263951" cy="2828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/>
          <p:nvPr/>
        </p:nvCxnSpPr>
        <p:spPr>
          <a:xfrm>
            <a:off x="8069961" y="2970827"/>
            <a:ext cx="659877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/>
              <p:cNvSpPr/>
              <p:nvPr/>
            </p:nvSpPr>
            <p:spPr>
              <a:xfrm>
                <a:off x="3707628" y="1157819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66" name="Прямоугольник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628" y="1157819"/>
                <a:ext cx="2859629" cy="461665"/>
              </a:xfrm>
              <a:prstGeom prst="rect">
                <a:avLst/>
              </a:prstGeom>
              <a:blipFill rotWithShape="0">
                <a:blip r:embed="rId14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/>
              <p:cNvSpPr/>
              <p:nvPr/>
            </p:nvSpPr>
            <p:spPr>
              <a:xfrm>
                <a:off x="5067778" y="177955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7" name="Прямоугольник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78" y="1779551"/>
                <a:ext cx="1242135" cy="400110"/>
              </a:xfrm>
              <a:prstGeom prst="rect">
                <a:avLst/>
              </a:prstGeom>
              <a:blipFill rotWithShape="0">
                <a:blip r:embed="rId15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6487517" y="177117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17" y="1771171"/>
                <a:ext cx="1242135" cy="400110"/>
              </a:xfrm>
              <a:prstGeom prst="rect">
                <a:avLst/>
              </a:prstGeom>
              <a:blipFill rotWithShape="0">
                <a:blip r:embed="rId16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 стрелкой 68"/>
          <p:cNvCxnSpPr/>
          <p:nvPr/>
        </p:nvCxnSpPr>
        <p:spPr>
          <a:xfrm flipV="1">
            <a:off x="3959258" y="1558647"/>
            <a:ext cx="70902" cy="7414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/>
          <p:nvPr/>
        </p:nvCxnSpPr>
        <p:spPr>
          <a:xfrm>
            <a:off x="5151949" y="1558647"/>
            <a:ext cx="263951" cy="2828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6151190" y="1539794"/>
            <a:ext cx="659877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2988297" y="2630078"/>
            <a:ext cx="1159497" cy="66930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/>
          <p:nvPr/>
        </p:nvCxnSpPr>
        <p:spPr>
          <a:xfrm flipH="1" flipV="1">
            <a:off x="1998482" y="2601798"/>
            <a:ext cx="141403" cy="14517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2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011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наївний, схема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8998" y="3986270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8" y="3986270"/>
                <a:ext cx="2859629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2208149" y="5301951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149" y="5301951"/>
                <a:ext cx="2859629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3910234" y="593021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234" y="5930211"/>
                <a:ext cx="1242135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4126920" y="4680219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0" y="4680219"/>
                <a:ext cx="285962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5487070" y="530195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070" y="5301951"/>
                <a:ext cx="1242135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6906809" y="529357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809" y="5293571"/>
                <a:ext cx="1242135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/>
              <p:cNvSpPr/>
              <p:nvPr/>
            </p:nvSpPr>
            <p:spPr>
              <a:xfrm>
                <a:off x="1450128" y="2258252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39" name="Прямоугольник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128" y="2258252"/>
                <a:ext cx="2859629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Прямая со стрелкой 40"/>
          <p:cNvCxnSpPr/>
          <p:nvPr/>
        </p:nvCxnSpPr>
        <p:spPr>
          <a:xfrm flipH="1">
            <a:off x="2771480" y="4383464"/>
            <a:ext cx="282806" cy="980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V="1">
            <a:off x="3685880" y="5081047"/>
            <a:ext cx="763572" cy="2733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H="1">
            <a:off x="4289196" y="5722070"/>
            <a:ext cx="358218" cy="2828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>
            <a:off x="5665509" y="5062194"/>
            <a:ext cx="169683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>
            <a:off x="6589336" y="5062194"/>
            <a:ext cx="641023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Прямоугольник 56"/>
              <p:cNvSpPr/>
              <p:nvPr/>
            </p:nvSpPr>
            <p:spPr>
              <a:xfrm>
                <a:off x="3707628" y="3210584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7" name="Прямоугольник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628" y="3210584"/>
                <a:ext cx="2859629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Прямоугольник 57"/>
              <p:cNvSpPr/>
              <p:nvPr/>
            </p:nvSpPr>
            <p:spPr>
              <a:xfrm>
                <a:off x="5409713" y="383884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58" name="Прямоугольник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713" y="3838844"/>
                <a:ext cx="1242135" cy="400110"/>
              </a:xfrm>
              <a:prstGeom prst="rect">
                <a:avLst/>
              </a:prstGeom>
              <a:blipFill rotWithShape="0">
                <a:blip r:embed="rId10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Прямоугольник 58"/>
              <p:cNvSpPr/>
              <p:nvPr/>
            </p:nvSpPr>
            <p:spPr>
              <a:xfrm>
                <a:off x="5626399" y="2588852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9" name="Прямоугольник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399" y="2588852"/>
                <a:ext cx="2859629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Прямоугольник 59"/>
              <p:cNvSpPr/>
              <p:nvPr/>
            </p:nvSpPr>
            <p:spPr>
              <a:xfrm>
                <a:off x="6986549" y="321058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0" name="Прямоугольник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549" y="3210584"/>
                <a:ext cx="1242135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Прямоугольник 60"/>
              <p:cNvSpPr/>
              <p:nvPr/>
            </p:nvSpPr>
            <p:spPr>
              <a:xfrm>
                <a:off x="8406288" y="3202204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1" name="Прямоугольник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288" y="3202204"/>
                <a:ext cx="1242135" cy="400110"/>
              </a:xfrm>
              <a:prstGeom prst="rect">
                <a:avLst/>
              </a:prstGeom>
              <a:blipFill rotWithShape="0">
                <a:blip r:embed="rId13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Прямая со стрелкой 61"/>
          <p:cNvCxnSpPr/>
          <p:nvPr/>
        </p:nvCxnSpPr>
        <p:spPr>
          <a:xfrm flipV="1">
            <a:off x="5185359" y="2989680"/>
            <a:ext cx="763572" cy="2733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 flipH="1">
            <a:off x="5788675" y="3630703"/>
            <a:ext cx="358218" cy="2828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>
            <a:off x="7070720" y="2989680"/>
            <a:ext cx="263951" cy="2828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/>
          <p:nvPr/>
        </p:nvCxnSpPr>
        <p:spPr>
          <a:xfrm>
            <a:off x="8069961" y="2970827"/>
            <a:ext cx="659877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/>
              <p:cNvSpPr/>
              <p:nvPr/>
            </p:nvSpPr>
            <p:spPr>
              <a:xfrm>
                <a:off x="3707628" y="1157819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66" name="Прямоугольник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628" y="1157819"/>
                <a:ext cx="2859629" cy="461665"/>
              </a:xfrm>
              <a:prstGeom prst="rect">
                <a:avLst/>
              </a:prstGeom>
              <a:blipFill rotWithShape="0">
                <a:blip r:embed="rId14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/>
              <p:cNvSpPr/>
              <p:nvPr/>
            </p:nvSpPr>
            <p:spPr>
              <a:xfrm>
                <a:off x="5067778" y="177955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7" name="Прямоугольник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78" y="1779551"/>
                <a:ext cx="1242135" cy="400110"/>
              </a:xfrm>
              <a:prstGeom prst="rect">
                <a:avLst/>
              </a:prstGeom>
              <a:blipFill rotWithShape="0">
                <a:blip r:embed="rId15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6487517" y="1771171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17" y="1771171"/>
                <a:ext cx="1242135" cy="400110"/>
              </a:xfrm>
              <a:prstGeom prst="rect">
                <a:avLst/>
              </a:prstGeom>
              <a:blipFill rotWithShape="0">
                <a:blip r:embed="rId16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 стрелкой 68"/>
          <p:cNvCxnSpPr/>
          <p:nvPr/>
        </p:nvCxnSpPr>
        <p:spPr>
          <a:xfrm flipV="1">
            <a:off x="3959258" y="1558647"/>
            <a:ext cx="70902" cy="7414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/>
          <p:nvPr/>
        </p:nvCxnSpPr>
        <p:spPr>
          <a:xfrm>
            <a:off x="5151949" y="1558647"/>
            <a:ext cx="263951" cy="2828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6151190" y="1539794"/>
            <a:ext cx="659877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2988297" y="2630078"/>
            <a:ext cx="1159497" cy="66930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/>
          <p:nvPr/>
        </p:nvCxnSpPr>
        <p:spPr>
          <a:xfrm flipH="1" flipV="1">
            <a:off x="1998482" y="2601798"/>
            <a:ext cx="141403" cy="14517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3519369" y="2458306"/>
            <a:ext cx="6303361" cy="1925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Прямоугольник 32"/>
          <p:cNvSpPr/>
          <p:nvPr/>
        </p:nvSpPr>
        <p:spPr>
          <a:xfrm>
            <a:off x="2077694" y="4514866"/>
            <a:ext cx="6303361" cy="1925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Прямоугольник 33"/>
          <p:cNvSpPr/>
          <p:nvPr/>
        </p:nvSpPr>
        <p:spPr>
          <a:xfrm>
            <a:off x="4062954" y="4581427"/>
            <a:ext cx="4176074" cy="120663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Прямоугольник 34"/>
          <p:cNvSpPr/>
          <p:nvPr/>
        </p:nvSpPr>
        <p:spPr>
          <a:xfrm>
            <a:off x="5543303" y="2518583"/>
            <a:ext cx="4176074" cy="120663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6" name="Прямоугольник 35"/>
          <p:cNvSpPr/>
          <p:nvPr/>
        </p:nvSpPr>
        <p:spPr>
          <a:xfrm>
            <a:off x="3637963" y="1066045"/>
            <a:ext cx="4176074" cy="120663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426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498449" y="3413568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449" y="3413568"/>
                <a:ext cx="2859629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/>
              <p:cNvSpPr/>
              <p:nvPr/>
            </p:nvSpPr>
            <p:spPr>
              <a:xfrm>
                <a:off x="2469173" y="4532859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39" name="Прямоугольник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173" y="4532859"/>
                <a:ext cx="2859629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/>
              <p:cNvSpPr/>
              <p:nvPr/>
            </p:nvSpPr>
            <p:spPr>
              <a:xfrm>
                <a:off x="6366367" y="4681911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66" name="Прямоугольник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367" y="4681911"/>
                <a:ext cx="285962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39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9146256" y="5295263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256" y="5295263"/>
                <a:ext cx="1242135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Прямая со стрелкой 69"/>
          <p:cNvCxnSpPr/>
          <p:nvPr/>
        </p:nvCxnSpPr>
        <p:spPr>
          <a:xfrm flipV="1">
            <a:off x="7867249" y="4242062"/>
            <a:ext cx="805411" cy="4918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8809929" y="5063886"/>
            <a:ext cx="659877" cy="30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оптимізований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Прямоугольник 33"/>
              <p:cNvSpPr/>
              <p:nvPr/>
            </p:nvSpPr>
            <p:spPr>
              <a:xfrm>
                <a:off x="5160906" y="3752865"/>
                <a:ext cx="2859629" cy="46166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uk-UA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uk-UA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2400"/>
              </a:p>
            </p:txBody>
          </p:sp>
        </mc:Choice>
        <mc:Fallback xmlns="">
          <p:sp>
            <p:nvSpPr>
              <p:cNvPr id="34" name="Прямоугольник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906" y="3752865"/>
                <a:ext cx="2859629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53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 стрелкой 35"/>
          <p:cNvCxnSpPr/>
          <p:nvPr/>
        </p:nvCxnSpPr>
        <p:spPr>
          <a:xfrm>
            <a:off x="7888525" y="4044099"/>
            <a:ext cx="812415" cy="1036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/>
              <p:cNvSpPr/>
              <p:nvPr/>
            </p:nvSpPr>
            <p:spPr>
              <a:xfrm>
                <a:off x="8604928" y="3943592"/>
                <a:ext cx="1242135" cy="40011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uk-U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uk-UA" sz="2000"/>
              </a:p>
            </p:txBody>
          </p:sp>
        </mc:Choice>
        <mc:Fallback xmlns="">
          <p:sp>
            <p:nvSpPr>
              <p:cNvPr id="40" name="Прямоугольник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928" y="3943592"/>
                <a:ext cx="1242135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014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Прямая со стрелкой 42"/>
          <p:cNvCxnSpPr/>
          <p:nvPr/>
        </p:nvCxnSpPr>
        <p:spPr>
          <a:xfrm>
            <a:off x="6683604" y="4147794"/>
            <a:ext cx="188536" cy="5656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 flipH="1">
            <a:off x="2997724" y="3810418"/>
            <a:ext cx="35403" cy="7992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>
            <a:off x="4242062" y="3723589"/>
            <a:ext cx="1036948" cy="2922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flipV="1">
            <a:off x="3994661" y="4128940"/>
            <a:ext cx="1265496" cy="4921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>
            <a:off x="5267280" y="4847367"/>
            <a:ext cx="1180654" cy="1017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67067" y="1595782"/>
                <a:ext cx="862700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uk-UA" sz="3200" smtClean="0"/>
                  <a:t>Обраховуємо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𝒇𝒊𝒃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один раз і запам’ятовуємо його значення.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067" y="1595782"/>
                <a:ext cx="8627003" cy="1077218"/>
              </a:xfrm>
              <a:prstGeom prst="rect">
                <a:avLst/>
              </a:prstGeom>
              <a:blipFill rotWithShape="0">
                <a:blip r:embed="rId8"/>
                <a:stretch>
                  <a:fillRect l="-989" t="-6818" r="-1977" b="-1818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56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оптимізований,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C++)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882" y="2022260"/>
            <a:ext cx="6916115" cy="4020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4060" y="1370692"/>
            <a:ext cx="54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e3_fib_lin.cpp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69987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11" y="350488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Фібоначчі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оптимізований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472758"/>
                  </p:ext>
                </p:extLst>
              </p:nvPr>
            </p:nvGraphicFramePr>
            <p:xfrm>
              <a:off x="1626647" y="1313555"/>
              <a:ext cx="8127999" cy="509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/>
                    <a:gridCol w="2709333"/>
                    <a:gridCol w="2709333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smtClean="0"/>
                            <a:t>n</a:t>
                          </a:r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𝒇𝒊𝒃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1" smtClean="0"/>
                            <a:t>Кількість операцій</a:t>
                          </a:r>
                          <a:endParaRPr lang="uk-UA" sz="2800" b="1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17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377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25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2584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33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17711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41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121393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49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832040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57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472758"/>
                  </p:ext>
                </p:extLst>
              </p:nvPr>
            </p:nvGraphicFramePr>
            <p:xfrm>
              <a:off x="1626647" y="1313555"/>
              <a:ext cx="8127999" cy="509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/>
                    <a:gridCol w="2709333"/>
                    <a:gridCol w="2709333"/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smtClean="0"/>
                            <a:t>n</a:t>
                          </a:r>
                          <a:endParaRPr lang="uk-UA" sz="28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225" t="-5806" r="-100449" b="-45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1" smtClean="0"/>
                            <a:t>Кількість операцій</a:t>
                          </a:r>
                          <a:endParaRPr lang="uk-UA" sz="2800" b="1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55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17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377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25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2584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33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17711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41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25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121393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49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29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/>
                            <a:t>832040</a:t>
                          </a:r>
                          <a:endParaRPr lang="uk-UA" sz="28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b="0" smtClean="0">
                              <a:solidFill>
                                <a:srgbClr val="00B050"/>
                              </a:solidFill>
                            </a:rPr>
                            <a:t>57</a:t>
                          </a:r>
                          <a:endParaRPr lang="uk-UA" sz="2800" b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151192" y="2180244"/>
                <a:ext cx="15568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2" y="2180244"/>
                <a:ext cx="1556899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50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НСД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64749" y="2132387"/>
                <a:ext cx="1078512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Найбільший спільний дільник (</a:t>
                </a:r>
                <a:r>
                  <a:rPr lang="uk-UA" sz="3200" b="1" smtClean="0"/>
                  <a:t>НСД</a:t>
                </a:r>
                <a:r>
                  <a:rPr lang="en-US" sz="3200" b="1" smtClean="0"/>
                  <a:t>, gcd</a:t>
                </a:r>
                <a:r>
                  <a:rPr lang="uk-UA" sz="3200" smtClean="0"/>
                  <a:t>)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і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– найбільше число яке ділить 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3200" smtClean="0"/>
                  <a:t>, </a:t>
                </a:r>
                <a:r>
                  <a:rPr lang="uk-UA" sz="3200" smtClean="0"/>
                  <a:t>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200" smtClean="0"/>
                  <a:t>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49" y="2132387"/>
                <a:ext cx="10785123" cy="1077218"/>
              </a:xfrm>
              <a:prstGeom prst="rect">
                <a:avLst/>
              </a:prstGeom>
              <a:blipFill rotWithShape="0">
                <a:blip r:embed="rId2"/>
                <a:stretch>
                  <a:fillRect l="-1470" t="-6780" b="-1807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8251" y="429248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51" y="4292483"/>
                <a:ext cx="427905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57309" y="429248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309" y="4292483"/>
                <a:ext cx="4279058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8251" y="507506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51" y="5075063"/>
                <a:ext cx="4279058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7309" y="5102538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𝟑𝟑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𝟒𝟒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309" y="5102538"/>
                <a:ext cx="4279058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40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лінійний пошук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64371" y="1417871"/>
                <a:ext cx="94559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Перебирати всі дільники повільно!</a:t>
                </a:r>
                <a:r>
                  <a:rPr lang="en-US" sz="3200" smtClean="0"/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71" y="1417871"/>
                <a:ext cx="9455944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676" t="-12500" b="-3437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773" y="2371008"/>
            <a:ext cx="5225400" cy="3942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08312" y="4511823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e4_gcd_lin.cpp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112811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99620" y="2480931"/>
                <a:ext cx="11217897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600" smtClean="0"/>
                  <a:t>Наприклад:</a:t>
                </a:r>
                <a:endParaRPr lang="en-US" sz="26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600" smtClean="0"/>
                  <a:t>Для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𝟐𝟖</m:t>
                    </m:r>
                  </m:oMath>
                </a14:m>
                <a:r>
                  <a:rPr lang="uk-UA" sz="2600" smtClean="0"/>
                  <a:t> візьмемо</a:t>
                </a:r>
                <a:r>
                  <a:rPr lang="en-US" sz="2600" smtClean="0"/>
                  <a:t>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=−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600" smtClean="0"/>
                  <a:t> </a:t>
                </a:r>
                <a:endParaRPr lang="uk-UA" sz="2600" smtClean="0"/>
              </a:p>
              <a:p>
                <a:r>
                  <a:rPr lang="en-US" sz="2600" smtClean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⁡(21, 28) = </m:t>
                    </m:r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⁡(21, 21∗3−28∗2) = </m:t>
                    </m:r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⁡(21, 7) = </m:t>
                    </m:r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⁡(7, 21)</m:t>
                    </m:r>
                  </m:oMath>
                </a14:m>
                <a:endParaRPr lang="en-US" sz="26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600" smtClean="0"/>
                  <a:t>Для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uk-UA" sz="26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uk-UA" sz="2600" b="1" i="1" smtClean="0">
                        <a:latin typeface="Cambria Math" panose="02040503050406030204" pitchFamily="18" charset="0"/>
                      </a:rPr>
                      <m:t>𝟐𝟏</m:t>
                    </m:r>
                  </m:oMath>
                </a14:m>
                <a:r>
                  <a:rPr lang="uk-UA" sz="2600"/>
                  <a:t> візьмемо</a:t>
                </a:r>
                <a:r>
                  <a:rPr lang="en-US" sz="2600"/>
                  <a:t>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uk-UA" sz="2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600" smtClean="0"/>
                  <a:t> </a:t>
                </a:r>
                <a:endParaRPr lang="uk-UA" sz="2600"/>
              </a:p>
              <a:p>
                <a:r>
                  <a:rPr lang="en-US" sz="2600" smtClean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⁡(7, 21) = </m:t>
                    </m:r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⁡(7, 7∗3−21∗1) = </m:t>
                    </m:r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⁡(7, 0)</m:t>
                    </m:r>
                  </m:oMath>
                </a14:m>
                <a:endParaRPr lang="uk-UA" sz="26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⁡(7, 0) = 7</m:t>
                    </m:r>
                  </m:oMath>
                </a14:m>
                <a:endParaRPr lang="en-US" sz="260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uk-UA" sz="26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6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uk-UA" sz="2600" b="1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20" y="2480931"/>
                <a:ext cx="11217897" cy="3293209"/>
              </a:xfrm>
              <a:prstGeom prst="rect">
                <a:avLst/>
              </a:prstGeom>
              <a:blipFill rotWithShape="0">
                <a:blip r:embed="rId2"/>
                <a:stretch>
                  <a:fillRect l="-978" t="-148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алгоритм Евкліда, формула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0358" y="1399331"/>
                <a:ext cx="998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/>
                  <a:t>Б</a:t>
                </a:r>
                <a:r>
                  <a:rPr lang="uk-UA" sz="3200" smtClean="0"/>
                  <a:t>удь-яка лінійна комбінація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і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uk-UA" sz="3200" smtClean="0"/>
                  <a:t> ділиться на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𝒈𝒄𝒅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58" y="1399331"/>
                <a:ext cx="9984681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1526" t="-12632" r="-305" b="-3578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48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алгоритм Евкліда, формула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0358" y="2023410"/>
                <a:ext cx="998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Будь-яка лінійна комбінація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і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uk-UA" sz="3200" smtClean="0"/>
                  <a:t> ділиться на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𝒈𝒄𝒅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58" y="2023410"/>
                <a:ext cx="998468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526" t="-12500" r="-305" b="-3437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76591" y="2935755"/>
                <a:ext cx="99846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Нехай </a:t>
                </a:r>
                <a:r>
                  <a:rPr lang="en-US" sz="3600" b="1" smtClean="0"/>
                  <a:t>a &lt; b</a:t>
                </a:r>
                <a:r>
                  <a:rPr lang="en-US" sz="3200" smtClean="0"/>
                  <a:t>. </a:t>
                </a:r>
                <a:r>
                  <a:rPr lang="uk-UA" sz="3200" smtClean="0"/>
                  <a:t>Візьмемо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uk-UA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uk-UA" sz="3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num>
                          <m:den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200" smtClean="0"/>
                  <a:t>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591" y="2935755"/>
                <a:ext cx="9984681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526" t="-15094" b="-3490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461950" y="4033695"/>
                <a:ext cx="11367792" cy="921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𝒈𝒄</m:t>
                          </m:r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fName>
                        <m:e>
                          <m:d>
                            <m:d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𝒈𝒄𝒅</m:t>
                          </m:r>
                        </m:fName>
                        <m:e>
                          <m:d>
                            <m:d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uk-UA" sz="3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uk-UA" sz="3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600" b="1" i="1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num>
                                    <m:den>
                                      <m:r>
                                        <a:rPr lang="en-US" sz="36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50" y="4033695"/>
                <a:ext cx="11367792" cy="92147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8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9719" y="21851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алгоритм Евкліда,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C++)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900350" y="1483535"/>
                <a:ext cx="629858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𝒈𝒄</m:t>
                          </m:r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fName>
                        <m:e>
                          <m:d>
                            <m:d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𝒈𝒄𝒅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350" y="1483535"/>
                <a:ext cx="6298583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302430" y="2129866"/>
                <a:ext cx="312463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𝒈𝒄</m:t>
                          </m:r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fName>
                        <m:e>
                          <m:d>
                            <m:d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uk-UA" sz="360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430" y="2129866"/>
                <a:ext cx="3124637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81" y="3139440"/>
            <a:ext cx="5807521" cy="2745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37967" y="4758766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e5_gcd_log.cpp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117363" y="3678409"/>
                <a:ext cx="250870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363" y="3678409"/>
                <a:ext cx="2508700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70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46235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64749" y="1985068"/>
                <a:ext cx="1078512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Найменше спільне кратне (НСК</a:t>
                </a:r>
                <a:r>
                  <a:rPr lang="en-US" sz="3200" smtClean="0"/>
                  <a:t>, lcm</a:t>
                </a:r>
                <a:r>
                  <a:rPr lang="uk-UA" sz="3200" smtClean="0"/>
                  <a:t>)</a:t>
                </a:r>
                <a:r>
                  <a:rPr lang="en-US" sz="3200" smtClean="0"/>
                  <a:t> –</a:t>
                </a:r>
                <a:r>
                  <a:rPr lang="uk-UA" sz="3200" smtClean="0"/>
                  <a:t> найменше число, для якого 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3200" smtClean="0"/>
                  <a:t>, </a:t>
                </a:r>
                <a:r>
                  <a:rPr lang="uk-UA" sz="3200" smtClean="0"/>
                  <a:t>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uk-UA" sz="3200" smtClean="0"/>
                  <a:t> є дільниками</a:t>
                </a:r>
                <a:r>
                  <a:rPr lang="en-US" sz="3200" smtClean="0"/>
                  <a:t>.</a:t>
                </a:r>
                <a:endParaRPr lang="uk-UA" sz="3200" b="1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49" y="1985068"/>
                <a:ext cx="10785123" cy="1077218"/>
              </a:xfrm>
              <a:prstGeom prst="rect">
                <a:avLst/>
              </a:prstGeom>
              <a:blipFill rotWithShape="0">
                <a:blip r:embed="rId2"/>
                <a:stretch>
                  <a:fillRect l="-1470" t="-7386" r="-904" b="-1875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8251" y="429248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𝒍𝒄𝒎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51" y="4292483"/>
                <a:ext cx="427905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57309" y="429248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𝒍𝒄𝒎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309" y="4292483"/>
                <a:ext cx="4279058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8251" y="5075063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𝒍𝒄𝒎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𝟑𝟎𝟎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51" y="5075063"/>
                <a:ext cx="4279058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7309" y="5102538"/>
                <a:ext cx="42790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𝒍𝒄𝒎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𝟑𝟑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𝟒𝟒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𝟏𝟑𝟐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309" y="5102538"/>
                <a:ext cx="4279058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13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96" y="2713525"/>
            <a:ext cx="4296375" cy="153373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90" y="4715083"/>
            <a:ext cx="4553585" cy="1552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5769" y="46235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НСК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343505" y="1537820"/>
                <a:ext cx="89425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𝒍𝒄𝒎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4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𝒈𝒄𝒅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505" y="1537820"/>
                <a:ext cx="8942500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/>
          <p:cNvCxnSpPr/>
          <p:nvPr/>
        </p:nvCxnSpPr>
        <p:spPr>
          <a:xfrm flipV="1">
            <a:off x="3139440" y="4715083"/>
            <a:ext cx="4551680" cy="152315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139440" y="4715083"/>
            <a:ext cx="4528835" cy="152315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67994" y="4247264"/>
            <a:ext cx="2693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e6_lcm.cpp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847390" y="3166907"/>
                <a:ext cx="250870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390" y="3166907"/>
                <a:ext cx="2508700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90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46235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Розширений алгоритм Евкліда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63399" y="1995228"/>
                <a:ext cx="107851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600" smtClean="0"/>
                  <a:t>Дано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600" smtClean="0"/>
                  <a:t>. </a:t>
                </a:r>
                <a:r>
                  <a:rPr lang="uk-UA" sz="3600" smtClean="0"/>
                  <a:t>Необхідно знайти довільний розв’язок діофантового рівняння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𝐠𝐜𝐝</m:t>
                        </m:r>
                      </m:fName>
                      <m:e>
                        <m:d>
                          <m:d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func>
                    <m:r>
                      <a:rPr lang="en-US" sz="36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uk-UA" sz="3600" b="1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99" y="1995228"/>
                <a:ext cx="10785123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1695" t="-7614" b="-1827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24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719" y="46235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Розширений алгоритм Евкліда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63399" y="1588828"/>
                <a:ext cx="107851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600" smtClean="0"/>
                  <a:t>Дано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600" smtClean="0"/>
                  <a:t>. </a:t>
                </a:r>
                <a:r>
                  <a:rPr lang="uk-UA" sz="3600" smtClean="0"/>
                  <a:t>Необхідно знайти довільний розв’язок діофантового рівняння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𝐠𝐜𝐝</m:t>
                        </m:r>
                      </m:fName>
                      <m:e>
                        <m:d>
                          <m:d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func>
                    <m:r>
                      <a:rPr lang="en-US" sz="36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uk-UA" sz="3600" b="1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99" y="1588828"/>
                <a:ext cx="10785123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1695" t="-8122" b="-1827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3398" y="3305868"/>
                <a:ext cx="1078512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600" smtClean="0"/>
                  <a:t>Де це корисно:</a:t>
                </a:r>
              </a:p>
              <a:p>
                <a:pPr marL="571500" indent="-571500">
                  <a:buFontTx/>
                  <a:buChar char="-"/>
                </a:pPr>
                <a:r>
                  <a:rPr lang="uk-UA" sz="3600" smtClean="0"/>
                  <a:t>Криптографія (модульний </a:t>
                </a:r>
                <a:r>
                  <a:rPr lang="uk-UA" sz="3600"/>
                  <a:t>обернений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b="0" i="1">
                        <a:latin typeface="Cambria Math" panose="02040503050406030204" pitchFamily="18" charset="0"/>
                      </a:rPr>
                      <m:t>⁻¹ </m:t>
                    </m:r>
                    <m:r>
                      <a:rPr lang="en-US" sz="3600" b="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36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uk-UA" sz="3600" smtClean="0"/>
                  <a:t>)</a:t>
                </a:r>
              </a:p>
              <a:p>
                <a:pPr marL="571500" indent="-571500">
                  <a:buFontTx/>
                  <a:buChar char="-"/>
                </a:pPr>
                <a:r>
                  <a:rPr lang="uk-UA" sz="3600"/>
                  <a:t>Л</a:t>
                </a:r>
                <a:r>
                  <a:rPr lang="uk-UA" sz="3600" smtClean="0"/>
                  <a:t>інійні </a:t>
                </a:r>
                <a:r>
                  <a:rPr lang="uk-UA" sz="3600"/>
                  <a:t>рівняння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360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360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360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60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uk-UA" sz="3600" smtClean="0"/>
              </a:p>
              <a:p>
                <a:pPr marL="571500" indent="-571500">
                  <a:buFontTx/>
                  <a:buChar char="-"/>
                </a:pPr>
                <a:r>
                  <a:rPr lang="uk-UA" sz="3600" smtClean="0"/>
                  <a:t>Оптимізаційні задачі </a:t>
                </a:r>
                <a:r>
                  <a:rPr lang="uk-UA" sz="3600"/>
                  <a:t>з </a:t>
                </a:r>
                <a:r>
                  <a:rPr lang="uk-UA" sz="3600" smtClean="0"/>
                  <a:t>обмеженнями</a:t>
                </a:r>
              </a:p>
              <a:p>
                <a:pPr marL="571500" indent="-571500">
                  <a:buFontTx/>
                  <a:buChar char="-"/>
                </a:pPr>
                <a:r>
                  <a:rPr lang="uk-UA" sz="3600" smtClean="0"/>
                  <a:t>…</a:t>
                </a:r>
                <a:endParaRPr lang="uk-UA" sz="36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98" y="3305868"/>
                <a:ext cx="10785123" cy="2862322"/>
              </a:xfrm>
              <a:prstGeom prst="rect">
                <a:avLst/>
              </a:prstGeom>
              <a:blipFill rotWithShape="0">
                <a:blip r:embed="rId3"/>
                <a:stretch>
                  <a:fillRect l="-1751" t="-3191" b="-723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50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080" y="116912"/>
            <a:ext cx="11450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Розширений алгоритм Евкліда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виведення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31440" y="2270550"/>
                <a:ext cx="676954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440" y="2270550"/>
                <a:ext cx="6769545" cy="61555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79557" y="3224658"/>
                <a:ext cx="62313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 − </m:t>
                      </m:r>
                      <m:d>
                        <m:dPr>
                          <m:begChr m:val="⌊"/>
                          <m:endChr m:val="⌋"/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557" y="3224658"/>
                <a:ext cx="6231385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04725" y="3906310"/>
                <a:ext cx="98450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begChr m:val="⌊"/>
                          <m:endChr m:val="⌋"/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4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25" y="3906310"/>
                <a:ext cx="9845040" cy="6155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04725" y="4688630"/>
                <a:ext cx="98450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·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 / </m:t>
                              </m:r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d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25" y="4688630"/>
                <a:ext cx="9845040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62170" y="1670785"/>
                <a:ext cx="453015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70" y="1670785"/>
                <a:ext cx="4530150" cy="61555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55174" y="5628735"/>
                <a:ext cx="358612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174" y="5628735"/>
                <a:ext cx="3586129" cy="61555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37719" y="5628735"/>
                <a:ext cx="572030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begChr m:val="⌊"/>
                          <m:endChr m:val="⌋"/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719" y="5628735"/>
                <a:ext cx="5720302" cy="61555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3662170" y="1752671"/>
            <a:ext cx="4530150" cy="5645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угольник 11"/>
          <p:cNvSpPr/>
          <p:nvPr/>
        </p:nvSpPr>
        <p:spPr>
          <a:xfrm>
            <a:off x="1950281" y="4713402"/>
            <a:ext cx="7787608" cy="63159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угольник 12"/>
          <p:cNvSpPr/>
          <p:nvPr/>
        </p:nvSpPr>
        <p:spPr>
          <a:xfrm>
            <a:off x="2033441" y="5428352"/>
            <a:ext cx="597999" cy="457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13"/>
          <p:cNvSpPr/>
          <p:nvPr/>
        </p:nvSpPr>
        <p:spPr>
          <a:xfrm>
            <a:off x="3665849" y="6316042"/>
            <a:ext cx="597999" cy="457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угольник 14"/>
          <p:cNvSpPr/>
          <p:nvPr/>
        </p:nvSpPr>
        <p:spPr>
          <a:xfrm>
            <a:off x="3985063" y="5435987"/>
            <a:ext cx="3763770" cy="457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угольник 15"/>
          <p:cNvSpPr/>
          <p:nvPr/>
        </p:nvSpPr>
        <p:spPr>
          <a:xfrm>
            <a:off x="6310435" y="6339834"/>
            <a:ext cx="3763770" cy="457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298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080" y="116912"/>
            <a:ext cx="1145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Розширений алгоритм Евкліда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41600" y="1305560"/>
                <a:ext cx="676954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1305560"/>
                <a:ext cx="6769545" cy="61555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14885" y="2433320"/>
                <a:ext cx="98450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E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ES" sz="4000" b="1" i="1">
                              <a:latin typeface="Cambria Math" panose="02040503050406030204" pitchFamily="18" charset="0"/>
                            </a:rPr>
                            <m:t>·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s-ES" sz="4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 / </m:t>
                              </m:r>
                              <m:r>
                                <a:rPr lang="es-ES" sz="4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d>
                      <m:r>
                        <a:rPr lang="es-ES" sz="4000" b="1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40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885" y="2433320"/>
                <a:ext cx="9845040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 rot="5400000">
                <a:off x="5362840" y="1944843"/>
                <a:ext cx="89639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uk-UA" sz="440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362840" y="1944843"/>
                <a:ext cx="896399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108993"/>
                  </p:ext>
                </p:extLst>
              </p:nvPr>
            </p:nvGraphicFramePr>
            <p:xfrm>
              <a:off x="1841511" y="3572774"/>
              <a:ext cx="8128000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/>
                    <a:gridCol w="1625600"/>
                    <a:gridCol w="1625600"/>
                    <a:gridCol w="1625600"/>
                    <a:gridCol w="1625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Крок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a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b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84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-1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2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-1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3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6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6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108993"/>
                  </p:ext>
                </p:extLst>
              </p:nvPr>
            </p:nvGraphicFramePr>
            <p:xfrm>
              <a:off x="1841511" y="3572774"/>
              <a:ext cx="8128000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/>
                    <a:gridCol w="1625600"/>
                    <a:gridCol w="1625600"/>
                    <a:gridCol w="1625600"/>
                    <a:gridCol w="1625600"/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Крок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a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b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00000" t="-10588" r="-100749" b="-4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00000" t="-10588" r="-749" b="-434118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84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-1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2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30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-1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3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6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800" smtClean="0"/>
                            <a:t>4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6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0</a:t>
                          </a:r>
                          <a:endParaRPr lang="uk-UA" sz="280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621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9719" y="401392"/>
            <a:ext cx="1063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Розширений алгоритм Евкліда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79167" y="4362526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e7_gcd_ext.cpp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8563" y="3282169"/>
                <a:ext cx="250870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563" y="3282169"/>
                <a:ext cx="2508700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634" y="1357459"/>
            <a:ext cx="5048815" cy="49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5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60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561</Words>
  <Application>Microsoft Office PowerPoint</Application>
  <PresentationFormat>Широкоэкранный</PresentationFormat>
  <Paragraphs>224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103</cp:revision>
  <dcterms:created xsi:type="dcterms:W3CDTF">2026-01-27T07:18:31Z</dcterms:created>
  <dcterms:modified xsi:type="dcterms:W3CDTF">2026-02-11T08:41:00Z</dcterms:modified>
</cp:coreProperties>
</file>