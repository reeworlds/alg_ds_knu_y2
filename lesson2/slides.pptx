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80" r:id="rId4"/>
    <p:sldId id="277" r:id="rId5"/>
    <p:sldId id="278" r:id="rId6"/>
    <p:sldId id="285" r:id="rId7"/>
    <p:sldId id="284" r:id="rId8"/>
    <p:sldId id="286" r:id="rId9"/>
    <p:sldId id="287" r:id="rId10"/>
    <p:sldId id="288" r:id="rId11"/>
    <p:sldId id="289" r:id="rId12"/>
    <p:sldId id="290" r:id="rId13"/>
    <p:sldId id="320" r:id="rId14"/>
    <p:sldId id="292" r:id="rId15"/>
    <p:sldId id="295" r:id="rId16"/>
    <p:sldId id="307" r:id="rId17"/>
    <p:sldId id="296" r:id="rId18"/>
    <p:sldId id="297" r:id="rId19"/>
    <p:sldId id="298" r:id="rId20"/>
    <p:sldId id="299" r:id="rId21"/>
    <p:sldId id="293" r:id="rId22"/>
    <p:sldId id="294" r:id="rId23"/>
    <p:sldId id="300" r:id="rId24"/>
    <p:sldId id="302" r:id="rId25"/>
    <p:sldId id="309" r:id="rId26"/>
    <p:sldId id="308" r:id="rId27"/>
    <p:sldId id="303" r:id="rId28"/>
    <p:sldId id="305" r:id="rId29"/>
    <p:sldId id="306" r:id="rId30"/>
    <p:sldId id="310" r:id="rId31"/>
    <p:sldId id="311" r:id="rId32"/>
    <p:sldId id="312" r:id="rId33"/>
    <p:sldId id="313" r:id="rId34"/>
    <p:sldId id="314" r:id="rId35"/>
    <p:sldId id="315" r:id="rId36"/>
    <p:sldId id="316" r:id="rId37"/>
    <p:sldId id="317" r:id="rId38"/>
    <p:sldId id="319" r:id="rId39"/>
    <p:sldId id="267" r:id="rId40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07.02.2026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32882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07.02.2026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50973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07.02.2026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46011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07.02.2026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49223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07.02.2026</a:t>
            </a:fld>
            <a:endParaRPr lang="uk-UA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96996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07.02.2026</a:t>
            </a:fld>
            <a:endParaRPr lang="uk-UA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91680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07.02.2026</a:t>
            </a:fld>
            <a:endParaRPr lang="uk-UA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1636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07.02.2026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67521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07.02.2026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49251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07.02.2026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21826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07.02.2026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43699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C7282-A49A-4AD0-93BC-10CA7B10E31B}" type="datetimeFigureOut">
              <a:rPr lang="uk-UA" smtClean="0"/>
              <a:t>07.02.2026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4552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1790" y="1649691"/>
            <a:ext cx="101243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smtClean="0">
                <a:solidFill>
                  <a:srgbClr val="002060"/>
                </a:solidFill>
                <a:cs typeface="Arial" panose="020B0604020202020204" pitchFamily="34" charset="0"/>
              </a:rPr>
              <a:t>Базові структури даних</a:t>
            </a:r>
            <a:endParaRPr lang="uk-UA" sz="60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518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32495" y="538358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Які структури нас цікавлять?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8655" y="2379319"/>
            <a:ext cx="655126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uk-UA" sz="4000" smtClean="0"/>
              <a:t>Зв’язний список (</a:t>
            </a:r>
            <a:r>
              <a:rPr lang="en-US" sz="4000" smtClean="0"/>
              <a:t>linked list</a:t>
            </a:r>
            <a:r>
              <a:rPr lang="uk-UA" sz="4000" smtClean="0"/>
              <a:t>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uk-UA" sz="4000" smtClean="0"/>
              <a:t>Стек</a:t>
            </a:r>
            <a:r>
              <a:rPr lang="en-US" sz="4000" smtClean="0"/>
              <a:t> (stack)</a:t>
            </a:r>
            <a:endParaRPr lang="uk-UA" sz="400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uk-UA" sz="4000" smtClean="0"/>
              <a:t>Черга</a:t>
            </a:r>
            <a:r>
              <a:rPr lang="en-US" sz="4000" smtClean="0"/>
              <a:t> (queue)</a:t>
            </a:r>
            <a:endParaRPr lang="uk-UA" sz="400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4000" smtClean="0"/>
              <a:t>Set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4000" smtClean="0"/>
              <a:t>Map (C++ map, Python dict)</a:t>
            </a:r>
          </a:p>
        </p:txBody>
      </p:sp>
      <p:pic>
        <p:nvPicPr>
          <p:cNvPr id="1026" name="Picture 2" descr="Question emoji Images - Free Download on Freepi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1542" y="2379319"/>
            <a:ext cx="758825" cy="75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umbs up emoji png Vectors - Download Free High-Quality Vectors from  Freepik | Freepik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334" y="2922887"/>
            <a:ext cx="749249" cy="749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ire Icon PNG Images, Vectors Free Download - Pngtree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29" t="17028" r="23162" b="15344"/>
          <a:stretch/>
        </p:blipFill>
        <p:spPr bwMode="auto">
          <a:xfrm>
            <a:off x="5269583" y="3579811"/>
            <a:ext cx="622169" cy="769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ownload Muscle, Arm, Icon. Royalty-Free Vector Graphic - Pixabay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80" y="4173530"/>
            <a:ext cx="739971" cy="794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Download Muscle, Arm, Icon. Royalty-Free Vector Graphic - Pixabay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1184" y="4755410"/>
            <a:ext cx="739971" cy="794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6934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32495" y="538358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Зв’язний список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00659" y="1719443"/>
                <a:ext cx="10543481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Елементи </a:t>
                </a:r>
                <a:r>
                  <a:rPr lang="uk-UA" sz="2800"/>
                  <a:t>не зберігаються підряд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ru-RU" sz="2800"/>
                  <a:t>К</a:t>
                </a:r>
                <a:r>
                  <a:rPr lang="ru-RU" sz="2800" smtClean="0"/>
                  <a:t>ожен </a:t>
                </a:r>
                <a:r>
                  <a:rPr lang="ru-RU" sz="2800"/>
                  <a:t>елемент → вказівник на </a:t>
                </a:r>
                <a:r>
                  <a:rPr lang="ru-RU" sz="2800" smtClean="0"/>
                  <a:t>наступний (і попередній)</a:t>
                </a:r>
                <a:endParaRPr lang="uk-UA" sz="2800" smtClean="0"/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ru-RU" sz="2800" smtClean="0"/>
                  <a:t>Вставка </a:t>
                </a:r>
                <a:r>
                  <a:rPr lang="ru-RU" sz="2800"/>
                  <a:t>/ видалення за відомим </a:t>
                </a:r>
                <a:r>
                  <a:rPr lang="ru-RU" sz="2800" smtClean="0"/>
                  <a:t>вузлом – </a:t>
                </a:r>
                <a14:m>
                  <m:oMath xmlns:m="http://schemas.openxmlformats.org/officeDocument/2006/math">
                    <m:r>
                      <a:rPr lang="ru-RU" sz="280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ru-RU" sz="280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uk-UA" sz="2800" smtClean="0"/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Перший </a:t>
                </a:r>
                <a:r>
                  <a:rPr lang="en-US" sz="2800" smtClean="0"/>
                  <a:t>/ </a:t>
                </a:r>
                <a:r>
                  <a:rPr lang="uk-UA" sz="2800" smtClean="0"/>
                  <a:t>останній елемент – </a:t>
                </a:r>
                <a14:m>
                  <m:oMath xmlns:m="http://schemas.openxmlformats.org/officeDocument/2006/math">
                    <m:r>
                      <a:rPr lang="ru-RU" sz="28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ru-RU" sz="2800" i="1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sz="2800" smtClean="0"/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US" sz="2800" smtClean="0"/>
                  <a:t>K-</a:t>
                </a:r>
                <a:r>
                  <a:rPr lang="uk-UA" sz="2800" smtClean="0"/>
                  <a:t>ий </a:t>
                </a:r>
                <a:r>
                  <a:rPr lang="uk-UA" sz="2800"/>
                  <a:t>елемент – </a:t>
                </a:r>
                <a14:m>
                  <m:oMath xmlns:m="http://schemas.openxmlformats.org/officeDocument/2006/math">
                    <m:r>
                      <a:rPr lang="ru-RU" sz="28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ru-RU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659" y="1719443"/>
                <a:ext cx="10543481" cy="2246769"/>
              </a:xfrm>
              <a:prstGeom prst="rect">
                <a:avLst/>
              </a:prstGeom>
              <a:blipFill rotWithShape="0">
                <a:blip r:embed="rId2"/>
                <a:stretch>
                  <a:fillRect l="-1041" t="-2439" b="-6775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Прямоугольник 1"/>
          <p:cNvSpPr/>
          <p:nvPr/>
        </p:nvSpPr>
        <p:spPr>
          <a:xfrm>
            <a:off x="3929403" y="4534492"/>
            <a:ext cx="1461155" cy="6315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smtClean="0">
                <a:solidFill>
                  <a:schemeClr val="tx1"/>
                </a:solidFill>
              </a:rPr>
              <a:t>1</a:t>
            </a:r>
            <a:endParaRPr lang="uk-UA" sz="4000">
              <a:solidFill>
                <a:schemeClr val="tx1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6562625" y="3983357"/>
            <a:ext cx="1461155" cy="6315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smtClean="0">
                <a:solidFill>
                  <a:schemeClr val="tx1"/>
                </a:solidFill>
              </a:rPr>
              <a:t>2</a:t>
            </a:r>
            <a:endParaRPr lang="uk-UA" sz="4000">
              <a:solidFill>
                <a:schemeClr val="tx1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9195847" y="4501821"/>
            <a:ext cx="1461155" cy="6315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smtClean="0">
                <a:solidFill>
                  <a:schemeClr val="tx1"/>
                </a:solidFill>
              </a:rPr>
              <a:t>3</a:t>
            </a:r>
            <a:endParaRPr lang="uk-UA" sz="4000">
              <a:solidFill>
                <a:schemeClr val="tx1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7734692" y="5651880"/>
            <a:ext cx="1461155" cy="6315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smtClean="0">
                <a:solidFill>
                  <a:schemeClr val="tx1"/>
                </a:solidFill>
              </a:rPr>
              <a:t>4</a:t>
            </a:r>
            <a:endParaRPr lang="uk-UA" sz="4000">
              <a:solidFill>
                <a:schemeClr val="tx1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5203595" y="5734368"/>
            <a:ext cx="1461155" cy="6315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smtClean="0">
                <a:solidFill>
                  <a:schemeClr val="tx1"/>
                </a:solidFill>
              </a:rPr>
              <a:t>5</a:t>
            </a:r>
            <a:endParaRPr lang="uk-UA" sz="4000">
              <a:solidFill>
                <a:schemeClr val="tx1"/>
              </a:solidFill>
            </a:endParaRPr>
          </a:p>
        </p:txBody>
      </p:sp>
      <p:cxnSp>
        <p:nvCxnSpPr>
          <p:cNvPr id="4" name="Прямая со стрелкой 3"/>
          <p:cNvCxnSpPr>
            <a:stCxn id="2" idx="3"/>
            <a:endCxn id="10" idx="1"/>
          </p:cNvCxnSpPr>
          <p:nvPr/>
        </p:nvCxnSpPr>
        <p:spPr>
          <a:xfrm flipV="1">
            <a:off x="5390558" y="4299155"/>
            <a:ext cx="1172067" cy="551135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>
            <a:stCxn id="10" idx="3"/>
            <a:endCxn id="12" idx="1"/>
          </p:cNvCxnSpPr>
          <p:nvPr/>
        </p:nvCxnSpPr>
        <p:spPr>
          <a:xfrm>
            <a:off x="8023780" y="4299155"/>
            <a:ext cx="1172067" cy="518464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>
            <a:stCxn id="13" idx="3"/>
            <a:endCxn id="12" idx="2"/>
          </p:cNvCxnSpPr>
          <p:nvPr/>
        </p:nvCxnSpPr>
        <p:spPr>
          <a:xfrm flipV="1">
            <a:off x="9195847" y="5133417"/>
            <a:ext cx="730578" cy="834261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14" idx="3"/>
            <a:endCxn id="13" idx="1"/>
          </p:cNvCxnSpPr>
          <p:nvPr/>
        </p:nvCxnSpPr>
        <p:spPr>
          <a:xfrm flipV="1">
            <a:off x="6664750" y="5967678"/>
            <a:ext cx="1069942" cy="82488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>
            <a:stCxn id="2" idx="2"/>
            <a:endCxn id="14" idx="1"/>
          </p:cNvCxnSpPr>
          <p:nvPr/>
        </p:nvCxnSpPr>
        <p:spPr>
          <a:xfrm>
            <a:off x="4659981" y="5166088"/>
            <a:ext cx="543614" cy="884078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044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32495" y="538358"/>
            <a:ext cx="80033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Чому 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з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в’язний список не використовується?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0341" y="2954354"/>
            <a:ext cx="1054348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uk-UA" sz="2800" smtClean="0"/>
              <a:t>Немає</a:t>
            </a:r>
            <a:r>
              <a:rPr lang="en-US" sz="2800" smtClean="0"/>
              <a:t> </a:t>
            </a:r>
            <a:r>
              <a:rPr lang="uk-UA" sz="2800" smtClean="0"/>
              <a:t>доступу як в масивах </a:t>
            </a:r>
            <a:r>
              <a:rPr lang="en-US" sz="2800" b="1" smtClean="0"/>
              <a:t>a[i]</a:t>
            </a:r>
            <a:endParaRPr lang="uk-UA" sz="280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smtClean="0"/>
              <a:t>Погана кеш-лоальність</a:t>
            </a:r>
            <a:r>
              <a:rPr lang="en-US" sz="2800" smtClean="0"/>
              <a:t> (</a:t>
            </a:r>
            <a:r>
              <a:rPr lang="en-US" sz="2800" b="1" smtClean="0"/>
              <a:t>a[i] </a:t>
            </a:r>
            <a:r>
              <a:rPr lang="uk-UA" sz="2800" b="1" smtClean="0"/>
              <a:t>далеко від </a:t>
            </a:r>
            <a:r>
              <a:rPr lang="en-US" sz="2800" b="1" smtClean="0"/>
              <a:t>a[i+1] </a:t>
            </a:r>
            <a:r>
              <a:rPr lang="uk-UA" sz="2800" b="1" smtClean="0"/>
              <a:t>в пам’яті</a:t>
            </a:r>
            <a:r>
              <a:rPr lang="en-US" sz="2800" smtClean="0"/>
              <a:t>)</a:t>
            </a:r>
            <a:endParaRPr lang="ru-RU" sz="280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smtClean="0"/>
              <a:t>Багато алокацій пам’яті (</a:t>
            </a:r>
            <a:r>
              <a:rPr lang="en-US" sz="2800" b="1" smtClean="0"/>
              <a:t>new / delete jitter</a:t>
            </a:r>
            <a:r>
              <a:rPr lang="ru-RU" sz="2800" smtClean="0"/>
              <a:t>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smtClean="0"/>
              <a:t>Є уже реалізовані кращі структури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smtClean="0"/>
              <a:t>Наприклад</a:t>
            </a:r>
            <a:r>
              <a:rPr lang="en-US" sz="2800" smtClean="0"/>
              <a:t> </a:t>
            </a:r>
            <a:r>
              <a:rPr lang="uk-UA" sz="2800" smtClean="0"/>
              <a:t>в </a:t>
            </a:r>
            <a:r>
              <a:rPr lang="en-US" sz="2800" smtClean="0"/>
              <a:t>C++ </a:t>
            </a:r>
            <a:r>
              <a:rPr lang="uk-UA" sz="2800" smtClean="0"/>
              <a:t>це</a:t>
            </a:r>
            <a:r>
              <a:rPr lang="ru-RU" sz="2800" smtClean="0"/>
              <a:t>: </a:t>
            </a:r>
            <a:r>
              <a:rPr lang="en-US" sz="2800" b="1" smtClean="0"/>
              <a:t>vector, deque, set, map</a:t>
            </a:r>
            <a:endParaRPr lang="en-US" sz="2800" b="1"/>
          </a:p>
        </p:txBody>
      </p:sp>
    </p:spTree>
    <p:extLst>
      <p:ext uri="{BB962C8B-B14F-4D97-AF65-F5344CB8AC3E}">
        <p14:creationId xmlns:p14="http://schemas.microsoft.com/office/powerpoint/2010/main" val="36310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47654" y="538358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Стек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66647" y="1851419"/>
                <a:ext cx="10543481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uk-UA" sz="2800" smtClean="0"/>
                  <a:t>Принцип: </a:t>
                </a:r>
                <a:r>
                  <a:rPr lang="en-US" sz="2800" smtClean="0"/>
                  <a:t>LIFO – last in, first out</a:t>
                </a:r>
                <a:r>
                  <a:rPr lang="uk-UA" sz="2800"/>
                  <a:t> </a:t>
                </a:r>
                <a:r>
                  <a:rPr lang="uk-UA" sz="2800" smtClean="0"/>
                  <a:t>(останній прийшов, перший пішов).</a:t>
                </a:r>
                <a:endParaRPr lang="en-US" sz="2800" smtClean="0"/>
              </a:p>
              <a:p>
                <a:pPr algn="just"/>
                <a:endParaRPr lang="uk-UA" sz="2800" smtClean="0"/>
              </a:p>
              <a:p>
                <a:pPr algn="just"/>
                <a:r>
                  <a:rPr lang="uk-UA" sz="2800" smtClean="0"/>
                  <a:t>Підтримує операції:</a:t>
                </a:r>
                <a:endParaRPr lang="en-US" sz="2800"/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Додати елемент в кінець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b="1" smtClean="0"/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Отримати останній елемент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b="1"/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Видалити останній елемент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b="1"/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endParaRPr lang="en-US" sz="2800"/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На практиці: доступ до </a:t>
                </a:r>
                <a:r>
                  <a:rPr lang="en-US" sz="2800" smtClean="0"/>
                  <a:t>i-</a:t>
                </a:r>
                <a:r>
                  <a:rPr lang="uk-UA" sz="2800" smtClean="0"/>
                  <a:t>го елемента (</a:t>
                </a:r>
                <a:r>
                  <a:rPr lang="en-US" sz="2800" smtClean="0"/>
                  <a:t>a[i]</a:t>
                </a:r>
                <a:r>
                  <a:rPr lang="uk-UA" sz="2800" smtClean="0"/>
                  <a:t>)</a:t>
                </a:r>
                <a:r>
                  <a:rPr lang="en-US" sz="2800" smtClean="0"/>
                  <a:t>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b="1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647" y="1851419"/>
                <a:ext cx="10543481" cy="3539430"/>
              </a:xfrm>
              <a:prstGeom prst="rect">
                <a:avLst/>
              </a:prstGeom>
              <a:blipFill rotWithShape="0">
                <a:blip r:embed="rId2"/>
                <a:stretch>
                  <a:fillRect l="-1215" t="-1724" b="-4138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0470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47654" y="538358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Стек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С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++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6647" y="1851419"/>
            <a:ext cx="105434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uk-UA" sz="2800" smtClean="0"/>
              <a:t>В С++ є стеціальний контейнер </a:t>
            </a:r>
            <a:r>
              <a:rPr lang="en-US" sz="2800" b="1" smtClean="0"/>
              <a:t>stack</a:t>
            </a:r>
            <a:r>
              <a:rPr lang="en-US" sz="2800" smtClean="0"/>
              <a:t>. </a:t>
            </a:r>
            <a:r>
              <a:rPr lang="uk-UA" sz="2800" smtClean="0"/>
              <a:t>Але на практиці використовується </a:t>
            </a:r>
            <a:r>
              <a:rPr lang="en-US" sz="2800" b="1" smtClean="0"/>
              <a:t>vecto</a:t>
            </a:r>
            <a:r>
              <a:rPr lang="en-US" sz="2800" b="1"/>
              <a:t>r</a:t>
            </a:r>
            <a:r>
              <a:rPr lang="en-US" sz="2800" smtClean="0"/>
              <a:t>.</a:t>
            </a:r>
          </a:p>
          <a:p>
            <a:pPr algn="just"/>
            <a:endParaRPr lang="en-US" sz="280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61" y="3793893"/>
            <a:ext cx="3601279" cy="166422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563" y="3793893"/>
            <a:ext cx="3645448" cy="1664227"/>
          </a:xfrm>
          <a:prstGeom prst="rect">
            <a:avLst/>
          </a:prstGeom>
        </p:spPr>
      </p:pic>
      <p:cxnSp>
        <p:nvCxnSpPr>
          <p:cNvPr id="7" name="Прямая соединительная линия 6"/>
          <p:cNvCxnSpPr/>
          <p:nvPr/>
        </p:nvCxnSpPr>
        <p:spPr>
          <a:xfrm flipH="1">
            <a:off x="1432874" y="3793893"/>
            <a:ext cx="3591613" cy="166422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 flipH="1" flipV="1">
            <a:off x="1432875" y="3793893"/>
            <a:ext cx="3591612" cy="166422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5309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47654" y="538358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Стек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С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++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, vector)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629" y="2043019"/>
            <a:ext cx="9573611" cy="3235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538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47654" y="538358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Стек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з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адача 1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1789" y="1621410"/>
            <a:ext cx="1003011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3600" smtClean="0"/>
              <a:t>Дано рядок з дужок </a:t>
            </a:r>
            <a:r>
              <a:rPr lang="uk-UA" sz="4000" b="1" smtClean="0"/>
              <a:t>‘(’, ‘)’, ‘</a:t>
            </a:r>
            <a:r>
              <a:rPr lang="en-US" sz="4000" b="1" smtClean="0"/>
              <a:t>[</a:t>
            </a:r>
            <a:r>
              <a:rPr lang="uk-UA" sz="4000" b="1" smtClean="0"/>
              <a:t>’</a:t>
            </a:r>
            <a:r>
              <a:rPr lang="en-US" sz="4000" b="1" smtClean="0"/>
              <a:t>, </a:t>
            </a:r>
            <a:r>
              <a:rPr lang="uk-UA" sz="4000" b="1" smtClean="0"/>
              <a:t>‘</a:t>
            </a:r>
            <a:r>
              <a:rPr lang="en-US" sz="4000" b="1" smtClean="0"/>
              <a:t>]</a:t>
            </a:r>
            <a:r>
              <a:rPr lang="uk-UA" sz="4000" b="1" smtClean="0"/>
              <a:t>’</a:t>
            </a:r>
            <a:r>
              <a:rPr lang="uk-UA" sz="3600" smtClean="0"/>
              <a:t>.</a:t>
            </a:r>
          </a:p>
          <a:p>
            <a:r>
              <a:rPr lang="uk-UA" sz="3600" smtClean="0"/>
              <a:t>Необхідно перевірити, чи є рядок правильним математичним виразом.</a:t>
            </a:r>
            <a:endParaRPr lang="uk-UA" sz="3600"/>
          </a:p>
        </p:txBody>
      </p:sp>
      <p:sp>
        <p:nvSpPr>
          <p:cNvPr id="5" name="TextBox 4"/>
          <p:cNvSpPr txBox="1"/>
          <p:nvPr/>
        </p:nvSpPr>
        <p:spPr>
          <a:xfrm>
            <a:off x="2450970" y="3689347"/>
            <a:ext cx="427034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5400" b="1" smtClean="0">
                <a:solidFill>
                  <a:schemeClr val="accent2"/>
                </a:solidFill>
                <a:latin typeface="Bahnschrift Light" panose="020B0502040204020203" pitchFamily="34" charset="0"/>
              </a:rPr>
              <a:t>(</a:t>
            </a:r>
            <a:r>
              <a:rPr lang="uk-UA" sz="5400" b="1" smtClean="0">
                <a:solidFill>
                  <a:srgbClr val="92D050"/>
                </a:solidFill>
                <a:latin typeface="Bahnschrift Light" panose="020B0502040204020203" pitchFamily="34" charset="0"/>
              </a:rPr>
              <a:t>()</a:t>
            </a:r>
            <a:r>
              <a:rPr lang="uk-UA" sz="5400" b="1" smtClean="0">
                <a:solidFill>
                  <a:srgbClr val="0070C0"/>
                </a:solidFill>
                <a:latin typeface="Bahnschrift Light" panose="020B0502040204020203" pitchFamily="34" charset="0"/>
              </a:rPr>
              <a:t>[</a:t>
            </a:r>
            <a:r>
              <a:rPr lang="uk-UA" sz="5400" b="1" smtClean="0">
                <a:solidFill>
                  <a:srgbClr val="FFC000"/>
                </a:solidFill>
                <a:latin typeface="Bahnschrift Light" panose="020B0502040204020203" pitchFamily="34" charset="0"/>
              </a:rPr>
              <a:t>(</a:t>
            </a:r>
            <a:r>
              <a:rPr lang="uk-UA" sz="5400" b="1" smtClean="0">
                <a:solidFill>
                  <a:srgbClr val="7030A0"/>
                </a:solidFill>
                <a:latin typeface="Bahnschrift Light" panose="020B0502040204020203" pitchFamily="34" charset="0"/>
              </a:rPr>
              <a:t>()</a:t>
            </a:r>
            <a:r>
              <a:rPr lang="uk-UA" sz="5400" b="1" smtClean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 Light" panose="020B0502040204020203" pitchFamily="34" charset="0"/>
              </a:rPr>
              <a:t>(</a:t>
            </a:r>
            <a:r>
              <a:rPr lang="uk-UA" sz="5400" b="1" smtClean="0">
                <a:solidFill>
                  <a:schemeClr val="accent4">
                    <a:lumMod val="60000"/>
                    <a:lumOff val="40000"/>
                  </a:schemeClr>
                </a:solidFill>
                <a:latin typeface="Bahnschrift Light" panose="020B0502040204020203" pitchFamily="34" charset="0"/>
              </a:rPr>
              <a:t>[</a:t>
            </a:r>
            <a:r>
              <a:rPr lang="uk-UA" sz="5400" b="1" smtClean="0">
                <a:solidFill>
                  <a:srgbClr val="00B050"/>
                </a:solidFill>
                <a:latin typeface="Bahnschrift Light" panose="020B0502040204020203" pitchFamily="34" charset="0"/>
              </a:rPr>
              <a:t>()</a:t>
            </a:r>
            <a:r>
              <a:rPr lang="uk-UA" sz="5400" b="1" smtClean="0">
                <a:solidFill>
                  <a:schemeClr val="accent4">
                    <a:lumMod val="60000"/>
                    <a:lumOff val="40000"/>
                  </a:schemeClr>
                </a:solidFill>
                <a:latin typeface="Bahnschrift Light" panose="020B0502040204020203" pitchFamily="34" charset="0"/>
              </a:rPr>
              <a:t>]</a:t>
            </a:r>
            <a:r>
              <a:rPr lang="uk-UA" sz="5400" b="1" smtClean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 Light" panose="020B0502040204020203" pitchFamily="34" charset="0"/>
              </a:rPr>
              <a:t>)</a:t>
            </a:r>
            <a:r>
              <a:rPr lang="uk-UA" sz="5400" b="1" smtClean="0">
                <a:solidFill>
                  <a:srgbClr val="FFC000"/>
                </a:solidFill>
                <a:latin typeface="Bahnschrift Light" panose="020B0502040204020203" pitchFamily="34" charset="0"/>
              </a:rPr>
              <a:t>)</a:t>
            </a:r>
            <a:r>
              <a:rPr lang="uk-UA" sz="5400" b="1" smtClean="0">
                <a:solidFill>
                  <a:srgbClr val="0070C0"/>
                </a:solidFill>
                <a:latin typeface="Bahnschrift Light" panose="020B0502040204020203" pitchFamily="34" charset="0"/>
              </a:rPr>
              <a:t>]</a:t>
            </a:r>
            <a:r>
              <a:rPr lang="uk-UA" sz="5400" b="1" smtClean="0">
                <a:solidFill>
                  <a:schemeClr val="accent2"/>
                </a:solidFill>
                <a:latin typeface="Bahnschrift Light" panose="020B0502040204020203" pitchFamily="34" charset="0"/>
              </a:rPr>
              <a:t>)</a:t>
            </a:r>
            <a:endParaRPr lang="uk-UA" sz="5400" b="1">
              <a:solidFill>
                <a:schemeClr val="accent2"/>
              </a:solidFill>
              <a:latin typeface="Bahnschrift Light" panose="020B0502040204020203" pitchFamily="34" charset="0"/>
            </a:endParaRPr>
          </a:p>
          <a:p>
            <a:r>
              <a:rPr lang="uk-UA" sz="5400" b="1" smtClean="0">
                <a:solidFill>
                  <a:srgbClr val="FF0000"/>
                </a:solidFill>
                <a:latin typeface="Bahnschrift Light" panose="020B0502040204020203" pitchFamily="34" charset="0"/>
              </a:rPr>
              <a:t>([</a:t>
            </a:r>
            <a:r>
              <a:rPr lang="uk-UA" sz="5400" b="1" smtClean="0">
                <a:solidFill>
                  <a:srgbClr val="7030A0"/>
                </a:solidFill>
                <a:latin typeface="Bahnschrift Light" panose="020B0502040204020203" pitchFamily="34" charset="0"/>
              </a:rPr>
              <a:t>()</a:t>
            </a:r>
            <a:r>
              <a:rPr lang="uk-UA" sz="5400" b="1" smtClean="0">
                <a:solidFill>
                  <a:srgbClr val="0070C0"/>
                </a:solidFill>
                <a:latin typeface="Bahnschrift Light" panose="020B0502040204020203" pitchFamily="34" charset="0"/>
              </a:rPr>
              <a:t>()</a:t>
            </a:r>
            <a:r>
              <a:rPr lang="uk-UA" sz="5400" b="1" smtClean="0">
                <a:solidFill>
                  <a:srgbClr val="FF0000"/>
                </a:solidFill>
                <a:latin typeface="Bahnschrift Light" panose="020B0502040204020203" pitchFamily="34" charset="0"/>
              </a:rPr>
              <a:t>)]</a:t>
            </a:r>
            <a:r>
              <a:rPr lang="uk-UA" sz="5400" b="1" smtClean="0">
                <a:latin typeface="Bahnschrift Light" panose="020B0502040204020203" pitchFamily="34" charset="0"/>
              </a:rPr>
              <a:t>()</a:t>
            </a:r>
            <a:endParaRPr lang="uk-UA" sz="5400" b="1">
              <a:latin typeface="Bahnschrift Light" panose="020B0502040204020203" pitchFamily="34" charset="0"/>
            </a:endParaRPr>
          </a:p>
          <a:p>
            <a:r>
              <a:rPr lang="uk-UA" sz="5400" b="1" smtClean="0">
                <a:solidFill>
                  <a:schemeClr val="accent6">
                    <a:lumMod val="75000"/>
                  </a:schemeClr>
                </a:solidFill>
                <a:latin typeface="Bahnschrift Light" panose="020B0502040204020203" pitchFamily="34" charset="0"/>
              </a:rPr>
              <a:t>(</a:t>
            </a:r>
            <a:r>
              <a:rPr lang="uk-UA" sz="5400" b="1" smtClean="0">
                <a:solidFill>
                  <a:srgbClr val="FFFF00"/>
                </a:solidFill>
                <a:latin typeface="Bahnschrift Light" panose="020B0502040204020203" pitchFamily="34" charset="0"/>
              </a:rPr>
              <a:t>[</a:t>
            </a:r>
            <a:r>
              <a:rPr lang="uk-UA" sz="5400" b="1">
                <a:solidFill>
                  <a:srgbClr val="7030A0"/>
                </a:solidFill>
                <a:latin typeface="Bahnschrift Light" panose="020B0502040204020203" pitchFamily="34" charset="0"/>
              </a:rPr>
              <a:t>()</a:t>
            </a:r>
            <a:r>
              <a:rPr lang="uk-UA" sz="5400" b="1">
                <a:solidFill>
                  <a:srgbClr val="0070C0"/>
                </a:solidFill>
                <a:latin typeface="Bahnschrift Light" panose="020B0502040204020203" pitchFamily="34" charset="0"/>
              </a:rPr>
              <a:t>()</a:t>
            </a:r>
            <a:r>
              <a:rPr lang="uk-UA" sz="5400" b="1" smtClean="0">
                <a:solidFill>
                  <a:srgbClr val="FFFF00"/>
                </a:solidFill>
                <a:latin typeface="Bahnschrift Light" panose="020B0502040204020203" pitchFamily="34" charset="0"/>
              </a:rPr>
              <a:t>]</a:t>
            </a:r>
            <a:r>
              <a:rPr lang="uk-UA" sz="5400" b="1" smtClean="0">
                <a:solidFill>
                  <a:schemeClr val="accent6">
                    <a:lumMod val="75000"/>
                  </a:schemeClr>
                </a:solidFill>
                <a:latin typeface="Bahnschrift Light" panose="020B0502040204020203" pitchFamily="34" charset="0"/>
              </a:rPr>
              <a:t>)</a:t>
            </a:r>
            <a:r>
              <a:rPr lang="uk-UA" sz="5400" b="1" smtClean="0">
                <a:solidFill>
                  <a:srgbClr val="FFC000"/>
                </a:solidFill>
                <a:latin typeface="Bahnschrift Light" panose="020B0502040204020203" pitchFamily="34" charset="0"/>
              </a:rPr>
              <a:t>()</a:t>
            </a:r>
            <a:r>
              <a:rPr lang="uk-UA" sz="5400" b="1" smtClean="0">
                <a:solidFill>
                  <a:srgbClr val="FF0000"/>
                </a:solidFill>
                <a:latin typeface="Bahnschrift Light" panose="020B0502040204020203" pitchFamily="34" charset="0"/>
              </a:rPr>
              <a:t>(([</a:t>
            </a:r>
            <a:endParaRPr lang="uk-UA" sz="5400" b="1">
              <a:solidFill>
                <a:srgbClr val="FF0000"/>
              </a:solidFill>
              <a:latin typeface="Bahnschrift Light" panose="020B0502040204020203" pitchFamily="34" charset="0"/>
            </a:endParaRPr>
          </a:p>
        </p:txBody>
      </p:sp>
      <p:pic>
        <p:nvPicPr>
          <p:cNvPr id="4098" name="Picture 2" descr="Green Ok Icon PNG Transparent Background, Free Download #45012 -  FreeIcons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744" y="3774189"/>
            <a:ext cx="907820" cy="907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ncorrect Icon SVG Vector &amp; PNG Free Download | UXW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528" y="4682009"/>
            <a:ext cx="768252" cy="768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Incorrect Icon SVG Vector &amp; PNG Free Download | UXW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528" y="5425922"/>
            <a:ext cx="768252" cy="768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8940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47654" y="461998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Стек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з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адача 1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,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розв’язок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4461" y="1611983"/>
            <a:ext cx="1137815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800" b="1" smtClean="0"/>
              <a:t>Розв’язок: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uk-UA" sz="2800" smtClean="0"/>
              <a:t>Проходимося по </a:t>
            </a:r>
            <a:r>
              <a:rPr lang="uk-UA" sz="2800"/>
              <a:t>в</a:t>
            </a:r>
            <a:r>
              <a:rPr lang="uk-UA" sz="2800" smtClean="0"/>
              <a:t>сіх дужках підряд</a:t>
            </a:r>
            <a:r>
              <a:rPr lang="en-US" sz="2800" smtClean="0"/>
              <a:t>;</a:t>
            </a:r>
            <a:endParaRPr lang="uk-UA" sz="280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uk-UA" sz="2800" smtClean="0"/>
              <a:t>Якщо наступна дужка відкрита (</a:t>
            </a:r>
            <a:r>
              <a:rPr lang="uk-UA" sz="2800" b="1" smtClean="0"/>
              <a:t>‘(’ або ‘</a:t>
            </a:r>
            <a:r>
              <a:rPr lang="en-US" sz="2800" b="1"/>
              <a:t>[</a:t>
            </a:r>
            <a:r>
              <a:rPr lang="uk-UA" sz="2800" b="1" smtClean="0"/>
              <a:t>’</a:t>
            </a:r>
            <a:r>
              <a:rPr lang="uk-UA" sz="2800" smtClean="0"/>
              <a:t>), то добаляємо її в стек</a:t>
            </a:r>
            <a:r>
              <a:rPr lang="en-US" sz="2800" smtClean="0"/>
              <a:t>;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uk-UA" sz="2800" smtClean="0"/>
              <a:t>Якщо наступна дужка закрита (</a:t>
            </a:r>
            <a:r>
              <a:rPr lang="uk-UA" sz="2800" b="1" smtClean="0"/>
              <a:t>‘</a:t>
            </a:r>
            <a:r>
              <a:rPr lang="en-US" sz="2800" b="1" smtClean="0"/>
              <a:t>)</a:t>
            </a:r>
            <a:r>
              <a:rPr lang="uk-UA" sz="2800" b="1" smtClean="0"/>
              <a:t>’ </a:t>
            </a:r>
            <a:r>
              <a:rPr lang="uk-UA" sz="2800" b="1"/>
              <a:t>або </a:t>
            </a:r>
            <a:r>
              <a:rPr lang="uk-UA" sz="2800" b="1" smtClean="0"/>
              <a:t>‘</a:t>
            </a:r>
            <a:r>
              <a:rPr lang="en-US" sz="2800" b="1" smtClean="0"/>
              <a:t>]</a:t>
            </a:r>
            <a:r>
              <a:rPr lang="uk-UA" sz="2800" b="1" smtClean="0"/>
              <a:t>’</a:t>
            </a:r>
            <a:r>
              <a:rPr lang="uk-UA" sz="2800" smtClean="0"/>
              <a:t>), то: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uk-UA" sz="2800" smtClean="0"/>
              <a:t>Перевіряємо чи остання дужка в стеку правильна</a:t>
            </a:r>
            <a:r>
              <a:rPr lang="en-US" sz="2800" smtClean="0"/>
              <a:t> (</a:t>
            </a:r>
            <a:r>
              <a:rPr lang="uk-UA" sz="2800" b="1" smtClean="0"/>
              <a:t>‘(’</a:t>
            </a:r>
            <a:r>
              <a:rPr lang="en-US" sz="2800" b="1" smtClean="0"/>
              <a:t> ↔</a:t>
            </a:r>
            <a:r>
              <a:rPr lang="uk-UA" sz="2800" b="1" smtClean="0"/>
              <a:t> </a:t>
            </a:r>
            <a:r>
              <a:rPr lang="uk-UA" sz="2800" b="1"/>
              <a:t>‘)’, ‘</a:t>
            </a:r>
            <a:r>
              <a:rPr lang="en-US" sz="2800" b="1"/>
              <a:t>[</a:t>
            </a:r>
            <a:r>
              <a:rPr lang="uk-UA" sz="2800" b="1" smtClean="0"/>
              <a:t>’</a:t>
            </a:r>
            <a:r>
              <a:rPr lang="en-US" sz="2800" b="1"/>
              <a:t> </a:t>
            </a:r>
            <a:r>
              <a:rPr lang="en-US" sz="2800" b="1" smtClean="0"/>
              <a:t>↔ </a:t>
            </a:r>
            <a:r>
              <a:rPr lang="uk-UA" sz="2800" b="1" smtClean="0"/>
              <a:t>‘</a:t>
            </a:r>
            <a:r>
              <a:rPr lang="en-US" sz="2800" b="1"/>
              <a:t>]</a:t>
            </a:r>
            <a:r>
              <a:rPr lang="uk-UA" sz="2800" b="1"/>
              <a:t>’</a:t>
            </a:r>
            <a:r>
              <a:rPr lang="en-US" sz="2800" smtClean="0"/>
              <a:t>);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uk-UA" sz="2800" smtClean="0"/>
              <a:t>Якщо правильна, то видаляємо її</a:t>
            </a:r>
            <a:r>
              <a:rPr lang="en-US" sz="2800" smtClean="0"/>
              <a:t> </a:t>
            </a:r>
            <a:r>
              <a:rPr lang="uk-UA" sz="2800" smtClean="0"/>
              <a:t>з стеку</a:t>
            </a:r>
            <a:r>
              <a:rPr lang="en-US" sz="2800" smtClean="0"/>
              <a:t>;</a:t>
            </a:r>
            <a:endParaRPr lang="uk-UA" sz="2800" smtClean="0"/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uk-UA" sz="2800" smtClean="0"/>
              <a:t>Якщо </a:t>
            </a:r>
            <a:r>
              <a:rPr lang="uk-UA" sz="2800" smtClean="0"/>
              <a:t>неправильна (або стек пустий), </a:t>
            </a:r>
            <a:r>
              <a:rPr lang="uk-UA" sz="2800" smtClean="0"/>
              <a:t>то послідовність дужок також неправильна</a:t>
            </a:r>
            <a:r>
              <a:rPr lang="en-US" sz="2800" smtClean="0"/>
              <a:t>;</a:t>
            </a:r>
            <a:endParaRPr lang="uk-UA" sz="280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uk-UA" sz="2800" smtClean="0"/>
              <a:t>Вкінці стек повинен буди порожнім</a:t>
            </a:r>
            <a:r>
              <a:rPr lang="en-US" sz="2800" smtClean="0"/>
              <a:t>.</a:t>
            </a:r>
            <a:endParaRPr lang="uk-UA" sz="2800" smtClean="0"/>
          </a:p>
        </p:txBody>
      </p:sp>
    </p:spTree>
    <p:extLst>
      <p:ext uri="{BB962C8B-B14F-4D97-AF65-F5344CB8AC3E}">
        <p14:creationId xmlns:p14="http://schemas.microsoft.com/office/powerpoint/2010/main" val="2609894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57081" y="188620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Стек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з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адача 1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,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приклад 1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2168" y="1219672"/>
            <a:ext cx="5410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smtClean="0"/>
              <a:t>e</a:t>
            </a:r>
            <a:r>
              <a:rPr lang="uk-UA" sz="2800" i="1" smtClean="0"/>
              <a:t>2</a:t>
            </a:r>
            <a:r>
              <a:rPr lang="en-US" sz="2800" i="1" smtClean="0"/>
              <a:t>_stack_easy_verbose.cpp</a:t>
            </a:r>
            <a:endParaRPr lang="uk-UA" sz="2800" i="1" smtClean="0"/>
          </a:p>
        </p:txBody>
      </p:sp>
      <p:sp>
        <p:nvSpPr>
          <p:cNvPr id="4" name="TextBox 3"/>
          <p:cNvSpPr txBox="1"/>
          <p:nvPr/>
        </p:nvSpPr>
        <p:spPr>
          <a:xfrm>
            <a:off x="3897984" y="1808880"/>
            <a:ext cx="42703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5400" b="1" smtClean="0">
                <a:solidFill>
                  <a:schemeClr val="accent2"/>
                </a:solidFill>
                <a:latin typeface="Bahnschrift Light" panose="020B0502040204020203" pitchFamily="34" charset="0"/>
              </a:rPr>
              <a:t>(</a:t>
            </a:r>
            <a:r>
              <a:rPr lang="uk-UA" sz="5400" b="1" smtClean="0">
                <a:solidFill>
                  <a:srgbClr val="92D050"/>
                </a:solidFill>
                <a:latin typeface="Bahnschrift Light" panose="020B0502040204020203" pitchFamily="34" charset="0"/>
              </a:rPr>
              <a:t>()</a:t>
            </a:r>
            <a:r>
              <a:rPr lang="uk-UA" sz="5400" b="1" smtClean="0">
                <a:solidFill>
                  <a:srgbClr val="0070C0"/>
                </a:solidFill>
                <a:latin typeface="Bahnschrift Light" panose="020B0502040204020203" pitchFamily="34" charset="0"/>
              </a:rPr>
              <a:t>[</a:t>
            </a:r>
            <a:r>
              <a:rPr lang="uk-UA" sz="5400" b="1" smtClean="0">
                <a:solidFill>
                  <a:srgbClr val="FFC000"/>
                </a:solidFill>
                <a:latin typeface="Bahnschrift Light" panose="020B0502040204020203" pitchFamily="34" charset="0"/>
              </a:rPr>
              <a:t>(</a:t>
            </a:r>
            <a:r>
              <a:rPr lang="uk-UA" sz="5400" b="1" smtClean="0">
                <a:solidFill>
                  <a:srgbClr val="7030A0"/>
                </a:solidFill>
                <a:latin typeface="Bahnschrift Light" panose="020B0502040204020203" pitchFamily="34" charset="0"/>
              </a:rPr>
              <a:t>()</a:t>
            </a:r>
            <a:r>
              <a:rPr lang="uk-UA" sz="5400" b="1" smtClean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 Light" panose="020B0502040204020203" pitchFamily="34" charset="0"/>
              </a:rPr>
              <a:t>(</a:t>
            </a:r>
            <a:r>
              <a:rPr lang="uk-UA" sz="5400" b="1" smtClean="0">
                <a:solidFill>
                  <a:schemeClr val="accent4">
                    <a:lumMod val="60000"/>
                    <a:lumOff val="40000"/>
                  </a:schemeClr>
                </a:solidFill>
                <a:latin typeface="Bahnschrift Light" panose="020B0502040204020203" pitchFamily="34" charset="0"/>
              </a:rPr>
              <a:t>[</a:t>
            </a:r>
            <a:r>
              <a:rPr lang="uk-UA" sz="5400" b="1" smtClean="0">
                <a:solidFill>
                  <a:srgbClr val="00B050"/>
                </a:solidFill>
                <a:latin typeface="Bahnschrift Light" panose="020B0502040204020203" pitchFamily="34" charset="0"/>
              </a:rPr>
              <a:t>()</a:t>
            </a:r>
            <a:r>
              <a:rPr lang="uk-UA" sz="5400" b="1" smtClean="0">
                <a:solidFill>
                  <a:schemeClr val="accent4">
                    <a:lumMod val="60000"/>
                    <a:lumOff val="40000"/>
                  </a:schemeClr>
                </a:solidFill>
                <a:latin typeface="Bahnschrift Light" panose="020B0502040204020203" pitchFamily="34" charset="0"/>
              </a:rPr>
              <a:t>]</a:t>
            </a:r>
            <a:r>
              <a:rPr lang="uk-UA" sz="5400" b="1" smtClean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 Light" panose="020B0502040204020203" pitchFamily="34" charset="0"/>
              </a:rPr>
              <a:t>)</a:t>
            </a:r>
            <a:r>
              <a:rPr lang="uk-UA" sz="5400" b="1" smtClean="0">
                <a:solidFill>
                  <a:srgbClr val="FFC000"/>
                </a:solidFill>
                <a:latin typeface="Bahnschrift Light" panose="020B0502040204020203" pitchFamily="34" charset="0"/>
              </a:rPr>
              <a:t>)</a:t>
            </a:r>
            <a:r>
              <a:rPr lang="uk-UA" sz="5400" b="1" smtClean="0">
                <a:solidFill>
                  <a:srgbClr val="0070C0"/>
                </a:solidFill>
                <a:latin typeface="Bahnschrift Light" panose="020B0502040204020203" pitchFamily="34" charset="0"/>
              </a:rPr>
              <a:t>]</a:t>
            </a:r>
            <a:r>
              <a:rPr lang="uk-UA" sz="5400" b="1" smtClean="0">
                <a:solidFill>
                  <a:schemeClr val="accent2"/>
                </a:solidFill>
                <a:latin typeface="Bahnschrift Light" panose="020B0502040204020203" pitchFamily="34" charset="0"/>
              </a:rPr>
              <a:t>)</a:t>
            </a:r>
            <a:endParaRPr lang="uk-UA" sz="5400" b="1">
              <a:solidFill>
                <a:schemeClr val="accent2"/>
              </a:solidFill>
              <a:latin typeface="Bahnschrift Light" panose="020B0502040204020203" pitchFamily="34" charset="0"/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081782"/>
              </p:ext>
            </p:extLst>
          </p:nvPr>
        </p:nvGraphicFramePr>
        <p:xfrm>
          <a:off x="900783" y="2950589"/>
          <a:ext cx="3265864" cy="3627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200"/>
                <a:gridCol w="1244338"/>
                <a:gridCol w="1310326"/>
              </a:tblGrid>
              <a:tr h="474256">
                <a:tc>
                  <a:txBody>
                    <a:bodyPr/>
                    <a:lstStyle/>
                    <a:p>
                      <a:pPr algn="ctr"/>
                      <a:r>
                        <a:rPr lang="en-US" sz="2800" b="1" smtClean="0"/>
                        <a:t>#</a:t>
                      </a:r>
                      <a:endParaRPr lang="uk-UA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/>
                        <a:t>Дужка</a:t>
                      </a:r>
                      <a:endParaRPr lang="uk-UA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/>
                        <a:t>Стек</a:t>
                      </a:r>
                      <a:endParaRPr lang="uk-UA" sz="2800" b="1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1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>
                          <a:solidFill>
                            <a:schemeClr val="accent2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800" b="1" smtClean="0">
                          <a:solidFill>
                            <a:schemeClr val="accent2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endParaRPr lang="uk-UA" sz="28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2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>
                          <a:solidFill>
                            <a:srgbClr val="92D050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>
                          <a:solidFill>
                            <a:schemeClr val="accent2"/>
                          </a:solidFill>
                          <a:latin typeface="Bahnschrift Light" panose="020B0502040204020203" pitchFamily="34" charset="0"/>
                        </a:rPr>
                        <a:t>( </a:t>
                      </a:r>
                      <a:r>
                        <a:rPr lang="uk-UA" sz="2800" b="1" smtClean="0">
                          <a:solidFill>
                            <a:srgbClr val="92D050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endParaRPr lang="uk-UA" sz="28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3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>
                          <a:solidFill>
                            <a:srgbClr val="92D050"/>
                          </a:solidFill>
                          <a:latin typeface="Bahnschrift Light" panose="020B0502040204020203" pitchFamily="34" charset="0"/>
                        </a:rPr>
                        <a:t>)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>
                          <a:solidFill>
                            <a:schemeClr val="accent2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endParaRPr lang="uk-UA" sz="28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4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>
                          <a:solidFill>
                            <a:srgbClr val="0070C0"/>
                          </a:solidFill>
                          <a:latin typeface="Bahnschrift Light" panose="020B0502040204020203" pitchFamily="34" charset="0"/>
                        </a:rPr>
                        <a:t>[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>
                          <a:solidFill>
                            <a:schemeClr val="accent2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r>
                        <a:rPr lang="uk-UA" sz="2800" b="1" baseline="0" smtClean="0">
                          <a:solidFill>
                            <a:srgbClr val="92D05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2800" b="1" smtClean="0">
                          <a:solidFill>
                            <a:srgbClr val="0070C0"/>
                          </a:solidFill>
                          <a:latin typeface="Bahnschrift Light" panose="020B0502040204020203" pitchFamily="34" charset="0"/>
                        </a:rPr>
                        <a:t>[</a:t>
                      </a:r>
                      <a:endParaRPr lang="uk-UA" sz="28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5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>
                          <a:solidFill>
                            <a:srgbClr val="FFC000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>
                          <a:solidFill>
                            <a:schemeClr val="accent2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r>
                        <a:rPr lang="uk-UA" sz="2800" b="1" smtClean="0">
                          <a:solidFill>
                            <a:srgbClr val="92D05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2800" b="1" smtClean="0">
                          <a:solidFill>
                            <a:srgbClr val="0070C0"/>
                          </a:solidFill>
                          <a:latin typeface="Bahnschrift Light" panose="020B0502040204020203" pitchFamily="34" charset="0"/>
                        </a:rPr>
                        <a:t>[</a:t>
                      </a:r>
                      <a:r>
                        <a:rPr lang="en-US" sz="2800" b="1" smtClean="0">
                          <a:solidFill>
                            <a:srgbClr val="0070C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2800" b="1" smtClean="0">
                          <a:solidFill>
                            <a:srgbClr val="FFC000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endParaRPr lang="uk-UA" sz="28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6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>
                          <a:solidFill>
                            <a:srgbClr val="7030A0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>
                          <a:solidFill>
                            <a:schemeClr val="accent2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r>
                        <a:rPr lang="en-US" sz="2800" b="1" baseline="0" smtClean="0">
                          <a:solidFill>
                            <a:srgbClr val="92D05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2800" b="1" smtClean="0">
                          <a:solidFill>
                            <a:srgbClr val="0070C0"/>
                          </a:solidFill>
                          <a:latin typeface="Bahnschrift Light" panose="020B0502040204020203" pitchFamily="34" charset="0"/>
                        </a:rPr>
                        <a:t>[</a:t>
                      </a:r>
                      <a:r>
                        <a:rPr lang="en-US" sz="2800" b="1" smtClean="0">
                          <a:solidFill>
                            <a:srgbClr val="0070C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2800" b="1" smtClean="0">
                          <a:solidFill>
                            <a:srgbClr val="FFC000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r>
                        <a:rPr lang="en-US" sz="2800" b="1" smtClean="0">
                          <a:solidFill>
                            <a:srgbClr val="FFC00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2800" b="1" smtClean="0">
                          <a:solidFill>
                            <a:srgbClr val="7030A0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endParaRPr lang="uk-UA" sz="280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123407"/>
              </p:ext>
            </p:extLst>
          </p:nvPr>
        </p:nvGraphicFramePr>
        <p:xfrm>
          <a:off x="4522247" y="2942733"/>
          <a:ext cx="3367988" cy="3627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200"/>
                <a:gridCol w="1244338"/>
                <a:gridCol w="1412450"/>
              </a:tblGrid>
              <a:tr h="474256">
                <a:tc>
                  <a:txBody>
                    <a:bodyPr/>
                    <a:lstStyle/>
                    <a:p>
                      <a:pPr algn="ctr"/>
                      <a:r>
                        <a:rPr lang="en-US" sz="2800" b="1" smtClean="0"/>
                        <a:t>#</a:t>
                      </a:r>
                      <a:endParaRPr lang="uk-UA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/>
                        <a:t>Дужка</a:t>
                      </a:r>
                      <a:endParaRPr lang="uk-UA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/>
                        <a:t>Стек</a:t>
                      </a:r>
                      <a:endParaRPr lang="uk-UA" sz="2800" b="1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7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>
                          <a:solidFill>
                            <a:srgbClr val="7030A0"/>
                          </a:solidFill>
                          <a:latin typeface="Bahnschrift Light" panose="020B0502040204020203" pitchFamily="34" charset="0"/>
                        </a:rPr>
                        <a:t>)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>
                          <a:solidFill>
                            <a:schemeClr val="accent2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r>
                        <a:rPr lang="en-US" sz="2800" b="1" baseline="0" smtClean="0">
                          <a:solidFill>
                            <a:srgbClr val="92D05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2800" b="1" smtClean="0">
                          <a:solidFill>
                            <a:srgbClr val="0070C0"/>
                          </a:solidFill>
                          <a:latin typeface="Bahnschrift Light" panose="020B0502040204020203" pitchFamily="34" charset="0"/>
                        </a:rPr>
                        <a:t>[</a:t>
                      </a:r>
                      <a:r>
                        <a:rPr lang="en-US" sz="2800" b="1" smtClean="0">
                          <a:solidFill>
                            <a:srgbClr val="0070C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2800" b="1" smtClean="0">
                          <a:solidFill>
                            <a:srgbClr val="FFC000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endParaRPr lang="uk-UA" sz="28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8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800" b="1" smtClean="0">
                          <a:solidFill>
                            <a:schemeClr val="accent2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r>
                        <a:rPr lang="en-US" sz="2800" b="1" baseline="0" smtClean="0">
                          <a:solidFill>
                            <a:srgbClr val="92D05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2800" b="1" smtClean="0">
                          <a:solidFill>
                            <a:srgbClr val="0070C0"/>
                          </a:solidFill>
                          <a:latin typeface="Bahnschrift Light" panose="020B0502040204020203" pitchFamily="34" charset="0"/>
                        </a:rPr>
                        <a:t>[</a:t>
                      </a:r>
                      <a:r>
                        <a:rPr lang="en-US" sz="2800" b="1" smtClean="0">
                          <a:solidFill>
                            <a:srgbClr val="0070C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2800" b="1" smtClean="0">
                          <a:solidFill>
                            <a:srgbClr val="FFC000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r>
                        <a:rPr lang="en-US" sz="2800" b="1" smtClean="0">
                          <a:solidFill>
                            <a:srgbClr val="FFC00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2800" b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endParaRPr lang="uk-UA" sz="280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9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Bahnschrift Light" panose="020B0502040204020203" pitchFamily="34" charset="0"/>
                        </a:rPr>
                        <a:t>[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800" b="1" smtClean="0">
                          <a:solidFill>
                            <a:schemeClr val="accent2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r>
                        <a:rPr lang="en-US" sz="2800" b="1" baseline="0" smtClean="0">
                          <a:solidFill>
                            <a:srgbClr val="92D05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2800" b="1" smtClean="0">
                          <a:solidFill>
                            <a:srgbClr val="0070C0"/>
                          </a:solidFill>
                          <a:latin typeface="Bahnschrift Light" panose="020B0502040204020203" pitchFamily="34" charset="0"/>
                        </a:rPr>
                        <a:t>[</a:t>
                      </a:r>
                      <a:r>
                        <a:rPr lang="en-US" sz="2800" b="1" smtClean="0">
                          <a:solidFill>
                            <a:srgbClr val="0070C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2800" b="1" smtClean="0">
                          <a:solidFill>
                            <a:srgbClr val="FFC000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r>
                        <a:rPr lang="en-US" sz="2800" b="1" smtClean="0">
                          <a:solidFill>
                            <a:srgbClr val="FFC00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2800" b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r>
                        <a:rPr lang="en-US" sz="2800" b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2800" b="1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Bahnschrift Light" panose="020B0502040204020203" pitchFamily="34" charset="0"/>
                        </a:rPr>
                        <a:t>[</a:t>
                      </a:r>
                      <a:endParaRPr lang="uk-UA" sz="280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10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>
                          <a:solidFill>
                            <a:srgbClr val="00B050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800" b="1" smtClean="0">
                          <a:solidFill>
                            <a:schemeClr val="accent2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r>
                        <a:rPr lang="en-US" sz="2800" b="1" baseline="0" smtClean="0">
                          <a:solidFill>
                            <a:srgbClr val="92D05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2800" b="1" smtClean="0">
                          <a:solidFill>
                            <a:srgbClr val="0070C0"/>
                          </a:solidFill>
                          <a:latin typeface="Bahnschrift Light" panose="020B0502040204020203" pitchFamily="34" charset="0"/>
                        </a:rPr>
                        <a:t>[</a:t>
                      </a:r>
                      <a:r>
                        <a:rPr lang="en-US" sz="2800" b="1" smtClean="0">
                          <a:solidFill>
                            <a:srgbClr val="0070C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2800" b="1" smtClean="0">
                          <a:solidFill>
                            <a:srgbClr val="FFC000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r>
                        <a:rPr lang="en-US" sz="2800" b="1" smtClean="0">
                          <a:solidFill>
                            <a:srgbClr val="FFC00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2800" b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r>
                        <a:rPr lang="en-US" sz="2800" b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2800" b="1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Bahnschrift Light" panose="020B0502040204020203" pitchFamily="34" charset="0"/>
                        </a:rPr>
                        <a:t>[</a:t>
                      </a:r>
                      <a:r>
                        <a:rPr lang="en-US" sz="2800" b="1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2800" b="1" smtClean="0">
                          <a:solidFill>
                            <a:srgbClr val="00B050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endParaRPr lang="uk-UA" sz="280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11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>
                          <a:solidFill>
                            <a:srgbClr val="00B050"/>
                          </a:solidFill>
                          <a:latin typeface="Bahnschrift Light" panose="020B0502040204020203" pitchFamily="34" charset="0"/>
                        </a:rPr>
                        <a:t>)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>
                          <a:solidFill>
                            <a:schemeClr val="accent2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r>
                        <a:rPr lang="en-US" sz="2800" b="1" baseline="0" smtClean="0">
                          <a:solidFill>
                            <a:srgbClr val="92D05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2800" b="1" smtClean="0">
                          <a:solidFill>
                            <a:srgbClr val="0070C0"/>
                          </a:solidFill>
                          <a:latin typeface="Bahnschrift Light" panose="020B0502040204020203" pitchFamily="34" charset="0"/>
                        </a:rPr>
                        <a:t>[</a:t>
                      </a:r>
                      <a:r>
                        <a:rPr lang="en-US" sz="2800" b="1" smtClean="0">
                          <a:solidFill>
                            <a:srgbClr val="0070C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2800" b="1" smtClean="0">
                          <a:solidFill>
                            <a:srgbClr val="FFC000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r>
                        <a:rPr lang="en-US" sz="2800" b="1" smtClean="0">
                          <a:solidFill>
                            <a:srgbClr val="FFC00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2800" b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r>
                        <a:rPr lang="en-US" sz="2800" b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2800" b="1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Bahnschrift Light" panose="020B0502040204020203" pitchFamily="34" charset="0"/>
                        </a:rPr>
                        <a:t>[</a:t>
                      </a:r>
                      <a:endParaRPr lang="uk-UA" sz="28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12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Bahnschrift Light" panose="020B0502040204020203" pitchFamily="34" charset="0"/>
                        </a:rPr>
                        <a:t>]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>
                          <a:solidFill>
                            <a:schemeClr val="accent2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r>
                        <a:rPr lang="en-US" sz="2800" b="1" baseline="0" smtClean="0">
                          <a:solidFill>
                            <a:srgbClr val="92D05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2800" b="1" smtClean="0">
                          <a:solidFill>
                            <a:srgbClr val="0070C0"/>
                          </a:solidFill>
                          <a:latin typeface="Bahnschrift Light" panose="020B0502040204020203" pitchFamily="34" charset="0"/>
                        </a:rPr>
                        <a:t>[</a:t>
                      </a:r>
                      <a:r>
                        <a:rPr lang="en-US" sz="2800" b="1" smtClean="0">
                          <a:solidFill>
                            <a:srgbClr val="0070C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2800" b="1" smtClean="0">
                          <a:solidFill>
                            <a:srgbClr val="FFC000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r>
                        <a:rPr lang="en-US" sz="2800" b="1" smtClean="0">
                          <a:solidFill>
                            <a:srgbClr val="FFC00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2800" b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endParaRPr lang="uk-UA" sz="280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280527"/>
              </p:ext>
            </p:extLst>
          </p:nvPr>
        </p:nvGraphicFramePr>
        <p:xfrm>
          <a:off x="8168325" y="2916024"/>
          <a:ext cx="3367988" cy="259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200"/>
                <a:gridCol w="1244338"/>
                <a:gridCol w="1412450"/>
              </a:tblGrid>
              <a:tr h="474256">
                <a:tc>
                  <a:txBody>
                    <a:bodyPr/>
                    <a:lstStyle/>
                    <a:p>
                      <a:pPr algn="ctr"/>
                      <a:r>
                        <a:rPr lang="en-US" sz="2800" b="1" smtClean="0"/>
                        <a:t>#</a:t>
                      </a:r>
                      <a:endParaRPr lang="uk-UA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/>
                        <a:t>Дужка</a:t>
                      </a:r>
                      <a:endParaRPr lang="uk-UA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/>
                        <a:t>Стек</a:t>
                      </a:r>
                      <a:endParaRPr lang="uk-UA" sz="2800" b="1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13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Bahnschrift Light" panose="020B0502040204020203" pitchFamily="34" charset="0"/>
                        </a:rPr>
                        <a:t>)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>
                          <a:solidFill>
                            <a:schemeClr val="accent2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r>
                        <a:rPr lang="en-US" sz="2800" b="1" baseline="0" smtClean="0">
                          <a:solidFill>
                            <a:srgbClr val="92D05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2800" b="1" smtClean="0">
                          <a:solidFill>
                            <a:srgbClr val="0070C0"/>
                          </a:solidFill>
                          <a:latin typeface="Bahnschrift Light" panose="020B0502040204020203" pitchFamily="34" charset="0"/>
                        </a:rPr>
                        <a:t>[</a:t>
                      </a:r>
                      <a:r>
                        <a:rPr lang="en-US" sz="2800" b="1" smtClean="0">
                          <a:solidFill>
                            <a:srgbClr val="0070C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2800" b="1" smtClean="0">
                          <a:solidFill>
                            <a:srgbClr val="FFC000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endParaRPr lang="uk-UA" sz="28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14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>
                          <a:solidFill>
                            <a:srgbClr val="FFC000"/>
                          </a:solidFill>
                          <a:latin typeface="Bahnschrift Light" panose="020B0502040204020203" pitchFamily="34" charset="0"/>
                        </a:rPr>
                        <a:t>)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800" b="1" smtClean="0">
                          <a:solidFill>
                            <a:schemeClr val="accent2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r>
                        <a:rPr lang="en-US" sz="2800" b="1" baseline="0" smtClean="0">
                          <a:solidFill>
                            <a:srgbClr val="92D05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2800" b="1" smtClean="0">
                          <a:solidFill>
                            <a:srgbClr val="0070C0"/>
                          </a:solidFill>
                          <a:latin typeface="Bahnschrift Light" panose="020B0502040204020203" pitchFamily="34" charset="0"/>
                        </a:rPr>
                        <a:t>[</a:t>
                      </a:r>
                      <a:endParaRPr lang="uk-UA" sz="280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15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>
                          <a:solidFill>
                            <a:srgbClr val="0070C0"/>
                          </a:solidFill>
                          <a:latin typeface="Bahnschrift Light" panose="020B0502040204020203" pitchFamily="34" charset="0"/>
                        </a:rPr>
                        <a:t>]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800" b="1" smtClean="0">
                          <a:solidFill>
                            <a:schemeClr val="accent2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endParaRPr lang="uk-UA" sz="280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16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>
                          <a:solidFill>
                            <a:schemeClr val="accent2"/>
                          </a:solidFill>
                          <a:latin typeface="Bahnschrift Light" panose="020B0502040204020203" pitchFamily="34" charset="0"/>
                        </a:rPr>
                        <a:t>)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uk-UA" sz="2800" smtClean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" name="Picture 2" descr="Green Ok Icon PNG Transparent Background, Free Download #45012 -  FreeIcons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902" y="4811138"/>
            <a:ext cx="907820" cy="907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422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57081" y="188620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Стек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з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адача 1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,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приклад 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2)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2168" y="1219672"/>
            <a:ext cx="5410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smtClean="0"/>
              <a:t>e</a:t>
            </a:r>
            <a:r>
              <a:rPr lang="uk-UA" sz="2800" i="1"/>
              <a:t>2</a:t>
            </a:r>
            <a:r>
              <a:rPr lang="en-US" sz="2800" i="1" smtClean="0"/>
              <a:t>_stack_easy_verbose.cpp</a:t>
            </a:r>
            <a:endParaRPr lang="uk-UA" sz="2800" i="1" smtClean="0"/>
          </a:p>
        </p:txBody>
      </p:sp>
      <p:sp>
        <p:nvSpPr>
          <p:cNvPr id="4" name="TextBox 3"/>
          <p:cNvSpPr txBox="1"/>
          <p:nvPr/>
        </p:nvSpPr>
        <p:spPr>
          <a:xfrm>
            <a:off x="4953786" y="1742892"/>
            <a:ext cx="27950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5400" b="1" smtClean="0">
                <a:solidFill>
                  <a:srgbClr val="FF0000"/>
                </a:solidFill>
                <a:latin typeface="Bahnschrift Light" panose="020B0502040204020203" pitchFamily="34" charset="0"/>
              </a:rPr>
              <a:t>([</a:t>
            </a:r>
            <a:r>
              <a:rPr lang="uk-UA" sz="5400" b="1" smtClean="0">
                <a:solidFill>
                  <a:srgbClr val="7030A0"/>
                </a:solidFill>
                <a:latin typeface="Bahnschrift Light" panose="020B0502040204020203" pitchFamily="34" charset="0"/>
              </a:rPr>
              <a:t>()</a:t>
            </a:r>
            <a:r>
              <a:rPr lang="uk-UA" sz="5400" b="1" smtClean="0">
                <a:solidFill>
                  <a:srgbClr val="0070C0"/>
                </a:solidFill>
                <a:latin typeface="Bahnschrift Light" panose="020B0502040204020203" pitchFamily="34" charset="0"/>
              </a:rPr>
              <a:t>()</a:t>
            </a:r>
            <a:r>
              <a:rPr lang="uk-UA" sz="5400" b="1" smtClean="0">
                <a:solidFill>
                  <a:srgbClr val="FF0000"/>
                </a:solidFill>
                <a:latin typeface="Bahnschrift Light" panose="020B0502040204020203" pitchFamily="34" charset="0"/>
              </a:rPr>
              <a:t>)]</a:t>
            </a:r>
            <a:r>
              <a:rPr lang="uk-UA" sz="5400" b="1" smtClean="0">
                <a:latin typeface="Bahnschrift Light" panose="020B0502040204020203" pitchFamily="34" charset="0"/>
              </a:rPr>
              <a:t>()</a:t>
            </a:r>
            <a:endParaRPr lang="uk-UA" sz="5400" b="1">
              <a:latin typeface="Bahnschrift Light" panose="020B0502040204020203" pitchFamily="34" charset="0"/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423973"/>
              </p:ext>
            </p:extLst>
          </p:nvPr>
        </p:nvGraphicFramePr>
        <p:xfrm>
          <a:off x="2145122" y="2903456"/>
          <a:ext cx="3586375" cy="3474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200"/>
                <a:gridCol w="1498862"/>
                <a:gridCol w="1376313"/>
              </a:tblGrid>
              <a:tr h="569693">
                <a:tc>
                  <a:txBody>
                    <a:bodyPr/>
                    <a:lstStyle/>
                    <a:p>
                      <a:pPr algn="ctr"/>
                      <a:r>
                        <a:rPr lang="en-US" sz="3200" b="1" smtClean="0"/>
                        <a:t>#</a:t>
                      </a:r>
                      <a:endParaRPr lang="uk-UA" sz="3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3200" b="1" smtClean="0"/>
                        <a:t>Дужка</a:t>
                      </a:r>
                      <a:endParaRPr lang="uk-UA" sz="3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3200" b="1" smtClean="0"/>
                        <a:t>Стек</a:t>
                      </a:r>
                      <a:endParaRPr lang="uk-UA" sz="3200" b="1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3200" smtClean="0"/>
                        <a:t>1</a:t>
                      </a:r>
                      <a:endParaRPr lang="uk-UA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3200" b="1" smtClean="0">
                          <a:solidFill>
                            <a:srgbClr val="FF0000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endParaRPr lang="uk-UA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3200" b="1" smtClean="0">
                          <a:solidFill>
                            <a:schemeClr val="accent2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endParaRPr lang="uk-UA" sz="32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3200" smtClean="0"/>
                        <a:t>2</a:t>
                      </a:r>
                      <a:endParaRPr lang="uk-UA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3200" b="1" smtClean="0">
                          <a:solidFill>
                            <a:srgbClr val="FF0000"/>
                          </a:solidFill>
                          <a:latin typeface="Bahnschrift Light" panose="020B0502040204020203" pitchFamily="34" charset="0"/>
                        </a:rPr>
                        <a:t>[</a:t>
                      </a:r>
                      <a:endParaRPr lang="uk-UA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3200" b="1" smtClean="0">
                          <a:solidFill>
                            <a:srgbClr val="FF0000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r>
                        <a:rPr lang="en-US" sz="3200" b="1" smtClean="0">
                          <a:solidFill>
                            <a:srgbClr val="FF000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3200" b="1" smtClean="0">
                          <a:solidFill>
                            <a:srgbClr val="FF0000"/>
                          </a:solidFill>
                          <a:latin typeface="Bahnschrift Light" panose="020B0502040204020203" pitchFamily="34" charset="0"/>
                        </a:rPr>
                        <a:t>[</a:t>
                      </a:r>
                      <a:endParaRPr lang="uk-UA" sz="32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3200" smtClean="0"/>
                        <a:t>3</a:t>
                      </a:r>
                      <a:endParaRPr lang="uk-UA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3200" b="1" smtClean="0">
                          <a:solidFill>
                            <a:srgbClr val="7030A0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endParaRPr lang="uk-UA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3200" b="1" smtClean="0">
                          <a:solidFill>
                            <a:srgbClr val="FF0000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r>
                        <a:rPr lang="en-US" sz="3200" b="1" smtClean="0">
                          <a:solidFill>
                            <a:srgbClr val="FF000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3200" b="1" smtClean="0">
                          <a:solidFill>
                            <a:srgbClr val="FF0000"/>
                          </a:solidFill>
                          <a:latin typeface="Bahnschrift Light" panose="020B0502040204020203" pitchFamily="34" charset="0"/>
                        </a:rPr>
                        <a:t>[</a:t>
                      </a:r>
                      <a:r>
                        <a:rPr lang="en-US" sz="3200" b="1" smtClean="0">
                          <a:solidFill>
                            <a:srgbClr val="FF000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3200" b="1" smtClean="0">
                          <a:solidFill>
                            <a:srgbClr val="7030A0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endParaRPr lang="uk-UA" sz="32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3200" smtClean="0"/>
                        <a:t>4</a:t>
                      </a:r>
                      <a:endParaRPr lang="uk-UA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3200" b="1" smtClean="0">
                          <a:solidFill>
                            <a:srgbClr val="7030A0"/>
                          </a:solidFill>
                          <a:latin typeface="Bahnschrift Light" panose="020B0502040204020203" pitchFamily="34" charset="0"/>
                        </a:rPr>
                        <a:t>)</a:t>
                      </a:r>
                      <a:endParaRPr lang="uk-UA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3200" b="1" smtClean="0">
                          <a:solidFill>
                            <a:srgbClr val="FF0000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r>
                        <a:rPr lang="en-US" sz="3200" b="1" smtClean="0">
                          <a:solidFill>
                            <a:srgbClr val="FF000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3200" b="1" smtClean="0">
                          <a:solidFill>
                            <a:srgbClr val="FF0000"/>
                          </a:solidFill>
                          <a:latin typeface="Bahnschrift Light" panose="020B0502040204020203" pitchFamily="34" charset="0"/>
                        </a:rPr>
                        <a:t>[</a:t>
                      </a:r>
                      <a:endParaRPr lang="uk-UA" sz="32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3200" smtClean="0"/>
                        <a:t>5</a:t>
                      </a:r>
                      <a:endParaRPr lang="uk-UA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3200" b="1" smtClean="0">
                          <a:solidFill>
                            <a:srgbClr val="0070C0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endParaRPr lang="uk-UA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3200" b="1" smtClean="0">
                          <a:solidFill>
                            <a:srgbClr val="FF0000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r>
                        <a:rPr lang="en-US" sz="3200" b="1" smtClean="0">
                          <a:solidFill>
                            <a:srgbClr val="FF000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3200" b="1" smtClean="0">
                          <a:solidFill>
                            <a:srgbClr val="FF0000"/>
                          </a:solidFill>
                          <a:latin typeface="Bahnschrift Light" panose="020B0502040204020203" pitchFamily="34" charset="0"/>
                        </a:rPr>
                        <a:t>[</a:t>
                      </a:r>
                      <a:r>
                        <a:rPr lang="en-US" sz="3200" b="1" smtClean="0">
                          <a:solidFill>
                            <a:srgbClr val="FF000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3200" b="1" smtClean="0">
                          <a:solidFill>
                            <a:srgbClr val="0070C0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endParaRPr lang="uk-UA" sz="320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409949"/>
              </p:ext>
            </p:extLst>
          </p:nvPr>
        </p:nvGraphicFramePr>
        <p:xfrm>
          <a:off x="6115378" y="2914454"/>
          <a:ext cx="3586375" cy="173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200"/>
                <a:gridCol w="1498862"/>
                <a:gridCol w="1376313"/>
              </a:tblGrid>
              <a:tr h="569693">
                <a:tc>
                  <a:txBody>
                    <a:bodyPr/>
                    <a:lstStyle/>
                    <a:p>
                      <a:pPr algn="ctr"/>
                      <a:r>
                        <a:rPr lang="en-US" sz="3200" b="1" smtClean="0"/>
                        <a:t>#</a:t>
                      </a:r>
                      <a:endParaRPr lang="uk-UA" sz="3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3200" b="1" smtClean="0"/>
                        <a:t>Дужка</a:t>
                      </a:r>
                      <a:endParaRPr lang="uk-UA" sz="3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3200" b="1" smtClean="0"/>
                        <a:t>Стек</a:t>
                      </a:r>
                      <a:endParaRPr lang="uk-UA" sz="3200" b="1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3200" smtClean="0"/>
                        <a:t>1</a:t>
                      </a:r>
                      <a:endParaRPr lang="uk-UA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3200" b="1" smtClean="0">
                          <a:solidFill>
                            <a:srgbClr val="0070C0"/>
                          </a:solidFill>
                          <a:latin typeface="Bahnschrift Light" panose="020B0502040204020203" pitchFamily="34" charset="0"/>
                        </a:rPr>
                        <a:t>)</a:t>
                      </a:r>
                      <a:endParaRPr lang="uk-UA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3200" b="1" smtClean="0">
                          <a:solidFill>
                            <a:srgbClr val="FF0000"/>
                          </a:solidFill>
                          <a:latin typeface="Bahnschrift Light" panose="020B0502040204020203" pitchFamily="34" charset="0"/>
                        </a:rPr>
                        <a:t>(</a:t>
                      </a:r>
                      <a:r>
                        <a:rPr lang="en-US" sz="3200" b="1" smtClean="0">
                          <a:solidFill>
                            <a:srgbClr val="FF0000"/>
                          </a:solidFill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uk-UA" sz="3200" b="1" smtClean="0">
                          <a:solidFill>
                            <a:srgbClr val="FF0000"/>
                          </a:solidFill>
                          <a:latin typeface="Bahnschrift Light" panose="020B0502040204020203" pitchFamily="34" charset="0"/>
                        </a:rPr>
                        <a:t>[</a:t>
                      </a:r>
                      <a:endParaRPr lang="uk-UA" sz="32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3200" smtClean="0"/>
                        <a:t>2</a:t>
                      </a:r>
                      <a:endParaRPr lang="uk-UA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3200" b="1" smtClean="0">
                          <a:solidFill>
                            <a:srgbClr val="FF0000"/>
                          </a:solidFill>
                          <a:latin typeface="Bahnschrift Light" panose="020B0502040204020203" pitchFamily="34" charset="0"/>
                        </a:rPr>
                        <a:t>)</a:t>
                      </a:r>
                      <a:endParaRPr lang="uk-UA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uk-UA" sz="320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2" name="Picture 4" descr="Incorrect Icon SVG Vector &amp; PNG Free Download | UXW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2740" y="4125828"/>
            <a:ext cx="768252" cy="768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6540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40404" y="216901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Стек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з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адача 1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,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код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943719" y="1408209"/>
            <a:ext cx="3079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smtClean="0"/>
              <a:t>e1_stack_easy.cpp</a:t>
            </a:r>
            <a:endParaRPr lang="uk-UA" sz="2800" i="1" smtClean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472" y="216901"/>
            <a:ext cx="4277630" cy="652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199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19787" y="216901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Стек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текстовий редактор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25343" y="1361075"/>
            <a:ext cx="3079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smtClean="0"/>
              <a:t>e</a:t>
            </a:r>
            <a:r>
              <a:rPr lang="uk-UA" sz="2800" i="1" smtClean="0"/>
              <a:t>3</a:t>
            </a:r>
            <a:r>
              <a:rPr lang="en-US" sz="2800" i="1" smtClean="0"/>
              <a:t>_stack_editor.cpp</a:t>
            </a:r>
            <a:endParaRPr lang="uk-UA" sz="2800" i="1" smtClean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584" y="1361075"/>
            <a:ext cx="5365554" cy="49149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21718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47654" y="538358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Черга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66647" y="1851419"/>
                <a:ext cx="10543481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uk-UA" sz="2800" smtClean="0"/>
                  <a:t>Принцип: </a:t>
                </a:r>
                <a:r>
                  <a:rPr lang="en-US" sz="2800" smtClean="0"/>
                  <a:t>FIFO – first in, first out</a:t>
                </a:r>
                <a:r>
                  <a:rPr lang="uk-UA" sz="2800"/>
                  <a:t> </a:t>
                </a:r>
                <a:r>
                  <a:rPr lang="uk-UA" sz="2800" smtClean="0"/>
                  <a:t>(перший прийшов, перший пішов).</a:t>
                </a:r>
                <a:endParaRPr lang="en-US" sz="2800" smtClean="0"/>
              </a:p>
              <a:p>
                <a:pPr algn="just"/>
                <a:endParaRPr lang="uk-UA" sz="2800" smtClean="0"/>
              </a:p>
              <a:p>
                <a:pPr algn="just"/>
                <a:r>
                  <a:rPr lang="uk-UA" sz="2800" smtClean="0"/>
                  <a:t>Підтримує операції:</a:t>
                </a:r>
                <a:endParaRPr lang="en-US" sz="2800"/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Додати елемент в кінець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b="1" smtClean="0"/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Отримати перший елемент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b="1"/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Видалити перший елемент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b="1"/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endParaRPr lang="en-US" sz="2800"/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На практиці: доступ до </a:t>
                </a:r>
                <a:r>
                  <a:rPr lang="en-US" sz="2800" smtClean="0"/>
                  <a:t>i-</a:t>
                </a:r>
                <a:r>
                  <a:rPr lang="uk-UA" sz="2800" smtClean="0"/>
                  <a:t>го елемента (</a:t>
                </a:r>
                <a:r>
                  <a:rPr lang="en-US" sz="2800" smtClean="0"/>
                  <a:t>a[i]</a:t>
                </a:r>
                <a:r>
                  <a:rPr lang="uk-UA" sz="2800" smtClean="0"/>
                  <a:t>)</a:t>
                </a:r>
                <a:r>
                  <a:rPr lang="en-US" sz="2800" smtClean="0"/>
                  <a:t>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b="1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647" y="1851419"/>
                <a:ext cx="10543481" cy="3539430"/>
              </a:xfrm>
              <a:prstGeom prst="rect">
                <a:avLst/>
              </a:prstGeom>
              <a:blipFill rotWithShape="0">
                <a:blip r:embed="rId2"/>
                <a:stretch>
                  <a:fillRect l="-1215" t="-1724" b="-4138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4807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47654" y="387530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Черга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С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++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33822" y="1930215"/>
            <a:ext cx="105434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uk-UA" sz="2800" smtClean="0"/>
              <a:t>В С++ є стеціальний контейнер </a:t>
            </a:r>
            <a:r>
              <a:rPr lang="en-US" sz="2800" b="1" smtClean="0"/>
              <a:t>queue</a:t>
            </a:r>
            <a:r>
              <a:rPr lang="en-US" sz="2800" smtClean="0"/>
              <a:t>, </a:t>
            </a:r>
            <a:r>
              <a:rPr lang="uk-UA" sz="2800" smtClean="0"/>
              <a:t>а також </a:t>
            </a:r>
            <a:r>
              <a:rPr lang="en-US" sz="2800" b="1" smtClean="0"/>
              <a:t>deque</a:t>
            </a:r>
            <a:r>
              <a:rPr lang="en-US" sz="2800" smtClean="0"/>
              <a:t>. </a:t>
            </a:r>
            <a:r>
              <a:rPr lang="uk-UA" sz="2800" smtClean="0"/>
              <a:t>На практиці можна практично зажди використовувати </a:t>
            </a:r>
            <a:r>
              <a:rPr lang="en-US" sz="2800" b="1"/>
              <a:t>deque</a:t>
            </a:r>
            <a:r>
              <a:rPr lang="en-US" sz="2800" smtClean="0"/>
              <a:t>.</a:t>
            </a:r>
          </a:p>
          <a:p>
            <a:pPr algn="just"/>
            <a:endParaRPr lang="en-US" sz="2800" smtClean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654" y="4206008"/>
            <a:ext cx="3497613" cy="1667467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563" y="4206008"/>
            <a:ext cx="3412492" cy="166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122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47654" y="208420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Черга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С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++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, queue vs deque)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228681" y="2626699"/>
            <a:ext cx="702297" cy="6315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smtClean="0">
                <a:solidFill>
                  <a:schemeClr val="tx1"/>
                </a:solidFill>
              </a:rPr>
              <a:t>1</a:t>
            </a:r>
            <a:endParaRPr lang="uk-UA" sz="4000">
              <a:solidFill>
                <a:schemeClr val="tx1"/>
              </a:solidFill>
            </a:endParaRPr>
          </a:p>
        </p:txBody>
      </p:sp>
      <p:cxnSp>
        <p:nvCxnSpPr>
          <p:cNvPr id="14" name="Прямая со стрелкой 13"/>
          <p:cNvCxnSpPr>
            <a:endCxn id="7" idx="1"/>
          </p:cNvCxnSpPr>
          <p:nvPr/>
        </p:nvCxnSpPr>
        <p:spPr>
          <a:xfrm>
            <a:off x="2224726" y="2942497"/>
            <a:ext cx="1003955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/>
          <p:cNvSpPr/>
          <p:nvPr/>
        </p:nvSpPr>
        <p:spPr>
          <a:xfrm>
            <a:off x="3940405" y="2626699"/>
            <a:ext cx="702297" cy="6315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4000" smtClean="0">
                <a:solidFill>
                  <a:schemeClr val="tx1"/>
                </a:solidFill>
              </a:rPr>
              <a:t>2</a:t>
            </a:r>
            <a:endParaRPr lang="uk-UA" sz="4000">
              <a:solidFill>
                <a:schemeClr val="tx1"/>
              </a:solidFill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4654484" y="2626699"/>
            <a:ext cx="702297" cy="6315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4000" smtClean="0">
                <a:solidFill>
                  <a:schemeClr val="tx1"/>
                </a:solidFill>
              </a:rPr>
              <a:t>3</a:t>
            </a:r>
            <a:endParaRPr lang="uk-UA" sz="4000">
              <a:solidFill>
                <a:schemeClr val="tx1"/>
              </a:solidFill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5366208" y="2626699"/>
            <a:ext cx="702297" cy="6315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4000" smtClean="0">
                <a:solidFill>
                  <a:schemeClr val="tx1"/>
                </a:solidFill>
              </a:rPr>
              <a:t>4</a:t>
            </a:r>
            <a:endParaRPr lang="uk-UA" sz="4000">
              <a:solidFill>
                <a:schemeClr val="tx1"/>
              </a:solidFill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6070860" y="2626699"/>
            <a:ext cx="702297" cy="6315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4000" smtClean="0">
                <a:solidFill>
                  <a:schemeClr val="tx1"/>
                </a:solidFill>
              </a:rPr>
              <a:t>5</a:t>
            </a:r>
            <a:endParaRPr lang="uk-UA" sz="4000">
              <a:solidFill>
                <a:schemeClr val="tx1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6784939" y="2626699"/>
            <a:ext cx="702297" cy="6315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4000" smtClean="0">
                <a:solidFill>
                  <a:schemeClr val="tx1"/>
                </a:solidFill>
              </a:rPr>
              <a:t>6</a:t>
            </a:r>
            <a:endParaRPr lang="uk-UA" sz="4000">
              <a:solidFill>
                <a:schemeClr val="tx1"/>
              </a:solidFill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7496663" y="2626699"/>
            <a:ext cx="702297" cy="6315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4000" smtClean="0">
                <a:solidFill>
                  <a:schemeClr val="tx1"/>
                </a:solidFill>
              </a:rPr>
              <a:t>7</a:t>
            </a:r>
            <a:endParaRPr lang="uk-UA" sz="4000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99043" y="1544305"/>
            <a:ext cx="30524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800" b="1" smtClean="0"/>
              <a:t>queue</a:t>
            </a:r>
            <a:endParaRPr lang="en-US" sz="4800" smtClean="0"/>
          </a:p>
        </p:txBody>
      </p:sp>
      <p:cxnSp>
        <p:nvCxnSpPr>
          <p:cNvPr id="23" name="Прямая со стрелкой 22"/>
          <p:cNvCxnSpPr/>
          <p:nvPr/>
        </p:nvCxnSpPr>
        <p:spPr>
          <a:xfrm>
            <a:off x="8198960" y="2954829"/>
            <a:ext cx="1003955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рямоугольник 23"/>
          <p:cNvSpPr/>
          <p:nvPr/>
        </p:nvSpPr>
        <p:spPr>
          <a:xfrm>
            <a:off x="3216899" y="4833245"/>
            <a:ext cx="702297" cy="6315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smtClean="0">
                <a:solidFill>
                  <a:schemeClr val="tx1"/>
                </a:solidFill>
              </a:rPr>
              <a:t>1</a:t>
            </a:r>
            <a:endParaRPr lang="uk-UA" sz="4000">
              <a:solidFill>
                <a:schemeClr val="tx1"/>
              </a:solidFill>
            </a:endParaRPr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2212944" y="5337579"/>
            <a:ext cx="1003955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Прямоугольник 25"/>
          <p:cNvSpPr/>
          <p:nvPr/>
        </p:nvSpPr>
        <p:spPr>
          <a:xfrm>
            <a:off x="3928623" y="4833245"/>
            <a:ext cx="702297" cy="6315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4000" smtClean="0">
                <a:solidFill>
                  <a:schemeClr val="tx1"/>
                </a:solidFill>
              </a:rPr>
              <a:t>2</a:t>
            </a:r>
            <a:endParaRPr lang="uk-UA" sz="4000">
              <a:solidFill>
                <a:schemeClr val="tx1"/>
              </a:solidFill>
            </a:endParaRPr>
          </a:p>
        </p:txBody>
      </p:sp>
      <p:sp>
        <p:nvSpPr>
          <p:cNvPr id="27" name="Прямоугольник 26"/>
          <p:cNvSpPr/>
          <p:nvPr/>
        </p:nvSpPr>
        <p:spPr>
          <a:xfrm>
            <a:off x="4642702" y="4833245"/>
            <a:ext cx="702297" cy="6315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4000" smtClean="0">
                <a:solidFill>
                  <a:schemeClr val="tx1"/>
                </a:solidFill>
              </a:rPr>
              <a:t>3</a:t>
            </a:r>
            <a:endParaRPr lang="uk-UA" sz="4000">
              <a:solidFill>
                <a:schemeClr val="tx1"/>
              </a:solidFill>
            </a:endParaRPr>
          </a:p>
        </p:txBody>
      </p:sp>
      <p:sp>
        <p:nvSpPr>
          <p:cNvPr id="28" name="Прямоугольник 27"/>
          <p:cNvSpPr/>
          <p:nvPr/>
        </p:nvSpPr>
        <p:spPr>
          <a:xfrm>
            <a:off x="5354426" y="4833245"/>
            <a:ext cx="702297" cy="6315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4000" smtClean="0">
                <a:solidFill>
                  <a:schemeClr val="tx1"/>
                </a:solidFill>
              </a:rPr>
              <a:t>4</a:t>
            </a:r>
            <a:endParaRPr lang="uk-UA" sz="4000">
              <a:solidFill>
                <a:schemeClr val="tx1"/>
              </a:solidFill>
            </a:endParaRPr>
          </a:p>
        </p:txBody>
      </p:sp>
      <p:sp>
        <p:nvSpPr>
          <p:cNvPr id="29" name="Прямоугольник 28"/>
          <p:cNvSpPr/>
          <p:nvPr/>
        </p:nvSpPr>
        <p:spPr>
          <a:xfrm>
            <a:off x="6059078" y="4833245"/>
            <a:ext cx="702297" cy="6315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4000" smtClean="0">
                <a:solidFill>
                  <a:schemeClr val="tx1"/>
                </a:solidFill>
              </a:rPr>
              <a:t>5</a:t>
            </a:r>
            <a:endParaRPr lang="uk-UA" sz="4000">
              <a:solidFill>
                <a:schemeClr val="tx1"/>
              </a:solidFill>
            </a:endParaRPr>
          </a:p>
        </p:txBody>
      </p:sp>
      <p:sp>
        <p:nvSpPr>
          <p:cNvPr id="30" name="Прямоугольник 29"/>
          <p:cNvSpPr/>
          <p:nvPr/>
        </p:nvSpPr>
        <p:spPr>
          <a:xfrm>
            <a:off x="6773157" y="4833245"/>
            <a:ext cx="702297" cy="6315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4000" smtClean="0">
                <a:solidFill>
                  <a:schemeClr val="tx1"/>
                </a:solidFill>
              </a:rPr>
              <a:t>6</a:t>
            </a:r>
            <a:endParaRPr lang="uk-UA" sz="4000">
              <a:solidFill>
                <a:schemeClr val="tx1"/>
              </a:solidFill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7484881" y="4833245"/>
            <a:ext cx="702297" cy="6315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4000" smtClean="0">
                <a:solidFill>
                  <a:schemeClr val="tx1"/>
                </a:solidFill>
              </a:rPr>
              <a:t>7</a:t>
            </a:r>
            <a:endParaRPr lang="uk-UA" sz="4000"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87261" y="3750851"/>
            <a:ext cx="30524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800" b="1" smtClean="0"/>
              <a:t>deque</a:t>
            </a:r>
            <a:endParaRPr lang="en-US" sz="4800" smtClean="0"/>
          </a:p>
        </p:txBody>
      </p:sp>
      <p:cxnSp>
        <p:nvCxnSpPr>
          <p:cNvPr id="33" name="Прямая со стрелкой 32"/>
          <p:cNvCxnSpPr/>
          <p:nvPr/>
        </p:nvCxnSpPr>
        <p:spPr>
          <a:xfrm>
            <a:off x="8187178" y="5323639"/>
            <a:ext cx="1003955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/>
          <p:nvPr/>
        </p:nvCxnSpPr>
        <p:spPr>
          <a:xfrm flipH="1">
            <a:off x="2224726" y="5018639"/>
            <a:ext cx="992173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/>
          <p:nvPr/>
        </p:nvCxnSpPr>
        <p:spPr>
          <a:xfrm flipH="1">
            <a:off x="8187178" y="5018639"/>
            <a:ext cx="992173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276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47654" y="538358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Черга 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С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++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, deque)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747" y="1779338"/>
            <a:ext cx="8383170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246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47654" y="538358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Черга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з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адача 1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68923" y="2224725"/>
            <a:ext cx="1003011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3200" smtClean="0"/>
              <a:t>Ви моделюєте чергу в банку. Є два типи подій: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uk-UA" sz="3200" b="1" smtClean="0"/>
              <a:t>‘+ </a:t>
            </a:r>
            <a:r>
              <a:rPr lang="en-US" sz="3200" b="1" smtClean="0"/>
              <a:t>t</a:t>
            </a:r>
            <a:r>
              <a:rPr lang="uk-UA" sz="3200" b="1" smtClean="0"/>
              <a:t>’</a:t>
            </a:r>
            <a:r>
              <a:rPr lang="en-US" sz="3200" smtClean="0"/>
              <a:t> </a:t>
            </a:r>
            <a:r>
              <a:rPr lang="uk-UA" sz="3200" smtClean="0"/>
              <a:t>– прийшов новий клієнт, обслуговування якого займе </a:t>
            </a:r>
            <a:r>
              <a:rPr lang="en-US" sz="3200" smtClean="0"/>
              <a:t>t </a:t>
            </a:r>
            <a:r>
              <a:rPr lang="uk-UA" sz="3200" smtClean="0"/>
              <a:t>хвилин. Він став в кінець черги</a:t>
            </a:r>
            <a:r>
              <a:rPr lang="uk-UA" sz="3200"/>
              <a:t>.</a:t>
            </a:r>
            <a:endParaRPr lang="uk-UA" sz="320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uk-UA" sz="3200" b="1" smtClean="0"/>
              <a:t>‘-’</a:t>
            </a:r>
            <a:r>
              <a:rPr lang="uk-UA" sz="3200" smtClean="0"/>
              <a:t> – закінчилось обслуговування першого клієнта.</a:t>
            </a:r>
          </a:p>
          <a:p>
            <a:endParaRPr lang="uk-UA" sz="3200" smtClean="0"/>
          </a:p>
          <a:p>
            <a:r>
              <a:rPr lang="ru-RU" sz="3200"/>
              <a:t>Після кожної події необхідно знайти </a:t>
            </a:r>
            <a:r>
              <a:rPr lang="ru-RU" sz="3200" b="1"/>
              <a:t>загальний час, необхідний для обслуговування всіх клієнтів у черзі</a:t>
            </a:r>
            <a:r>
              <a:rPr lang="ru-RU" sz="3200"/>
              <a:t>.</a:t>
            </a:r>
            <a:endParaRPr lang="uk-UA" sz="3200"/>
          </a:p>
        </p:txBody>
      </p:sp>
    </p:spTree>
    <p:extLst>
      <p:ext uri="{BB962C8B-B14F-4D97-AF65-F5344CB8AC3E}">
        <p14:creationId xmlns:p14="http://schemas.microsoft.com/office/powerpoint/2010/main" val="281770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47654" y="461998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Черга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з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адача 1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,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розв’язок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07010" y="2309566"/>
                <a:ext cx="10539167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2800" b="1" smtClean="0"/>
                  <a:t>Розв’язок: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uk-UA" sz="2800"/>
                  <a:t>Будемо тримати чергу часів обслуговування клієнтів </a:t>
                </a:r>
                <a:r>
                  <a:rPr lang="uk-UA" sz="2800" smtClean="0"/>
                  <a:t>(</a:t>
                </a:r>
                <a:r>
                  <a:rPr lang="en-US" sz="2800" b="1" i="1" smtClean="0"/>
                  <a:t>deque&lt;int</a:t>
                </a:r>
                <a:r>
                  <a:rPr lang="en-US" sz="2800" b="1" i="1"/>
                  <a:t>&gt;</a:t>
                </a:r>
                <a:r>
                  <a:rPr lang="en-US" sz="2800" i="1"/>
                  <a:t>);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ru-RU" sz="2800"/>
                  <a:t>Підтримуватимемо </a:t>
                </a:r>
                <a:r>
                  <a:rPr lang="ru-RU" sz="2800" b="1"/>
                  <a:t>поточну суму часів обслуговування в </a:t>
                </a:r>
                <a:r>
                  <a:rPr lang="ru-RU" sz="2800" b="1" smtClean="0"/>
                  <a:t>черзі</a:t>
                </a:r>
                <a:r>
                  <a:rPr lang="en-US" sz="2800" b="1" smtClean="0"/>
                  <a:t> </a:t>
                </a:r>
                <a:r>
                  <a:rPr lang="ru-RU" sz="2800" smtClean="0"/>
                  <a:t>(</a:t>
                </a:r>
                <a:r>
                  <a:rPr lang="ru-RU" sz="2800"/>
                  <a:t>інваріант: сума елементів черги)</a:t>
                </a:r>
                <a:r>
                  <a:rPr lang="en-US" sz="2800" smtClean="0"/>
                  <a:t>;</a:t>
                </a:r>
                <a:endParaRPr lang="uk-UA" sz="2800" smtClean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Обробка кожної події тривіальна</a:t>
                </a:r>
                <a:r>
                  <a:rPr lang="en-US" sz="2800" smtClean="0"/>
                  <a:t> </a:t>
                </a:r>
                <a:r>
                  <a:rPr lang="uk-UA" sz="2800" smtClean="0"/>
                  <a:t>за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80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uk-UA" sz="2800" smtClean="0"/>
                  <a:t> (див. приклади і код)</a:t>
                </a:r>
                <a:endParaRPr lang="en-US" sz="2800" smtClean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sz="2800" smtClean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010" y="2309566"/>
                <a:ext cx="10539167" cy="3108543"/>
              </a:xfrm>
              <a:prstGeom prst="rect">
                <a:avLst/>
              </a:prstGeom>
              <a:blipFill rotWithShape="0">
                <a:blip r:embed="rId2"/>
                <a:stretch>
                  <a:fillRect l="-1215" t="-1961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7444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66508" y="0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Черга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з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адача 1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,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приклад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84881" y="1144257"/>
            <a:ext cx="4590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/>
              <a:t>e5_deque_easy_verbose.cpp</a:t>
            </a:r>
            <a:endParaRPr lang="uk-UA" sz="2800" i="1" smtClean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834599"/>
              </p:ext>
            </p:extLst>
          </p:nvPr>
        </p:nvGraphicFramePr>
        <p:xfrm>
          <a:off x="165493" y="1019617"/>
          <a:ext cx="7215694" cy="5699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3113"/>
                <a:gridCol w="3497344"/>
                <a:gridCol w="254523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/>
                        <a:t>Запит</a:t>
                      </a:r>
                      <a:endParaRPr lang="uk-UA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/>
                        <a:t>Черга</a:t>
                      </a:r>
                      <a:endParaRPr lang="uk-UA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/>
                        <a:t>Сумарний час</a:t>
                      </a:r>
                      <a:endParaRPr lang="uk-UA" sz="2800" b="1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+ 1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uk-UA" sz="28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1 = 0 </a:t>
                      </a:r>
                      <a:r>
                        <a:rPr lang="uk-UA" sz="2800" smtClean="0">
                          <a:solidFill>
                            <a:srgbClr val="00B050"/>
                          </a:solidFill>
                        </a:rPr>
                        <a:t>+ 1</a:t>
                      </a:r>
                      <a:endParaRPr lang="uk-UA" sz="28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+ 2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1 </a:t>
                      </a:r>
                      <a:r>
                        <a:rPr lang="uk-UA" sz="2800" smtClean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uk-UA" sz="28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3 = 1 </a:t>
                      </a:r>
                      <a:r>
                        <a:rPr lang="uk-UA" sz="2800" smtClean="0">
                          <a:solidFill>
                            <a:srgbClr val="00B050"/>
                          </a:solidFill>
                        </a:rPr>
                        <a:t>+ 2</a:t>
                      </a:r>
                      <a:endParaRPr lang="uk-UA" sz="28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+ 7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1 2 </a:t>
                      </a:r>
                      <a:r>
                        <a:rPr lang="uk-UA" sz="2800" smtClean="0">
                          <a:solidFill>
                            <a:srgbClr val="00B050"/>
                          </a:solidFill>
                        </a:rPr>
                        <a:t>7</a:t>
                      </a:r>
                      <a:endParaRPr lang="uk-UA" sz="28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10 = 3 </a:t>
                      </a:r>
                      <a:r>
                        <a:rPr lang="uk-UA" sz="2800" smtClean="0">
                          <a:solidFill>
                            <a:srgbClr val="00B050"/>
                          </a:solidFill>
                        </a:rPr>
                        <a:t>+ 7</a:t>
                      </a:r>
                      <a:endParaRPr lang="uk-UA" sz="28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-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2 7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9 = 10 </a:t>
                      </a:r>
                      <a:r>
                        <a:rPr lang="uk-UA" sz="2800" smtClean="0">
                          <a:solidFill>
                            <a:srgbClr val="FF0000"/>
                          </a:solidFill>
                        </a:rPr>
                        <a:t>- 1</a:t>
                      </a:r>
                      <a:endParaRPr lang="uk-UA" sz="28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+ 3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2</a:t>
                      </a:r>
                      <a:r>
                        <a:rPr lang="uk-UA" sz="2800" baseline="0" smtClean="0"/>
                        <a:t> 7 </a:t>
                      </a:r>
                      <a:r>
                        <a:rPr lang="uk-UA" sz="2800" baseline="0" smtClean="0">
                          <a:solidFill>
                            <a:srgbClr val="00B050"/>
                          </a:solidFill>
                        </a:rPr>
                        <a:t>3</a:t>
                      </a:r>
                      <a:endParaRPr lang="uk-UA" sz="28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12 = 9 </a:t>
                      </a:r>
                      <a:r>
                        <a:rPr lang="uk-UA" sz="2800" smtClean="0">
                          <a:solidFill>
                            <a:srgbClr val="00B050"/>
                          </a:solidFill>
                        </a:rPr>
                        <a:t>+ 3</a:t>
                      </a:r>
                      <a:endParaRPr lang="uk-UA" sz="28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-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7 3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10 = 12 </a:t>
                      </a:r>
                      <a:r>
                        <a:rPr lang="uk-UA" sz="2800" smtClean="0">
                          <a:solidFill>
                            <a:srgbClr val="FF0000"/>
                          </a:solidFill>
                        </a:rPr>
                        <a:t>- 2</a:t>
                      </a:r>
                      <a:endParaRPr lang="uk-UA" sz="28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-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3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3 = 10 </a:t>
                      </a:r>
                      <a:r>
                        <a:rPr lang="uk-UA" sz="2800" smtClean="0">
                          <a:solidFill>
                            <a:srgbClr val="FF0000"/>
                          </a:solidFill>
                        </a:rPr>
                        <a:t>- 7</a:t>
                      </a:r>
                      <a:endParaRPr lang="uk-UA" sz="28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+ 4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3 </a:t>
                      </a:r>
                      <a:r>
                        <a:rPr lang="uk-UA" sz="2800" smtClean="0">
                          <a:solidFill>
                            <a:srgbClr val="00B050"/>
                          </a:solidFill>
                        </a:rPr>
                        <a:t>4</a:t>
                      </a:r>
                      <a:endParaRPr lang="uk-UA" sz="28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7 = 3</a:t>
                      </a:r>
                      <a:r>
                        <a:rPr lang="uk-UA" sz="2800" smtClean="0">
                          <a:solidFill>
                            <a:srgbClr val="00B050"/>
                          </a:solidFill>
                        </a:rPr>
                        <a:t> + 4</a:t>
                      </a:r>
                      <a:endParaRPr lang="uk-UA" sz="28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+ 1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3 4 </a:t>
                      </a:r>
                      <a:r>
                        <a:rPr lang="uk-UA" sz="2800" smtClean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uk-UA" sz="28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8 = 7 </a:t>
                      </a:r>
                      <a:r>
                        <a:rPr lang="uk-UA" sz="2800" smtClean="0">
                          <a:solidFill>
                            <a:srgbClr val="00B050"/>
                          </a:solidFill>
                        </a:rPr>
                        <a:t>+ 1</a:t>
                      </a:r>
                      <a:endParaRPr lang="uk-UA" sz="28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+ 9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3 4 1 </a:t>
                      </a:r>
                      <a:r>
                        <a:rPr lang="uk-UA" sz="2800" smtClean="0">
                          <a:solidFill>
                            <a:srgbClr val="00B050"/>
                          </a:solidFill>
                        </a:rPr>
                        <a:t>9</a:t>
                      </a:r>
                      <a:endParaRPr lang="uk-UA" sz="28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/>
                        <a:t>17 = 8</a:t>
                      </a:r>
                      <a:r>
                        <a:rPr lang="uk-UA" sz="2800" smtClean="0">
                          <a:solidFill>
                            <a:srgbClr val="00B050"/>
                          </a:solidFill>
                        </a:rPr>
                        <a:t> + 9</a:t>
                      </a:r>
                      <a:endParaRPr lang="uk-UA" sz="28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7421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78111" y="113206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Черга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з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адача 1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,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код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085121" y="1247954"/>
            <a:ext cx="3079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smtClean="0"/>
              <a:t>e4_deque_easy.cpp</a:t>
            </a:r>
            <a:endParaRPr lang="uk-UA" sz="2800" i="1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53" y="1153365"/>
            <a:ext cx="5639972" cy="55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146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9876" y="377157"/>
            <a:ext cx="108408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Черга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з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адача 2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,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самостійна робота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38606" y="1427063"/>
            <a:ext cx="37047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smtClean="0"/>
              <a:t>e</a:t>
            </a:r>
            <a:r>
              <a:rPr lang="uk-UA" sz="2800" i="1" smtClean="0"/>
              <a:t>6</a:t>
            </a:r>
            <a:r>
              <a:rPr lang="en-US" sz="2800" i="1" smtClean="0"/>
              <a:t>_deque_hard.cpp</a:t>
            </a:r>
            <a:endParaRPr lang="uk-UA" sz="2800" i="1" smtClean="0"/>
          </a:p>
        </p:txBody>
      </p:sp>
      <p:sp>
        <p:nvSpPr>
          <p:cNvPr id="5" name="TextBox 4"/>
          <p:cNvSpPr txBox="1"/>
          <p:nvPr/>
        </p:nvSpPr>
        <p:spPr>
          <a:xfrm>
            <a:off x="5392132" y="1427063"/>
            <a:ext cx="5806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/>
              <a:t>https://eolymp.com/uk/problems/694</a:t>
            </a:r>
            <a:endParaRPr lang="uk-UA" sz="2800" i="1" smtClean="0"/>
          </a:p>
        </p:txBody>
      </p:sp>
      <p:sp>
        <p:nvSpPr>
          <p:cNvPr id="7" name="TextBox 6"/>
          <p:cNvSpPr txBox="1"/>
          <p:nvPr/>
        </p:nvSpPr>
        <p:spPr>
          <a:xfrm>
            <a:off x="808547" y="2120993"/>
            <a:ext cx="10543481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uk-UA" sz="2800"/>
              <a:t>На вхід вашої програми подається послідовність операцій з чергою. Кожна операція полягає у додаванні або видаленні елемента з черги. Після кожної операції знайдіть мінімальне з усіх чисел у </a:t>
            </a:r>
            <a:r>
              <a:rPr lang="uk-UA" sz="2800" smtClean="0"/>
              <a:t>черзі.</a:t>
            </a:r>
          </a:p>
          <a:p>
            <a:pPr algn="just"/>
            <a:endParaRPr lang="uk-UA" sz="1200"/>
          </a:p>
          <a:p>
            <a:pPr algn="just"/>
            <a:r>
              <a:rPr lang="uk-UA" sz="2800" smtClean="0"/>
              <a:t>Складіть </a:t>
            </a:r>
            <a:r>
              <a:rPr lang="uk-UA" sz="2800"/>
              <a:t>разом усі такі мінімальні значення, щоб отримати остаточну </a:t>
            </a:r>
            <a:r>
              <a:rPr lang="uk-UA" sz="2800" smtClean="0"/>
              <a:t>відповідь.</a:t>
            </a:r>
          </a:p>
          <a:p>
            <a:pPr algn="just"/>
            <a:endParaRPr lang="uk-UA" sz="1100"/>
          </a:p>
          <a:p>
            <a:pPr algn="just"/>
            <a:r>
              <a:rPr lang="uk-UA" sz="2800" smtClean="0"/>
              <a:t>Якщо </a:t>
            </a:r>
            <a:r>
              <a:rPr lang="uk-UA" sz="2800"/>
              <a:t>після якоїсь операції черга порожня, не додавайте нічого до суми. Якщо ви намагаєтеся видалити елемент із порожньої черги, не виконуйте видалення</a:t>
            </a:r>
            <a:r>
              <a:rPr lang="uk-UA" sz="280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0456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47654" y="538358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Сет (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set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68684" y="1879699"/>
                <a:ext cx="10543481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uk-UA" sz="2800" smtClean="0"/>
                  <a:t>Особливості контейнера </a:t>
                </a:r>
                <a:r>
                  <a:rPr lang="en-US" sz="2800" b="1" smtClean="0"/>
                  <a:t>set</a:t>
                </a:r>
                <a:r>
                  <a:rPr lang="en-US" sz="2800" smtClean="0"/>
                  <a:t>: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Тримає всі елементи у відсортованому порядку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Зберігає лише унікальні елементи (без повторів)</a:t>
                </a:r>
                <a:endParaRPr lang="en-US" sz="2800" smtClean="0"/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Дозволяє додавати</a:t>
                </a:r>
                <a:r>
                  <a:rPr lang="en-US" sz="2800" smtClean="0"/>
                  <a:t>, </a:t>
                </a:r>
                <a:r>
                  <a:rPr lang="uk-UA" sz="2800" smtClean="0"/>
                  <a:t>шукати і видаляти елементи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uk-UA" sz="2800" b="1" smtClean="0"/>
                  <a:t>Пошук</a:t>
                </a:r>
                <a:r>
                  <a:rPr lang="uk-UA" sz="2800" b="1"/>
                  <a:t>, вставка і </a:t>
                </a:r>
                <a:r>
                  <a:rPr lang="uk-UA" sz="2800" b="1" smtClean="0"/>
                  <a:t>видалення </a:t>
                </a:r>
                <a:r>
                  <a:rPr lang="uk-UA" sz="2800" b="1"/>
                  <a:t>за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𝒍𝒐𝒈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2800" b="1"/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ru-RU" sz="2800"/>
                  <a:t>Швидкий доступ до </a:t>
                </a:r>
                <a:r>
                  <a:rPr lang="ru-RU" sz="2800" b="1"/>
                  <a:t>мінімального і максимального</a:t>
                </a:r>
                <a:r>
                  <a:rPr lang="ru-RU" sz="2800"/>
                  <a:t> елементів</a:t>
                </a:r>
                <a:endParaRPr lang="uk-UA" sz="2800" smtClean="0"/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ru-RU" sz="2800"/>
                  <a:t>По інтерфейсу </a:t>
                </a:r>
                <a:r>
                  <a:rPr lang="ru-RU" sz="2800" b="1"/>
                  <a:t>нагадує</a:t>
                </a:r>
                <a:r>
                  <a:rPr lang="ru-RU" sz="2800"/>
                  <a:t> звʼязний список (ітератори, без індексів</a:t>
                </a:r>
                <a:r>
                  <a:rPr lang="ru-RU" sz="2800" smtClean="0"/>
                  <a:t>)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uk-UA" sz="2800" smtClean="0"/>
                  <a:t>Немає швидкого доступу до </a:t>
                </a:r>
                <a:r>
                  <a:rPr lang="en-US" sz="2800" smtClean="0"/>
                  <a:t>i-</a:t>
                </a:r>
                <a:r>
                  <a:rPr lang="uk-UA" sz="2800" smtClean="0"/>
                  <a:t>го елемента (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uk-UA" sz="2800" smtClean="0"/>
                  <a:t>)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uk-UA" sz="2800"/>
                  <a:t>Має потужні функції</a:t>
                </a:r>
                <a:r>
                  <a:rPr lang="uk-UA" sz="2800" smtClean="0"/>
                  <a:t> </a:t>
                </a:r>
                <a:r>
                  <a:rPr lang="en-US" sz="2800" b="1" smtClean="0"/>
                  <a:t>.lower_bound()</a:t>
                </a:r>
                <a:r>
                  <a:rPr lang="en-US" sz="2800" smtClean="0"/>
                  <a:t> </a:t>
                </a:r>
                <a:r>
                  <a:rPr lang="uk-UA" sz="2800" smtClean="0"/>
                  <a:t>і </a:t>
                </a:r>
                <a:r>
                  <a:rPr lang="en-US" sz="2800" b="1" smtClean="0"/>
                  <a:t>.upper_bound()</a:t>
                </a:r>
                <a:endParaRPr lang="en-US" sz="2800" b="1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684" y="1879699"/>
                <a:ext cx="10543481" cy="3970318"/>
              </a:xfrm>
              <a:prstGeom prst="rect">
                <a:avLst/>
              </a:prstGeom>
              <a:blipFill rotWithShape="0">
                <a:blip r:embed="rId2"/>
                <a:stretch>
                  <a:fillRect l="-1156" t="-1380" b="-3374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0481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29320" y="262220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Сет 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С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++ 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set)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94" y="548911"/>
            <a:ext cx="2689837" cy="52368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994" y="1392951"/>
            <a:ext cx="7855725" cy="5166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849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876693" y="1706250"/>
            <a:ext cx="10246936" cy="291288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extBox 1"/>
          <p:cNvSpPr txBox="1"/>
          <p:nvPr/>
        </p:nvSpPr>
        <p:spPr>
          <a:xfrm>
            <a:off x="3473256" y="138966"/>
            <a:ext cx="5802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Сет 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С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++ 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set,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схема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Овал 2"/>
          <p:cNvSpPr/>
          <p:nvPr/>
        </p:nvSpPr>
        <p:spPr>
          <a:xfrm>
            <a:off x="1531855" y="2667785"/>
            <a:ext cx="989815" cy="98981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>
                <a:solidFill>
                  <a:schemeClr val="tx1"/>
                </a:solidFill>
              </a:rPr>
              <a:t>a</a:t>
            </a:r>
            <a:endParaRPr lang="uk-UA" sz="6600" b="1">
              <a:solidFill>
                <a:schemeClr val="tx1"/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3579043" y="2667784"/>
            <a:ext cx="989815" cy="98981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smtClean="0">
                <a:solidFill>
                  <a:schemeClr val="tx1"/>
                </a:solidFill>
              </a:rPr>
              <a:t>b</a:t>
            </a:r>
            <a:endParaRPr lang="uk-UA" sz="6600" b="1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5623089" y="2667784"/>
            <a:ext cx="989815" cy="98981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smtClean="0">
                <a:solidFill>
                  <a:schemeClr val="tx1"/>
                </a:solidFill>
              </a:rPr>
              <a:t>c</a:t>
            </a:r>
            <a:endParaRPr lang="uk-UA" sz="6600" b="1">
              <a:solidFill>
                <a:schemeClr val="tx1"/>
              </a:solidFill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7667135" y="2667784"/>
            <a:ext cx="989815" cy="98981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>
                <a:solidFill>
                  <a:schemeClr val="tx1"/>
                </a:solidFill>
              </a:rPr>
              <a:t>d</a:t>
            </a:r>
            <a:endParaRPr lang="uk-UA" sz="6600" b="1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9711181" y="2667784"/>
            <a:ext cx="989815" cy="98981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mtClean="0">
                <a:solidFill>
                  <a:schemeClr val="tx1"/>
                </a:solidFill>
              </a:rPr>
              <a:t>end</a:t>
            </a:r>
            <a:endParaRPr lang="uk-UA" sz="2400">
              <a:solidFill>
                <a:schemeClr val="tx1"/>
              </a:solidFill>
            </a:endParaRPr>
          </a:p>
        </p:txBody>
      </p:sp>
      <p:sp>
        <p:nvSpPr>
          <p:cNvPr id="11" name="Дуга 10"/>
          <p:cNvSpPr/>
          <p:nvPr/>
        </p:nvSpPr>
        <p:spPr>
          <a:xfrm rot="18900000">
            <a:off x="2035405" y="2445963"/>
            <a:ext cx="2026762" cy="2026762"/>
          </a:xfrm>
          <a:prstGeom prst="arc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TextBox 11"/>
          <p:cNvSpPr txBox="1"/>
          <p:nvPr/>
        </p:nvSpPr>
        <p:spPr>
          <a:xfrm>
            <a:off x="2748768" y="1875934"/>
            <a:ext cx="600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mtClean="0"/>
              <a:t>++</a:t>
            </a:r>
            <a:endParaRPr lang="uk-UA" sz="3200" b="1"/>
          </a:p>
        </p:txBody>
      </p:sp>
      <p:sp>
        <p:nvSpPr>
          <p:cNvPr id="18" name="Дуга 17"/>
          <p:cNvSpPr/>
          <p:nvPr/>
        </p:nvSpPr>
        <p:spPr>
          <a:xfrm rot="18900000">
            <a:off x="4088024" y="2445963"/>
            <a:ext cx="2026762" cy="2026762"/>
          </a:xfrm>
          <a:prstGeom prst="arc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9" name="TextBox 18"/>
          <p:cNvSpPr txBox="1"/>
          <p:nvPr/>
        </p:nvSpPr>
        <p:spPr>
          <a:xfrm>
            <a:off x="4801387" y="1875934"/>
            <a:ext cx="600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mtClean="0"/>
              <a:t>++</a:t>
            </a:r>
            <a:endParaRPr lang="uk-UA" sz="3200" b="1"/>
          </a:p>
        </p:txBody>
      </p:sp>
      <p:sp>
        <p:nvSpPr>
          <p:cNvPr id="20" name="Дуга 19"/>
          <p:cNvSpPr/>
          <p:nvPr/>
        </p:nvSpPr>
        <p:spPr>
          <a:xfrm rot="18900000">
            <a:off x="6140643" y="2464574"/>
            <a:ext cx="2026762" cy="2026762"/>
          </a:xfrm>
          <a:prstGeom prst="arc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1" name="TextBox 20"/>
          <p:cNvSpPr txBox="1"/>
          <p:nvPr/>
        </p:nvSpPr>
        <p:spPr>
          <a:xfrm>
            <a:off x="6854006" y="1894545"/>
            <a:ext cx="600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mtClean="0"/>
              <a:t>++</a:t>
            </a:r>
            <a:endParaRPr lang="uk-UA" sz="3200" b="1"/>
          </a:p>
        </p:txBody>
      </p:sp>
      <p:sp>
        <p:nvSpPr>
          <p:cNvPr id="22" name="Дуга 21"/>
          <p:cNvSpPr/>
          <p:nvPr/>
        </p:nvSpPr>
        <p:spPr>
          <a:xfrm rot="18900000">
            <a:off x="8163547" y="2445963"/>
            <a:ext cx="2026762" cy="2026762"/>
          </a:xfrm>
          <a:prstGeom prst="arc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3" name="TextBox 22"/>
          <p:cNvSpPr txBox="1"/>
          <p:nvPr/>
        </p:nvSpPr>
        <p:spPr>
          <a:xfrm>
            <a:off x="8876910" y="1875934"/>
            <a:ext cx="600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mtClean="0"/>
              <a:t>++</a:t>
            </a:r>
            <a:endParaRPr lang="uk-UA" sz="3200" b="1"/>
          </a:p>
        </p:txBody>
      </p:sp>
      <p:sp>
        <p:nvSpPr>
          <p:cNvPr id="27" name="Дуга 26"/>
          <p:cNvSpPr/>
          <p:nvPr/>
        </p:nvSpPr>
        <p:spPr>
          <a:xfrm rot="8100000">
            <a:off x="2048588" y="1806294"/>
            <a:ext cx="2026762" cy="2026762"/>
          </a:xfrm>
          <a:prstGeom prst="arc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8" name="TextBox 27"/>
          <p:cNvSpPr txBox="1"/>
          <p:nvPr/>
        </p:nvSpPr>
        <p:spPr>
          <a:xfrm>
            <a:off x="2844602" y="3130082"/>
            <a:ext cx="434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mtClean="0"/>
              <a:t>--</a:t>
            </a:r>
            <a:endParaRPr lang="uk-UA" sz="3200" b="1"/>
          </a:p>
        </p:txBody>
      </p:sp>
      <p:sp>
        <p:nvSpPr>
          <p:cNvPr id="29" name="Дуга 28"/>
          <p:cNvSpPr/>
          <p:nvPr/>
        </p:nvSpPr>
        <p:spPr>
          <a:xfrm rot="8100000">
            <a:off x="4102882" y="1843901"/>
            <a:ext cx="2026762" cy="2026762"/>
          </a:xfrm>
          <a:prstGeom prst="arc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0" name="TextBox 29"/>
          <p:cNvSpPr txBox="1"/>
          <p:nvPr/>
        </p:nvSpPr>
        <p:spPr>
          <a:xfrm>
            <a:off x="4898896" y="3167689"/>
            <a:ext cx="434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mtClean="0"/>
              <a:t>--</a:t>
            </a:r>
            <a:endParaRPr lang="uk-UA" sz="3200" b="1"/>
          </a:p>
        </p:txBody>
      </p:sp>
      <p:sp>
        <p:nvSpPr>
          <p:cNvPr id="31" name="Дуга 30"/>
          <p:cNvSpPr/>
          <p:nvPr/>
        </p:nvSpPr>
        <p:spPr>
          <a:xfrm rot="8100000">
            <a:off x="6127461" y="1815863"/>
            <a:ext cx="2026762" cy="2026762"/>
          </a:xfrm>
          <a:prstGeom prst="arc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2" name="TextBox 31"/>
          <p:cNvSpPr txBox="1"/>
          <p:nvPr/>
        </p:nvSpPr>
        <p:spPr>
          <a:xfrm>
            <a:off x="6923475" y="3139651"/>
            <a:ext cx="434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mtClean="0"/>
              <a:t>--</a:t>
            </a:r>
            <a:endParaRPr lang="uk-UA" sz="3200" b="1"/>
          </a:p>
        </p:txBody>
      </p:sp>
      <p:sp>
        <p:nvSpPr>
          <p:cNvPr id="33" name="Дуга 32"/>
          <p:cNvSpPr/>
          <p:nvPr/>
        </p:nvSpPr>
        <p:spPr>
          <a:xfrm rot="8100000">
            <a:off x="8178402" y="1806820"/>
            <a:ext cx="2026762" cy="2026762"/>
          </a:xfrm>
          <a:prstGeom prst="arc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4" name="TextBox 33"/>
          <p:cNvSpPr txBox="1"/>
          <p:nvPr/>
        </p:nvSpPr>
        <p:spPr>
          <a:xfrm>
            <a:off x="8974416" y="3130608"/>
            <a:ext cx="434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mtClean="0"/>
              <a:t>--</a:t>
            </a:r>
            <a:endParaRPr lang="uk-UA" sz="3200" b="1"/>
          </a:p>
        </p:txBody>
      </p:sp>
      <p:sp>
        <p:nvSpPr>
          <p:cNvPr id="35" name="TextBox 34"/>
          <p:cNvSpPr txBox="1"/>
          <p:nvPr/>
        </p:nvSpPr>
        <p:spPr>
          <a:xfrm>
            <a:off x="945109" y="969963"/>
            <a:ext cx="25848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smtClean="0"/>
              <a:t>set&lt;int&gt; s;</a:t>
            </a:r>
            <a:endParaRPr lang="uk-UA" sz="4400" b="1"/>
          </a:p>
        </p:txBody>
      </p:sp>
      <p:sp>
        <p:nvSpPr>
          <p:cNvPr id="37" name="Овал 36"/>
          <p:cNvSpPr/>
          <p:nvPr/>
        </p:nvSpPr>
        <p:spPr>
          <a:xfrm>
            <a:off x="403782" y="5355420"/>
            <a:ext cx="2018907" cy="98981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smtClean="0">
                <a:solidFill>
                  <a:schemeClr val="tx1"/>
                </a:solidFill>
              </a:rPr>
              <a:t>s.begin()</a:t>
            </a:r>
            <a:endParaRPr lang="uk-UA" sz="2800">
              <a:solidFill>
                <a:schemeClr val="tx1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 flipV="1">
            <a:off x="1531855" y="3657599"/>
            <a:ext cx="334652" cy="1697821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Овал 39"/>
          <p:cNvSpPr/>
          <p:nvPr/>
        </p:nvSpPr>
        <p:spPr>
          <a:xfrm>
            <a:off x="9409149" y="5260711"/>
            <a:ext cx="2018907" cy="98981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smtClean="0">
                <a:solidFill>
                  <a:schemeClr val="tx1"/>
                </a:solidFill>
              </a:rPr>
              <a:t>s.end()</a:t>
            </a:r>
            <a:endParaRPr lang="uk-UA" sz="2800">
              <a:solidFill>
                <a:schemeClr val="tx1"/>
              </a:solidFill>
            </a:endParaRPr>
          </a:p>
        </p:txBody>
      </p:sp>
      <p:cxnSp>
        <p:nvCxnSpPr>
          <p:cNvPr id="41" name="Прямая со стрелкой 40"/>
          <p:cNvCxnSpPr>
            <a:endCxn id="9" idx="4"/>
          </p:cNvCxnSpPr>
          <p:nvPr/>
        </p:nvCxnSpPr>
        <p:spPr>
          <a:xfrm flipH="1" flipV="1">
            <a:off x="10206089" y="3657599"/>
            <a:ext cx="212514" cy="1603112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Овал 44"/>
          <p:cNvSpPr/>
          <p:nvPr/>
        </p:nvSpPr>
        <p:spPr>
          <a:xfrm>
            <a:off x="5101405" y="5326113"/>
            <a:ext cx="2018907" cy="98981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smtClean="0">
                <a:solidFill>
                  <a:schemeClr val="tx1"/>
                </a:solidFill>
              </a:rPr>
              <a:t>s.find(c)</a:t>
            </a:r>
            <a:endParaRPr lang="uk-UA" sz="2800">
              <a:solidFill>
                <a:schemeClr val="tx1"/>
              </a:solidFill>
            </a:endParaRPr>
          </a:p>
        </p:txBody>
      </p:sp>
      <p:cxnSp>
        <p:nvCxnSpPr>
          <p:cNvPr id="46" name="Прямая со стрелкой 45"/>
          <p:cNvCxnSpPr>
            <a:stCxn id="45" idx="0"/>
          </p:cNvCxnSpPr>
          <p:nvPr/>
        </p:nvCxnSpPr>
        <p:spPr>
          <a:xfrm flipV="1">
            <a:off x="6110859" y="3684226"/>
            <a:ext cx="7137" cy="1641887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/>
          <p:cNvCxnSpPr/>
          <p:nvPr/>
        </p:nvCxnSpPr>
        <p:spPr>
          <a:xfrm flipV="1">
            <a:off x="6492070" y="3629681"/>
            <a:ext cx="1590911" cy="1725739"/>
          </a:xfrm>
          <a:prstGeom prst="straightConnector1">
            <a:avLst/>
          </a:prstGeom>
          <a:ln w="57150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296079" y="4149180"/>
            <a:ext cx="600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mtClean="0"/>
              <a:t>++</a:t>
            </a:r>
            <a:endParaRPr lang="uk-UA" sz="3200" b="1"/>
          </a:p>
        </p:txBody>
      </p:sp>
      <p:cxnSp>
        <p:nvCxnSpPr>
          <p:cNvPr id="51" name="Прямая со стрелкой 50"/>
          <p:cNvCxnSpPr/>
          <p:nvPr/>
        </p:nvCxnSpPr>
        <p:spPr>
          <a:xfrm flipH="1" flipV="1">
            <a:off x="4212744" y="3650386"/>
            <a:ext cx="1338997" cy="1762358"/>
          </a:xfrm>
          <a:prstGeom prst="straightConnector1">
            <a:avLst/>
          </a:prstGeom>
          <a:ln w="57150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856653" y="4059134"/>
            <a:ext cx="434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mtClean="0"/>
              <a:t>--</a:t>
            </a:r>
            <a:endParaRPr lang="uk-UA" sz="3200" b="1"/>
          </a:p>
        </p:txBody>
      </p:sp>
    </p:spTree>
    <p:extLst>
      <p:ext uri="{BB962C8B-B14F-4D97-AF65-F5344CB8AC3E}">
        <p14:creationId xmlns:p14="http://schemas.microsoft.com/office/powerpoint/2010/main" val="1290567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32874" y="241599"/>
            <a:ext cx="102280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Сет 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С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++ 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set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, прохід по елементах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911" y="1396379"/>
            <a:ext cx="6782747" cy="224821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822" y="3968376"/>
            <a:ext cx="6368926" cy="236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699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47654" y="745747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Сет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з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адача 1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68923" y="2620651"/>
            <a:ext cx="100301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3200" smtClean="0"/>
              <a:t>Є список чисел. Необхідно знайти кільксть унікальних чисел на кожному префіксі.</a:t>
            </a:r>
          </a:p>
        </p:txBody>
      </p:sp>
    </p:spTree>
    <p:extLst>
      <p:ext uri="{BB962C8B-B14F-4D97-AF65-F5344CB8AC3E}">
        <p14:creationId xmlns:p14="http://schemas.microsoft.com/office/powerpoint/2010/main" val="4260350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66508" y="0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Сет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з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адача 1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,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приклад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996313" y="936868"/>
            <a:ext cx="32428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smtClean="0"/>
              <a:t>e</a:t>
            </a:r>
            <a:r>
              <a:rPr lang="uk-UA" sz="2800" i="1" smtClean="0"/>
              <a:t>7</a:t>
            </a:r>
            <a:r>
              <a:rPr lang="en-US" sz="2800" i="1" smtClean="0"/>
              <a:t>_set_easy.cpp</a:t>
            </a:r>
            <a:endParaRPr lang="uk-UA" sz="2800" i="1" smtClean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536958"/>
              </p:ext>
            </p:extLst>
          </p:nvPr>
        </p:nvGraphicFramePr>
        <p:xfrm>
          <a:off x="193773" y="936868"/>
          <a:ext cx="8592008" cy="5699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37963"/>
                <a:gridCol w="3544478"/>
                <a:gridCol w="230956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/>
                        <a:t>Наступне число</a:t>
                      </a:r>
                      <a:endParaRPr lang="uk-UA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/>
                        <a:t>Унікальні числа</a:t>
                      </a:r>
                      <a:endParaRPr lang="uk-UA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/>
                        <a:t>Кількість</a:t>
                      </a:r>
                      <a:endParaRPr lang="uk-UA" sz="2800" b="1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1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uk-UA" sz="28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uk-UA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5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>
                          <a:solidFill>
                            <a:schemeClr val="tx1"/>
                          </a:solidFill>
                        </a:rPr>
                        <a:t>1 </a:t>
                      </a:r>
                      <a:r>
                        <a:rPr lang="en-US" sz="2800" smtClean="0">
                          <a:solidFill>
                            <a:srgbClr val="00B050"/>
                          </a:solidFill>
                        </a:rPr>
                        <a:t>5</a:t>
                      </a:r>
                      <a:endParaRPr lang="uk-UA" sz="28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uk-UA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6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>
                          <a:solidFill>
                            <a:schemeClr val="tx1"/>
                          </a:solidFill>
                        </a:rPr>
                        <a:t>1 5 </a:t>
                      </a:r>
                      <a:r>
                        <a:rPr lang="en-US" sz="2800" smtClean="0">
                          <a:solidFill>
                            <a:srgbClr val="00B050"/>
                          </a:solidFill>
                        </a:rPr>
                        <a:t>6</a:t>
                      </a:r>
                      <a:endParaRPr lang="uk-UA" sz="28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uk-UA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1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>
                          <a:solidFill>
                            <a:schemeClr val="tx1"/>
                          </a:solidFill>
                        </a:rPr>
                        <a:t>1 5 6</a:t>
                      </a:r>
                      <a:endParaRPr lang="uk-UA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uk-UA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7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>
                          <a:solidFill>
                            <a:schemeClr val="tx1"/>
                          </a:solidFill>
                        </a:rPr>
                        <a:t>1 5 6 </a:t>
                      </a:r>
                      <a:r>
                        <a:rPr lang="en-US" sz="2800" smtClean="0">
                          <a:solidFill>
                            <a:srgbClr val="00B050"/>
                          </a:solidFill>
                        </a:rPr>
                        <a:t>7</a:t>
                      </a:r>
                      <a:endParaRPr lang="uk-UA" sz="28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uk-UA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7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>
                          <a:solidFill>
                            <a:schemeClr val="tx1"/>
                          </a:solidFill>
                        </a:rPr>
                        <a:t>1 5 6 7</a:t>
                      </a:r>
                      <a:endParaRPr lang="uk-UA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uk-UA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5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>
                          <a:solidFill>
                            <a:schemeClr val="tx1"/>
                          </a:solidFill>
                        </a:rPr>
                        <a:t>1 5 6 7</a:t>
                      </a:r>
                      <a:endParaRPr lang="uk-UA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uk-UA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3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>
                          <a:solidFill>
                            <a:schemeClr val="tx1"/>
                          </a:solidFill>
                        </a:rPr>
                        <a:t>1 </a:t>
                      </a:r>
                      <a:r>
                        <a:rPr lang="en-US" sz="2800" smtClean="0">
                          <a:solidFill>
                            <a:srgbClr val="00B050"/>
                          </a:solidFill>
                        </a:rPr>
                        <a:t>3</a:t>
                      </a:r>
                      <a:r>
                        <a:rPr lang="en-US" sz="2800" smtClean="0">
                          <a:solidFill>
                            <a:schemeClr val="tx1"/>
                          </a:solidFill>
                        </a:rPr>
                        <a:t> 5 6 7</a:t>
                      </a:r>
                      <a:endParaRPr lang="uk-UA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uk-UA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1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>
                          <a:solidFill>
                            <a:schemeClr val="tx1"/>
                          </a:solidFill>
                        </a:rPr>
                        <a:t>1 3 5 6 7</a:t>
                      </a:r>
                      <a:endParaRPr lang="uk-UA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uk-UA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7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>
                          <a:solidFill>
                            <a:schemeClr val="tx1"/>
                          </a:solidFill>
                        </a:rPr>
                        <a:t>1 3 5 6 7</a:t>
                      </a:r>
                      <a:endParaRPr lang="uk-UA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uk-UA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5441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9055" y="161074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Сет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з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адача 1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,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код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148" y="2396062"/>
            <a:ext cx="8383170" cy="37438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93996" y="1283967"/>
            <a:ext cx="32428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smtClean="0"/>
              <a:t>e</a:t>
            </a:r>
            <a:r>
              <a:rPr lang="uk-UA" sz="2800" i="1" smtClean="0"/>
              <a:t>7</a:t>
            </a:r>
            <a:r>
              <a:rPr lang="en-US" sz="2800" i="1" smtClean="0"/>
              <a:t>_set_easy.cpp</a:t>
            </a:r>
            <a:endParaRPr lang="uk-UA" sz="2800" i="1" smtClean="0"/>
          </a:p>
        </p:txBody>
      </p:sp>
    </p:spTree>
    <p:extLst>
      <p:ext uri="{BB962C8B-B14F-4D97-AF65-F5344CB8AC3E}">
        <p14:creationId xmlns:p14="http://schemas.microsoft.com/office/powerpoint/2010/main" val="469447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47654" y="538358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Меп (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map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8684" y="1879699"/>
            <a:ext cx="1054348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uk-UA" sz="2800" smtClean="0"/>
              <a:t>Особливості контейнера </a:t>
            </a:r>
            <a:r>
              <a:rPr lang="en-US" sz="2800" b="1" smtClean="0"/>
              <a:t>map</a:t>
            </a:r>
            <a:r>
              <a:rPr lang="en-US" sz="2800" smtClean="0"/>
              <a:t>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uk-UA" sz="2800"/>
              <a:t>Зберігає пари </a:t>
            </a:r>
            <a:r>
              <a:rPr lang="uk-UA" sz="2800" b="1" smtClean="0"/>
              <a:t>ключ </a:t>
            </a:r>
            <a:r>
              <a:rPr lang="uk-UA" sz="2800" b="1"/>
              <a:t>→ </a:t>
            </a:r>
            <a:r>
              <a:rPr lang="uk-UA" sz="2800" b="1" smtClean="0"/>
              <a:t>значення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uk-UA" sz="2800" b="1" smtClean="0"/>
              <a:t>Найчастіше сприймається як масив «без обмежень»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uk-UA" sz="2800" b="1" smtClean="0"/>
              <a:t>Дозволяє звертатися «по індексу» </a:t>
            </a:r>
            <a:r>
              <a:rPr lang="uk-UA" sz="2800"/>
              <a:t>(тобто за ключем)</a:t>
            </a:r>
            <a:endParaRPr lang="en-US" sz="2800" b="1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uk-UA" sz="2800"/>
              <a:t>Дозволяє додавати</a:t>
            </a:r>
            <a:r>
              <a:rPr lang="uk-UA" sz="2800" smtClean="0"/>
              <a:t>, видаляти </a:t>
            </a:r>
            <a:r>
              <a:rPr lang="uk-UA" sz="2800"/>
              <a:t>пари за </a:t>
            </a:r>
            <a:r>
              <a:rPr lang="uk-UA" sz="2800" smtClean="0"/>
              <a:t>ключем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uk-UA" sz="2800" smtClean="0"/>
              <a:t>Доступ по індексу, вставка </a:t>
            </a:r>
            <a:r>
              <a:rPr lang="uk-UA" sz="2800"/>
              <a:t>і видалення за </a:t>
            </a:r>
            <a:r>
              <a:rPr lang="en-US" sz="2800" b="1"/>
              <a:t>O(log n)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uk-UA" sz="2800" smtClean="0"/>
              <a:t>Ключі </a:t>
            </a:r>
            <a:r>
              <a:rPr lang="uk-UA" sz="2800"/>
              <a:t>унікальні та зберігаються у відсортованому </a:t>
            </a:r>
            <a:r>
              <a:rPr lang="uk-UA" sz="2800" smtClean="0"/>
              <a:t>порядку</a:t>
            </a:r>
            <a:endParaRPr lang="en-US" sz="280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uk-UA" sz="2800" smtClean="0"/>
              <a:t>По інтерфейсу </a:t>
            </a:r>
            <a:r>
              <a:rPr lang="uk-UA" sz="2800"/>
              <a:t>ітераторів</a:t>
            </a:r>
            <a:r>
              <a:rPr lang="uk-UA" sz="2800" smtClean="0"/>
              <a:t> </a:t>
            </a:r>
            <a:r>
              <a:rPr lang="uk-UA" sz="2800"/>
              <a:t>нагадує звʼязний </a:t>
            </a:r>
            <a:r>
              <a:rPr lang="uk-UA" sz="2800" smtClean="0"/>
              <a:t>список (і </a:t>
            </a:r>
            <a:r>
              <a:rPr lang="en-US" sz="2800" smtClean="0"/>
              <a:t>set</a:t>
            </a:r>
            <a:r>
              <a:rPr lang="uk-UA" sz="2800" smtClean="0"/>
              <a:t>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uk-UA" sz="2800" smtClean="0"/>
              <a:t>Має </a:t>
            </a:r>
            <a:r>
              <a:rPr lang="uk-UA" sz="2800"/>
              <a:t>потужні функції </a:t>
            </a:r>
            <a:r>
              <a:rPr lang="en-US" sz="2800"/>
              <a:t>lower_bound(key) </a:t>
            </a:r>
            <a:r>
              <a:rPr lang="uk-UA" sz="2800"/>
              <a:t>і </a:t>
            </a:r>
            <a:r>
              <a:rPr lang="en-US" sz="2800"/>
              <a:t>upper_bound(key</a:t>
            </a:r>
            <a:r>
              <a:rPr lang="en-US" sz="2800" smtClean="0"/>
              <a:t>)</a:t>
            </a:r>
            <a:endParaRPr lang="en-US" sz="2800" b="1"/>
          </a:p>
        </p:txBody>
      </p:sp>
    </p:spTree>
    <p:extLst>
      <p:ext uri="{BB962C8B-B14F-4D97-AF65-F5344CB8AC3E}">
        <p14:creationId xmlns:p14="http://schemas.microsoft.com/office/powerpoint/2010/main" val="3285611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94" y="539905"/>
            <a:ext cx="2868946" cy="48888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629320" y="262220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Меп 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С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++ 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map)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511" y="1167547"/>
            <a:ext cx="6565320" cy="546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23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876693" y="1706250"/>
            <a:ext cx="10246936" cy="291288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" name="Овал 2"/>
          <p:cNvSpPr/>
          <p:nvPr/>
        </p:nvSpPr>
        <p:spPr>
          <a:xfrm>
            <a:off x="1102085" y="2667785"/>
            <a:ext cx="1419585" cy="98981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smtClean="0">
                <a:solidFill>
                  <a:schemeClr val="tx1"/>
                </a:solidFill>
              </a:rPr>
              <a:t>a↔v</a:t>
            </a:r>
            <a:endParaRPr lang="uk-UA" sz="2800" b="1">
              <a:solidFill>
                <a:schemeClr val="tx1"/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3432477" y="2667784"/>
            <a:ext cx="1478288" cy="98981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smtClean="0">
                <a:solidFill>
                  <a:schemeClr val="tx1"/>
                </a:solidFill>
              </a:rPr>
              <a:t>b↔u</a:t>
            </a:r>
            <a:endParaRPr lang="uk-UA" sz="2800" b="1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5417956" y="2667784"/>
            <a:ext cx="1433475" cy="98981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smtClean="0">
                <a:solidFill>
                  <a:schemeClr val="tx1"/>
                </a:solidFill>
              </a:rPr>
              <a:t>c↔x</a:t>
            </a:r>
            <a:endParaRPr lang="uk-UA" sz="2800" b="1">
              <a:solidFill>
                <a:schemeClr val="tx1"/>
              </a:solidFill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7454043" y="2667784"/>
            <a:ext cx="1444298" cy="98981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smtClean="0">
                <a:solidFill>
                  <a:schemeClr val="tx1"/>
                </a:solidFill>
              </a:rPr>
              <a:t>d↔y</a:t>
            </a:r>
            <a:endParaRPr lang="uk-UA" sz="2800" b="1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9711181" y="2667784"/>
            <a:ext cx="989815" cy="98981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mtClean="0">
                <a:solidFill>
                  <a:schemeClr val="tx1"/>
                </a:solidFill>
              </a:rPr>
              <a:t>end</a:t>
            </a:r>
            <a:endParaRPr lang="uk-UA" sz="2400">
              <a:solidFill>
                <a:schemeClr val="tx1"/>
              </a:solidFill>
            </a:endParaRPr>
          </a:p>
        </p:txBody>
      </p:sp>
      <p:sp>
        <p:nvSpPr>
          <p:cNvPr id="11" name="Дуга 10"/>
          <p:cNvSpPr/>
          <p:nvPr/>
        </p:nvSpPr>
        <p:spPr>
          <a:xfrm rot="18900000">
            <a:off x="2035405" y="2445963"/>
            <a:ext cx="2026762" cy="2026762"/>
          </a:xfrm>
          <a:prstGeom prst="arc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TextBox 11"/>
          <p:cNvSpPr txBox="1"/>
          <p:nvPr/>
        </p:nvSpPr>
        <p:spPr>
          <a:xfrm>
            <a:off x="2748768" y="1875934"/>
            <a:ext cx="600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mtClean="0"/>
              <a:t>++</a:t>
            </a:r>
            <a:endParaRPr lang="uk-UA" sz="3200" b="1"/>
          </a:p>
        </p:txBody>
      </p:sp>
      <p:sp>
        <p:nvSpPr>
          <p:cNvPr id="18" name="Дуга 17"/>
          <p:cNvSpPr/>
          <p:nvPr/>
        </p:nvSpPr>
        <p:spPr>
          <a:xfrm rot="18900000">
            <a:off x="4088024" y="2445963"/>
            <a:ext cx="2026762" cy="2026762"/>
          </a:xfrm>
          <a:prstGeom prst="arc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9" name="TextBox 18"/>
          <p:cNvSpPr txBox="1"/>
          <p:nvPr/>
        </p:nvSpPr>
        <p:spPr>
          <a:xfrm>
            <a:off x="4801387" y="1875934"/>
            <a:ext cx="600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mtClean="0"/>
              <a:t>++</a:t>
            </a:r>
            <a:endParaRPr lang="uk-UA" sz="3200" b="1"/>
          </a:p>
        </p:txBody>
      </p:sp>
      <p:sp>
        <p:nvSpPr>
          <p:cNvPr id="20" name="Дуга 19"/>
          <p:cNvSpPr/>
          <p:nvPr/>
        </p:nvSpPr>
        <p:spPr>
          <a:xfrm rot="18900000">
            <a:off x="6140643" y="2464574"/>
            <a:ext cx="2026762" cy="2026762"/>
          </a:xfrm>
          <a:prstGeom prst="arc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1" name="TextBox 20"/>
          <p:cNvSpPr txBox="1"/>
          <p:nvPr/>
        </p:nvSpPr>
        <p:spPr>
          <a:xfrm>
            <a:off x="6854006" y="1894545"/>
            <a:ext cx="600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mtClean="0"/>
              <a:t>++</a:t>
            </a:r>
            <a:endParaRPr lang="uk-UA" sz="3200" b="1"/>
          </a:p>
        </p:txBody>
      </p:sp>
      <p:sp>
        <p:nvSpPr>
          <p:cNvPr id="22" name="Дуга 21"/>
          <p:cNvSpPr/>
          <p:nvPr/>
        </p:nvSpPr>
        <p:spPr>
          <a:xfrm rot="18900000">
            <a:off x="8163547" y="2445963"/>
            <a:ext cx="2026762" cy="2026762"/>
          </a:xfrm>
          <a:prstGeom prst="arc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3" name="TextBox 22"/>
          <p:cNvSpPr txBox="1"/>
          <p:nvPr/>
        </p:nvSpPr>
        <p:spPr>
          <a:xfrm>
            <a:off x="8876910" y="1875934"/>
            <a:ext cx="600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mtClean="0"/>
              <a:t>++</a:t>
            </a:r>
            <a:endParaRPr lang="uk-UA" sz="3200" b="1"/>
          </a:p>
        </p:txBody>
      </p:sp>
      <p:sp>
        <p:nvSpPr>
          <p:cNvPr id="27" name="Дуга 26"/>
          <p:cNvSpPr/>
          <p:nvPr/>
        </p:nvSpPr>
        <p:spPr>
          <a:xfrm rot="8100000">
            <a:off x="2048588" y="1806294"/>
            <a:ext cx="2026762" cy="2026762"/>
          </a:xfrm>
          <a:prstGeom prst="arc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8" name="TextBox 27"/>
          <p:cNvSpPr txBox="1"/>
          <p:nvPr/>
        </p:nvSpPr>
        <p:spPr>
          <a:xfrm>
            <a:off x="2844602" y="3130082"/>
            <a:ext cx="434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mtClean="0"/>
              <a:t>--</a:t>
            </a:r>
            <a:endParaRPr lang="uk-UA" sz="3200" b="1"/>
          </a:p>
        </p:txBody>
      </p:sp>
      <p:sp>
        <p:nvSpPr>
          <p:cNvPr id="29" name="Дуга 28"/>
          <p:cNvSpPr/>
          <p:nvPr/>
        </p:nvSpPr>
        <p:spPr>
          <a:xfrm rot="8100000">
            <a:off x="4102882" y="1843901"/>
            <a:ext cx="2026762" cy="2026762"/>
          </a:xfrm>
          <a:prstGeom prst="arc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0" name="TextBox 29"/>
          <p:cNvSpPr txBox="1"/>
          <p:nvPr/>
        </p:nvSpPr>
        <p:spPr>
          <a:xfrm>
            <a:off x="4898896" y="3167689"/>
            <a:ext cx="434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mtClean="0"/>
              <a:t>--</a:t>
            </a:r>
            <a:endParaRPr lang="uk-UA" sz="3200" b="1"/>
          </a:p>
        </p:txBody>
      </p:sp>
      <p:sp>
        <p:nvSpPr>
          <p:cNvPr id="31" name="Дуга 30"/>
          <p:cNvSpPr/>
          <p:nvPr/>
        </p:nvSpPr>
        <p:spPr>
          <a:xfrm rot="8100000">
            <a:off x="6127461" y="1815863"/>
            <a:ext cx="2026762" cy="2026762"/>
          </a:xfrm>
          <a:prstGeom prst="arc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2" name="TextBox 31"/>
          <p:cNvSpPr txBox="1"/>
          <p:nvPr/>
        </p:nvSpPr>
        <p:spPr>
          <a:xfrm>
            <a:off x="6923475" y="3139651"/>
            <a:ext cx="434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mtClean="0"/>
              <a:t>--</a:t>
            </a:r>
            <a:endParaRPr lang="uk-UA" sz="3200" b="1"/>
          </a:p>
        </p:txBody>
      </p:sp>
      <p:sp>
        <p:nvSpPr>
          <p:cNvPr id="33" name="Дуга 32"/>
          <p:cNvSpPr/>
          <p:nvPr/>
        </p:nvSpPr>
        <p:spPr>
          <a:xfrm rot="8100000">
            <a:off x="8178402" y="1806820"/>
            <a:ext cx="2026762" cy="2026762"/>
          </a:xfrm>
          <a:prstGeom prst="arc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4" name="TextBox 33"/>
          <p:cNvSpPr txBox="1"/>
          <p:nvPr/>
        </p:nvSpPr>
        <p:spPr>
          <a:xfrm>
            <a:off x="8974416" y="3130608"/>
            <a:ext cx="434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mtClean="0"/>
              <a:t>--</a:t>
            </a:r>
            <a:endParaRPr lang="uk-UA" sz="3200" b="1"/>
          </a:p>
        </p:txBody>
      </p:sp>
      <p:sp>
        <p:nvSpPr>
          <p:cNvPr id="35" name="TextBox 34"/>
          <p:cNvSpPr txBox="1"/>
          <p:nvPr/>
        </p:nvSpPr>
        <p:spPr>
          <a:xfrm>
            <a:off x="945109" y="969963"/>
            <a:ext cx="43676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smtClean="0"/>
              <a:t>map&lt;int, int&gt; mp;</a:t>
            </a:r>
            <a:endParaRPr lang="uk-UA" sz="4400" b="1"/>
          </a:p>
        </p:txBody>
      </p:sp>
      <p:sp>
        <p:nvSpPr>
          <p:cNvPr id="37" name="Овал 36"/>
          <p:cNvSpPr/>
          <p:nvPr/>
        </p:nvSpPr>
        <p:spPr>
          <a:xfrm>
            <a:off x="403782" y="5355420"/>
            <a:ext cx="2537381" cy="98981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smtClean="0">
                <a:solidFill>
                  <a:schemeClr val="tx1"/>
                </a:solidFill>
              </a:rPr>
              <a:t>mp.begin()</a:t>
            </a:r>
            <a:endParaRPr lang="uk-UA" sz="2800">
              <a:solidFill>
                <a:schemeClr val="tx1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 flipV="1">
            <a:off x="1531855" y="3657599"/>
            <a:ext cx="334652" cy="1697821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Овал 39"/>
          <p:cNvSpPr/>
          <p:nvPr/>
        </p:nvSpPr>
        <p:spPr>
          <a:xfrm>
            <a:off x="9409149" y="5260711"/>
            <a:ext cx="2232954" cy="98981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smtClean="0">
                <a:solidFill>
                  <a:schemeClr val="tx1"/>
                </a:solidFill>
              </a:rPr>
              <a:t>mp.end()</a:t>
            </a:r>
            <a:endParaRPr lang="uk-UA" sz="2800">
              <a:solidFill>
                <a:schemeClr val="tx1"/>
              </a:solidFill>
            </a:endParaRPr>
          </a:p>
        </p:txBody>
      </p:sp>
      <p:cxnSp>
        <p:nvCxnSpPr>
          <p:cNvPr id="41" name="Прямая со стрелкой 40"/>
          <p:cNvCxnSpPr>
            <a:endCxn id="9" idx="4"/>
          </p:cNvCxnSpPr>
          <p:nvPr/>
        </p:nvCxnSpPr>
        <p:spPr>
          <a:xfrm flipH="1" flipV="1">
            <a:off x="10206089" y="3657599"/>
            <a:ext cx="212514" cy="1603112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Овал 44"/>
          <p:cNvSpPr/>
          <p:nvPr/>
        </p:nvSpPr>
        <p:spPr>
          <a:xfrm>
            <a:off x="6283683" y="5249660"/>
            <a:ext cx="2473817" cy="989815"/>
          </a:xfrm>
          <a:prstGeom prst="ellipse">
            <a:avLst/>
          </a:prstGeom>
          <a:solidFill>
            <a:schemeClr val="bg2">
              <a:lumMod val="7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smtClean="0">
                <a:solidFill>
                  <a:schemeClr val="tx1"/>
                </a:solidFill>
              </a:rPr>
              <a:t>mp.find(d)</a:t>
            </a:r>
            <a:endParaRPr lang="uk-UA" sz="2800">
              <a:solidFill>
                <a:schemeClr val="tx1"/>
              </a:solidFill>
            </a:endParaRPr>
          </a:p>
        </p:txBody>
      </p:sp>
      <p:cxnSp>
        <p:nvCxnSpPr>
          <p:cNvPr id="46" name="Прямая со стрелкой 45"/>
          <p:cNvCxnSpPr>
            <a:stCxn id="45" idx="0"/>
          </p:cNvCxnSpPr>
          <p:nvPr/>
        </p:nvCxnSpPr>
        <p:spPr>
          <a:xfrm flipV="1">
            <a:off x="7520592" y="3657600"/>
            <a:ext cx="656885" cy="159206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529984" y="110928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Меп 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С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++ 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map,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схема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42" name="Прямоугольник 41"/>
          <p:cNvSpPr/>
          <p:nvPr/>
        </p:nvSpPr>
        <p:spPr>
          <a:xfrm>
            <a:off x="3154962" y="5462698"/>
            <a:ext cx="1305625" cy="776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smtClean="0">
                <a:solidFill>
                  <a:schemeClr val="tx1"/>
                </a:solidFill>
              </a:rPr>
              <a:t>mp[b]</a:t>
            </a:r>
            <a:endParaRPr lang="uk-UA" sz="3200">
              <a:solidFill>
                <a:schemeClr val="tx1"/>
              </a:solidFill>
            </a:endParaRPr>
          </a:p>
        </p:txBody>
      </p:sp>
      <p:sp>
        <p:nvSpPr>
          <p:cNvPr id="43" name="Прямоугольник 42"/>
          <p:cNvSpPr/>
          <p:nvPr/>
        </p:nvSpPr>
        <p:spPr>
          <a:xfrm>
            <a:off x="4652233" y="5461775"/>
            <a:ext cx="1305625" cy="776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smtClean="0">
                <a:solidFill>
                  <a:schemeClr val="tx1"/>
                </a:solidFill>
              </a:rPr>
              <a:t>mp[c]</a:t>
            </a:r>
            <a:endParaRPr lang="uk-UA" sz="3200">
              <a:solidFill>
                <a:schemeClr val="tx1"/>
              </a:solidFill>
            </a:endParaRPr>
          </a:p>
        </p:txBody>
      </p:sp>
      <p:cxnSp>
        <p:nvCxnSpPr>
          <p:cNvPr id="44" name="Прямая со стрелкой 43"/>
          <p:cNvCxnSpPr/>
          <p:nvPr/>
        </p:nvCxnSpPr>
        <p:spPr>
          <a:xfrm flipH="1">
            <a:off x="4116707" y="3360031"/>
            <a:ext cx="362244" cy="2101744"/>
          </a:xfrm>
          <a:prstGeom prst="straightConnector1">
            <a:avLst/>
          </a:prstGeom>
          <a:ln w="57150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/>
          <p:cNvCxnSpPr/>
          <p:nvPr/>
        </p:nvCxnSpPr>
        <p:spPr>
          <a:xfrm flipH="1">
            <a:off x="5732016" y="3369337"/>
            <a:ext cx="720635" cy="2073827"/>
          </a:xfrm>
          <a:prstGeom prst="straightConnector1">
            <a:avLst/>
          </a:prstGeom>
          <a:ln w="57150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713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32874" y="241599"/>
            <a:ext cx="102280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Меп 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С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++ 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map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, 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прохід по елементах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471" y="1296225"/>
            <a:ext cx="8668960" cy="224821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485" y="3968673"/>
            <a:ext cx="8378917" cy="2347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929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47654" y="745747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Меп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з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адача 1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68923" y="2620651"/>
            <a:ext cx="100301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3200" smtClean="0"/>
              <a:t>Є список чисел. Необхідно знайти скільки разі</a:t>
            </a:r>
            <a:r>
              <a:rPr lang="uk-UA" sz="3200"/>
              <a:t>в</a:t>
            </a:r>
            <a:r>
              <a:rPr lang="uk-UA" sz="3200" smtClean="0"/>
              <a:t> число повторюється на префіксі.</a:t>
            </a:r>
          </a:p>
        </p:txBody>
      </p:sp>
    </p:spTree>
    <p:extLst>
      <p:ext uri="{BB962C8B-B14F-4D97-AF65-F5344CB8AC3E}">
        <p14:creationId xmlns:p14="http://schemas.microsoft.com/office/powerpoint/2010/main" val="3568573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66508" y="0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Меп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з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адача 1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,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приклад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40131" y="936868"/>
            <a:ext cx="32428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smtClean="0"/>
              <a:t>e</a:t>
            </a:r>
            <a:r>
              <a:rPr lang="uk-UA" sz="2800" i="1" smtClean="0"/>
              <a:t>8</a:t>
            </a:r>
            <a:r>
              <a:rPr lang="en-US" sz="2800" i="1" smtClean="0"/>
              <a:t>_map_easy.cpp</a:t>
            </a:r>
            <a:endParaRPr lang="uk-UA" sz="2800" i="1" smtClean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112019"/>
              </p:ext>
            </p:extLst>
          </p:nvPr>
        </p:nvGraphicFramePr>
        <p:xfrm>
          <a:off x="1579513" y="936868"/>
          <a:ext cx="5047530" cy="5699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37963"/>
                <a:gridCol w="230956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/>
                        <a:t>Наступне число</a:t>
                      </a:r>
                      <a:endParaRPr lang="uk-UA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b="1" smtClean="0"/>
                        <a:t>Кількість</a:t>
                      </a:r>
                      <a:endParaRPr lang="uk-UA" sz="2800" b="1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1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uk-UA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5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uk-UA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6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uk-UA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1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uk-UA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7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uk-UA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7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uk-UA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5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uk-UA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3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uk-UA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1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uk-UA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smtClean="0"/>
                        <a:t>7</a:t>
                      </a:r>
                      <a:endParaRPr lang="uk-UA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80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uk-UA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2984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9055" y="161074"/>
            <a:ext cx="8003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Меп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з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адача 1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,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код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93996" y="1283967"/>
            <a:ext cx="32428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smtClean="0"/>
              <a:t>e</a:t>
            </a:r>
            <a:r>
              <a:rPr lang="uk-UA" sz="2800" i="1" smtClean="0"/>
              <a:t>8</a:t>
            </a:r>
            <a:r>
              <a:rPr lang="en-US" sz="2800" i="1" smtClean="0"/>
              <a:t>_map_easy.cpp</a:t>
            </a:r>
            <a:endParaRPr lang="uk-UA" sz="2800" i="1" smtClean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726" y="2362919"/>
            <a:ext cx="10297962" cy="37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208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4656" y="745747"/>
            <a:ext cx="96059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Сет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з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адача 2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,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самостійна робота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4656" y="1923068"/>
            <a:ext cx="1003011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3200" smtClean="0"/>
              <a:t>Є два типи запитів:</a:t>
            </a:r>
          </a:p>
          <a:p>
            <a:pPr marL="457200" indent="-457200">
              <a:buFontTx/>
              <a:buChar char="-"/>
            </a:pPr>
            <a:r>
              <a:rPr lang="en-US" sz="3200" smtClean="0"/>
              <a:t>‘+ x’ </a:t>
            </a:r>
            <a:r>
              <a:rPr lang="uk-UA" sz="3200"/>
              <a:t>д</a:t>
            </a:r>
            <a:r>
              <a:rPr lang="uk-UA" sz="3200" smtClean="0"/>
              <a:t>одати число в множину</a:t>
            </a:r>
            <a:r>
              <a:rPr lang="en-US" sz="3200" smtClean="0"/>
              <a:t>;</a:t>
            </a:r>
          </a:p>
          <a:p>
            <a:pPr marL="457200" indent="-457200">
              <a:buFontTx/>
              <a:buChar char="-"/>
            </a:pPr>
            <a:r>
              <a:rPr lang="en-US" sz="3200" smtClean="0"/>
              <a:t>‘? x’ </a:t>
            </a:r>
            <a:r>
              <a:rPr lang="uk-UA" sz="3200" smtClean="0"/>
              <a:t>знайти найменше число в множині, яке </a:t>
            </a:r>
            <a:r>
              <a:rPr lang="en-US" sz="3200" smtClean="0"/>
              <a:t>&gt; x.</a:t>
            </a:r>
          </a:p>
          <a:p>
            <a:pPr marL="457200" indent="-457200">
              <a:buFontTx/>
              <a:buChar char="-"/>
            </a:pPr>
            <a:endParaRPr lang="en-US" sz="3200"/>
          </a:p>
          <a:p>
            <a:r>
              <a:rPr lang="uk-UA" sz="3200" smtClean="0"/>
              <a:t>Необхідно вивести відповідь на кожний запит другого типу.</a:t>
            </a:r>
            <a:endParaRPr lang="en-US" sz="3200" smtClean="0"/>
          </a:p>
        </p:txBody>
      </p:sp>
      <p:sp>
        <p:nvSpPr>
          <p:cNvPr id="4" name="TextBox 3"/>
          <p:cNvSpPr txBox="1"/>
          <p:nvPr/>
        </p:nvSpPr>
        <p:spPr>
          <a:xfrm>
            <a:off x="4377179" y="5432307"/>
            <a:ext cx="2806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smtClean="0"/>
              <a:t>e</a:t>
            </a:r>
            <a:r>
              <a:rPr lang="uk-UA" sz="2800" i="1" smtClean="0"/>
              <a:t>9</a:t>
            </a:r>
            <a:r>
              <a:rPr lang="en-US" sz="2800" i="1" smtClean="0"/>
              <a:t>_set_hard.cpp</a:t>
            </a:r>
            <a:endParaRPr lang="uk-UA" sz="2800" i="1" smtClean="0"/>
          </a:p>
        </p:txBody>
      </p:sp>
    </p:spTree>
    <p:extLst>
      <p:ext uri="{BB962C8B-B14F-4D97-AF65-F5344CB8AC3E}">
        <p14:creationId xmlns:p14="http://schemas.microsoft.com/office/powerpoint/2010/main" val="1365023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4656" y="745747"/>
            <a:ext cx="96059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Меп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з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адача 2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,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самостійна робота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074656" y="2488676"/>
                <a:ext cx="10030119" cy="161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3200" smtClean="0"/>
                  <a:t>Є масив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uk-UA" sz="3200" smtClean="0"/>
                  <a:t> з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3200" smtClean="0"/>
                  <a:t> </a:t>
                </a:r>
                <a:r>
                  <a:rPr lang="uk-UA" sz="3200" smtClean="0"/>
                  <a:t>чисел і число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3200" smtClean="0"/>
                  <a:t>.</a:t>
                </a:r>
              </a:p>
              <a:p>
                <a:r>
                  <a:rPr lang="uk-UA" sz="3200" smtClean="0"/>
                  <a:t>Для кожного префікса масива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uk-UA" sz="3200" smtClean="0"/>
                  <a:t> необхідно вивести кількість пар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</m:d>
                  </m:oMath>
                </a14:m>
                <a:r>
                  <a:rPr lang="en-US" sz="3200" smtClean="0"/>
                  <a:t>, </a:t>
                </a:r>
                <a:r>
                  <a:rPr lang="uk-UA" sz="3200" smtClean="0"/>
                  <a:t>де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US" sz="3200" smtClean="0"/>
                  <a:t>,</a:t>
                </a:r>
                <a:r>
                  <a:rPr lang="uk-UA" sz="3200" smtClean="0"/>
                  <a:t> таких що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3200" smtClean="0"/>
                  <a:t>.</a:t>
                </a:r>
                <a:endParaRPr lang="uk-UA" sz="3200" smtClean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656" y="2488676"/>
                <a:ext cx="10030119" cy="1616276"/>
              </a:xfrm>
              <a:prstGeom prst="rect">
                <a:avLst/>
              </a:prstGeom>
              <a:blipFill rotWithShape="0">
                <a:blip r:embed="rId2"/>
                <a:stretch>
                  <a:fillRect l="-1519" t="-4528" b="-9057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4205925" y="5460587"/>
            <a:ext cx="3343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smtClean="0"/>
              <a:t>e10_map_hard.cpp</a:t>
            </a:r>
            <a:endParaRPr lang="uk-UA" sz="2800" i="1" smtClean="0"/>
          </a:p>
        </p:txBody>
      </p:sp>
    </p:spTree>
    <p:extLst>
      <p:ext uri="{BB962C8B-B14F-4D97-AF65-F5344CB8AC3E}">
        <p14:creationId xmlns:p14="http://schemas.microsoft.com/office/powerpoint/2010/main" val="428332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5690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1152</TotalTime>
  <Words>1417</Words>
  <Application>Microsoft Office PowerPoint</Application>
  <PresentationFormat>Широкоэкранный</PresentationFormat>
  <Paragraphs>370</Paragraphs>
  <Slides>39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6" baseType="lpstr">
      <vt:lpstr>Arial</vt:lpstr>
      <vt:lpstr>Bahnschrift Light</vt:lpstr>
      <vt:lpstr>Calibri</vt:lpstr>
      <vt:lpstr>Calibri Light</vt:lpstr>
      <vt:lpstr>Cambria Math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56</cp:revision>
  <dcterms:created xsi:type="dcterms:W3CDTF">2026-01-27T07:18:31Z</dcterms:created>
  <dcterms:modified xsi:type="dcterms:W3CDTF">2026-02-07T06:41:19Z</dcterms:modified>
</cp:coreProperties>
</file>