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7" r:id="rId3"/>
    <p:sldId id="353" r:id="rId4"/>
    <p:sldId id="358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372" r:id="rId19"/>
    <p:sldId id="373" r:id="rId20"/>
    <p:sldId id="374" r:id="rId21"/>
    <p:sldId id="376" r:id="rId22"/>
    <p:sldId id="375" r:id="rId23"/>
    <p:sldId id="377" r:id="rId24"/>
    <p:sldId id="378" r:id="rId25"/>
    <p:sldId id="379" r:id="rId26"/>
    <p:sldId id="380" r:id="rId27"/>
    <p:sldId id="381" r:id="rId28"/>
    <p:sldId id="382" r:id="rId29"/>
    <p:sldId id="383" r:id="rId30"/>
    <p:sldId id="384" r:id="rId31"/>
    <p:sldId id="385" r:id="rId32"/>
    <p:sldId id="386" r:id="rId33"/>
    <p:sldId id="387" r:id="rId34"/>
    <p:sldId id="388" r:id="rId35"/>
    <p:sldId id="389" r:id="rId36"/>
    <p:sldId id="390" r:id="rId37"/>
    <p:sldId id="391" r:id="rId38"/>
    <p:sldId id="392" r:id="rId39"/>
    <p:sldId id="393" r:id="rId40"/>
    <p:sldId id="355" r:id="rId41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53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25.02.2026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2882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25.02.2026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50973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25.02.2026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46011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25.02.2026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4922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25.02.2026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9699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25.02.2026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91680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25.02.2026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1636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25.02.2026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6752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25.02.2026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49251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25.02.2026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21826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25.02.2026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4369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C7282-A49A-4AD0-93BC-10CA7B10E31B}" type="datetimeFigureOut">
              <a:rPr lang="uk-UA" smtClean="0"/>
              <a:t>25.02.2026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4552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sa/substitution-method-to-solve-recurrence-relations" TargetMode="External"/><Relationship Id="rId2" Type="http://schemas.openxmlformats.org/officeDocument/2006/relationships/hyperlink" Target="https://www.youtube.com/watch?v=7lq-rBdM62o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8.png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1790" y="1234912"/>
            <a:ext cx="101243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smtClean="0">
                <a:solidFill>
                  <a:srgbClr val="002060"/>
                </a:solidFill>
                <a:cs typeface="Arial" panose="020B0604020202020204" pitchFamily="34" charset="0"/>
              </a:rPr>
              <a:t>Аналіз рекурентних співвідношень</a:t>
            </a:r>
            <a:endParaRPr lang="uk-UA" sz="60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518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6" y="530310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План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94373" y="1793967"/>
            <a:ext cx="1007804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uk-UA" sz="3200" smtClean="0"/>
              <a:t>Ручний аналіз</a:t>
            </a:r>
          </a:p>
          <a:p>
            <a:pPr marL="457200" indent="-457200">
              <a:buFontTx/>
              <a:buChar char="-"/>
            </a:pPr>
            <a:r>
              <a:rPr lang="uk-UA" sz="3200" smtClean="0"/>
              <a:t>Мастер теорема</a:t>
            </a:r>
          </a:p>
          <a:p>
            <a:pPr marL="457200" indent="-457200">
              <a:buFontTx/>
              <a:buChar char="-"/>
            </a:pPr>
            <a:r>
              <a:rPr lang="uk-UA" sz="3200" smtClean="0"/>
              <a:t>Метод підстановки</a:t>
            </a:r>
          </a:p>
          <a:p>
            <a:pPr marL="457200" indent="-457200">
              <a:buFontTx/>
              <a:buChar char="-"/>
            </a:pPr>
            <a:r>
              <a:rPr lang="uk-UA" sz="3200" smtClean="0"/>
              <a:t>Замір часу виконання і кількості ітерацій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4373" y="4105105"/>
            <a:ext cx="1007804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200" b="1" smtClean="0"/>
              <a:t>Головні питання:</a:t>
            </a:r>
          </a:p>
          <a:p>
            <a:pPr marL="457200" indent="-457200">
              <a:buFontTx/>
              <a:buChar char="-"/>
            </a:pPr>
            <a:r>
              <a:rPr lang="uk-UA" sz="3200" smtClean="0"/>
              <a:t>Скільки підзадач в одному виклику функції?</a:t>
            </a:r>
          </a:p>
          <a:p>
            <a:pPr marL="457200" indent="-457200">
              <a:buFontTx/>
              <a:buChar char="-"/>
            </a:pPr>
            <a:r>
              <a:rPr lang="uk-UA" sz="3200" smtClean="0"/>
              <a:t>Яка складність виклику однієї функції (ігноруючи рекурсію)?</a:t>
            </a:r>
          </a:p>
        </p:txBody>
      </p:sp>
    </p:spTree>
    <p:extLst>
      <p:ext uri="{BB962C8B-B14F-4D97-AF65-F5344CB8AC3E}">
        <p14:creationId xmlns:p14="http://schemas.microsoft.com/office/powerpoint/2010/main" val="127914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6" y="407762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Ручний аналіз (1.1)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0740" y="1607002"/>
            <a:ext cx="1007804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200" b="1" smtClean="0"/>
              <a:t>Задача:</a:t>
            </a:r>
          </a:p>
          <a:p>
            <a:r>
              <a:rPr lang="uk-UA" sz="3200" smtClean="0"/>
              <a:t>Дано масив розміру </a:t>
            </a:r>
            <a:r>
              <a:rPr lang="en-US" sz="3200" b="1" smtClean="0"/>
              <a:t>n</a:t>
            </a:r>
            <a:r>
              <a:rPr lang="en-US" sz="3200" smtClean="0"/>
              <a:t> </a:t>
            </a:r>
            <a:r>
              <a:rPr lang="uk-UA" sz="3200" smtClean="0"/>
              <a:t>і число </a:t>
            </a:r>
            <a:r>
              <a:rPr lang="en-US" sz="3200" b="1" smtClean="0"/>
              <a:t>k</a:t>
            </a:r>
            <a:r>
              <a:rPr lang="en-US" sz="3200" smtClean="0"/>
              <a:t>. </a:t>
            </a:r>
            <a:r>
              <a:rPr lang="uk-UA" sz="3200" smtClean="0"/>
              <a:t>Знайти </a:t>
            </a:r>
            <a:r>
              <a:rPr lang="en-US" sz="3200" b="1" smtClean="0"/>
              <a:t>k</a:t>
            </a:r>
            <a:r>
              <a:rPr lang="uk-UA" sz="3200" smtClean="0"/>
              <a:t>-ий найбільший елемент.</a:t>
            </a:r>
          </a:p>
          <a:p>
            <a:endParaRPr lang="uk-UA" sz="3200"/>
          </a:p>
          <a:p>
            <a:r>
              <a:rPr lang="uk-UA" sz="3200" b="1" smtClean="0"/>
              <a:t>Алгоритм: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uk-UA" sz="3200" smtClean="0"/>
              <a:t>Розділити масив на 2 частини (формально 3 частини);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uk-UA" sz="3200" smtClean="0"/>
              <a:t>Розв’язати підзадачу в частині де знаходиться </a:t>
            </a:r>
            <a:r>
              <a:rPr lang="en-US" sz="3200" b="1"/>
              <a:t>k</a:t>
            </a:r>
            <a:r>
              <a:rPr lang="uk-UA" sz="3200"/>
              <a:t>-ий найбільший елемент.</a:t>
            </a:r>
          </a:p>
        </p:txBody>
      </p:sp>
    </p:spTree>
    <p:extLst>
      <p:ext uri="{BB962C8B-B14F-4D97-AF65-F5344CB8AC3E}">
        <p14:creationId xmlns:p14="http://schemas.microsoft.com/office/powerpoint/2010/main" val="50221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6" y="407762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Ручний аналіз (1.2)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38987" y="1927514"/>
                <a:ext cx="10897384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Tx/>
                  <a:buChar char="-"/>
                </a:pPr>
                <a:r>
                  <a:rPr lang="uk-UA" sz="2800" b="1" smtClean="0"/>
                  <a:t>Скільки підзадач в одному виклику функції?</a:t>
                </a:r>
              </a:p>
              <a:p>
                <a:r>
                  <a:rPr lang="uk-UA" sz="2800" smtClean="0"/>
                  <a:t>Один виклик</a:t>
                </a:r>
                <a:r>
                  <a:rPr lang="en-US" sz="2800" smtClean="0"/>
                  <a:t>.</a:t>
                </a:r>
                <a:r>
                  <a:rPr lang="uk-UA" sz="2800" smtClean="0"/>
                  <a:t> В середньому на масиві, у 2 рази меншому.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skw"/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uk-UA" sz="2800" smtClean="0"/>
                  <a:t>.</a:t>
                </a:r>
              </a:p>
              <a:p>
                <a:endParaRPr lang="uk-UA" sz="2800" smtClean="0"/>
              </a:p>
              <a:p>
                <a:pPr marL="457200" indent="-457200">
                  <a:buFontTx/>
                  <a:buChar char="-"/>
                </a:pPr>
                <a:r>
                  <a:rPr lang="uk-UA" sz="2800" b="1" smtClean="0"/>
                  <a:t>Яка складність виклику однієї функції (ігноруючи рекурсію)?</a:t>
                </a:r>
              </a:p>
              <a:p>
                <a:r>
                  <a:rPr lang="uk-UA" sz="2800" smtClean="0"/>
                  <a:t>Щоб розділити масив, необхідно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smtClean="0"/>
                  <a:t>.</a:t>
                </a:r>
              </a:p>
              <a:p>
                <a:r>
                  <a:rPr lang="ru-RU" sz="2800"/>
                  <a:t>Щоб визначити, у який масив перейти як підзадачу, необхідно</a:t>
                </a:r>
                <a:r>
                  <a:rPr lang="uk-UA" sz="2800" smtClean="0"/>
                  <a:t>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smtClean="0"/>
                  <a:t>.</a:t>
                </a:r>
              </a:p>
              <a:p>
                <a:r>
                  <a:rPr lang="uk-UA" sz="2800" smtClean="0"/>
                  <a:t>Сумарно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smtClean="0"/>
                  <a:t>.</a:t>
                </a:r>
              </a:p>
              <a:p>
                <a:endParaRPr lang="en-US" sz="280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87" y="1927514"/>
                <a:ext cx="10897384" cy="3539430"/>
              </a:xfrm>
              <a:prstGeom prst="rect">
                <a:avLst/>
              </a:prstGeom>
              <a:blipFill rotWithShape="0">
                <a:blip r:embed="rId2"/>
                <a:stretch>
                  <a:fillRect l="-1175" t="-1893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625646" y="5350808"/>
                <a:ext cx="4703660" cy="672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646" y="5350808"/>
                <a:ext cx="4703660" cy="67281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8925660" y="6249939"/>
            <a:ext cx="3266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e1_kth_elemnt.cpp</a:t>
            </a:r>
            <a:endParaRPr lang="uk-UA" sz="2800" i="1" smtClean="0"/>
          </a:p>
        </p:txBody>
      </p:sp>
    </p:spTree>
    <p:extLst>
      <p:ext uri="{BB962C8B-B14F-4D97-AF65-F5344CB8AC3E}">
        <p14:creationId xmlns:p14="http://schemas.microsoft.com/office/powerpoint/2010/main" val="306424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6" y="407762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Ручний аналіз (1.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3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511643" y="1429257"/>
                <a:ext cx="4703660" cy="672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643" y="1429257"/>
                <a:ext cx="4703660" cy="67281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43061" y="2475202"/>
            <a:ext cx="2875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smtClean="0"/>
              <a:t>Глибина рекурсії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062" y="3949695"/>
            <a:ext cx="2875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smtClean="0"/>
              <a:t>Візуально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365" y="5544396"/>
            <a:ext cx="29788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smtClean="0"/>
              <a:t>Кількість операцій на глибині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782713"/>
                  </p:ext>
                </p:extLst>
              </p:nvPr>
            </p:nvGraphicFramePr>
            <p:xfrm>
              <a:off x="3511643" y="2593837"/>
              <a:ext cx="8128001" cy="373154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2077"/>
                    <a:gridCol w="1102936"/>
                    <a:gridCol w="1018095"/>
                    <a:gridCol w="499620"/>
                    <a:gridCol w="1611984"/>
                    <a:gridCol w="1687398"/>
                    <a:gridCol w="1175891"/>
                  </a:tblGrid>
                  <a:tr h="5659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uk-UA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uk-UA" sz="28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uk-UA" sz="2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uk-UA" sz="28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2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uk-UA" sz="2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2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uk-UA" sz="2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2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uk-UA" sz="2200"/>
                        </a:p>
                      </a:txBody>
                      <a:tcPr anchor="ctr"/>
                    </a:tc>
                  </a:tr>
                  <a:tr h="2627954"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</a:tr>
                  <a:tr h="5376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4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2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1</a:t>
                          </a:r>
                          <a:endParaRPr lang="uk-UA" sz="280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782713"/>
                  </p:ext>
                </p:extLst>
              </p:nvPr>
            </p:nvGraphicFramePr>
            <p:xfrm>
              <a:off x="3511643" y="2593837"/>
              <a:ext cx="8128001" cy="373154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2077"/>
                    <a:gridCol w="1102936"/>
                    <a:gridCol w="1018095"/>
                    <a:gridCol w="499620"/>
                    <a:gridCol w="1611984"/>
                    <a:gridCol w="1687398"/>
                    <a:gridCol w="1175891"/>
                  </a:tblGrid>
                  <a:tr h="565937"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92" t="-1075" r="-690533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93923" t="-1075" r="-544751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8929" t="-1075" r="-486905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632927" t="-1075" r="-897561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27652" t="-1075" r="-178788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12274" t="-1075" r="-70397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91710" t="-1075" r="-1036" b="-588172"/>
                          </a:stretch>
                        </a:blipFill>
                      </a:tcPr>
                    </a:tc>
                  </a:tr>
                  <a:tr h="2627954"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</a:tr>
                  <a:tr h="537658"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92" t="-597727" r="-690533" b="-306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93923" t="-597727" r="-544751" b="-306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8929" t="-597727" r="-486905" b="-306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4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2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1</a:t>
                          </a:r>
                          <a:endParaRPr lang="uk-UA" sz="280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Прямоугольник 9"/>
          <p:cNvSpPr/>
          <p:nvPr/>
        </p:nvSpPr>
        <p:spPr>
          <a:xfrm>
            <a:off x="3751868" y="3261674"/>
            <a:ext cx="584462" cy="23755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Прямоугольник 10"/>
          <p:cNvSpPr/>
          <p:nvPr/>
        </p:nvSpPr>
        <p:spPr>
          <a:xfrm>
            <a:off x="4769963" y="4472915"/>
            <a:ext cx="584462" cy="116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угольник 11"/>
          <p:cNvSpPr/>
          <p:nvPr/>
        </p:nvSpPr>
        <p:spPr>
          <a:xfrm>
            <a:off x="5863473" y="5071621"/>
            <a:ext cx="584462" cy="5656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Прямоугольник 12"/>
          <p:cNvSpPr/>
          <p:nvPr/>
        </p:nvSpPr>
        <p:spPr>
          <a:xfrm>
            <a:off x="7630841" y="5495827"/>
            <a:ext cx="584462" cy="141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Прямоугольник 13"/>
          <p:cNvSpPr/>
          <p:nvPr/>
        </p:nvSpPr>
        <p:spPr>
          <a:xfrm>
            <a:off x="9291529" y="5544395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Прямоугольник 14"/>
          <p:cNvSpPr/>
          <p:nvPr/>
        </p:nvSpPr>
        <p:spPr>
          <a:xfrm>
            <a:off x="10762112" y="5544395"/>
            <a:ext cx="584462" cy="928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25206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6" y="407762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Ручний аналіз (1.4)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511643" y="1429257"/>
                <a:ext cx="4703660" cy="672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643" y="1429257"/>
                <a:ext cx="4703660" cy="67281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14401" y="2292568"/>
                <a:ext cx="43269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2800" b="1" smtClean="0"/>
                  <a:t>Глибина рекурсії: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𝒍𝒐𝒈</m:t>
                            </m:r>
                          </m:e>
                          <m:sub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uk-UA" sz="2800" b="1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2292568"/>
                <a:ext cx="4326902" cy="523220"/>
              </a:xfrm>
              <a:prstGeom prst="rect">
                <a:avLst/>
              </a:prstGeom>
              <a:blipFill rotWithShape="0">
                <a:blip r:embed="rId3"/>
                <a:stretch>
                  <a:fillRect l="-2817" t="-10465" b="-32558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43061" y="3104616"/>
            <a:ext cx="29788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smtClean="0"/>
              <a:t>Кількість операцій на глибині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3207471"/>
                  </p:ext>
                </p:extLst>
              </p:nvPr>
            </p:nvGraphicFramePr>
            <p:xfrm>
              <a:off x="3511643" y="3331939"/>
              <a:ext cx="8128001" cy="5376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2077"/>
                    <a:gridCol w="1102936"/>
                    <a:gridCol w="1018095"/>
                    <a:gridCol w="499620"/>
                    <a:gridCol w="1611984"/>
                    <a:gridCol w="1687398"/>
                    <a:gridCol w="1175891"/>
                  </a:tblGrid>
                  <a:tr h="5376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4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2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1</a:t>
                          </a:r>
                          <a:endParaRPr lang="uk-UA" sz="280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3207471"/>
                  </p:ext>
                </p:extLst>
              </p:nvPr>
            </p:nvGraphicFramePr>
            <p:xfrm>
              <a:off x="3511643" y="3331939"/>
              <a:ext cx="8128001" cy="5376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2077"/>
                    <a:gridCol w="1102936"/>
                    <a:gridCol w="1018095"/>
                    <a:gridCol w="499620"/>
                    <a:gridCol w="1611984"/>
                    <a:gridCol w="1687398"/>
                    <a:gridCol w="1175891"/>
                  </a:tblGrid>
                  <a:tr h="537658"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592" t="-7865" r="-690533" b="-30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93923" t="-7865" r="-544751" b="-30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08929" t="-7865" r="-486905" b="-30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4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2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1</a:t>
                          </a:r>
                          <a:endParaRPr lang="uk-UA" sz="280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50451" y="4347551"/>
                <a:ext cx="1051088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2800" smtClean="0"/>
                  <a:t>Сумарна кількість операцій</a:t>
                </a:r>
                <a:r>
                  <a:rPr lang="en-US" sz="2800" smtClean="0"/>
                  <a:t>:</a:t>
                </a:r>
                <a:r>
                  <a:rPr lang="uk-UA" sz="2800" smtClean="0"/>
                  <a:t>  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skw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8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skw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+…+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uk-UA" sz="2800" b="1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451" y="4347551"/>
                <a:ext cx="10510885" cy="523220"/>
              </a:xfrm>
              <a:prstGeom prst="rect">
                <a:avLst/>
              </a:prstGeom>
              <a:blipFill rotWithShape="0">
                <a:blip r:embed="rId5"/>
                <a:stretch>
                  <a:fillRect l="-1218" t="-10465" b="-32558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985102" y="5210862"/>
                <a:ext cx="1051088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2800" smtClean="0"/>
                  <a:t>Складність алгоритму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2800" b="1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102" y="5210862"/>
                <a:ext cx="10510885" cy="523220"/>
              </a:xfrm>
              <a:prstGeom prst="rect">
                <a:avLst/>
              </a:prstGeom>
              <a:blipFill rotWithShape="0">
                <a:blip r:embed="rId6"/>
                <a:stretch>
                  <a:fillRect l="-1218" t="-11628" b="-32558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681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6" y="407762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Ручний аналіз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2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.1)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0740" y="1607002"/>
            <a:ext cx="100780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200" b="1" smtClean="0"/>
              <a:t>Задача:</a:t>
            </a:r>
          </a:p>
          <a:p>
            <a:r>
              <a:rPr lang="uk-UA" sz="3200" smtClean="0"/>
              <a:t>Дано масив розміру </a:t>
            </a:r>
            <a:r>
              <a:rPr lang="en-US" sz="3200" b="1" smtClean="0"/>
              <a:t>n</a:t>
            </a:r>
            <a:r>
              <a:rPr lang="uk-UA" sz="3200" smtClean="0"/>
              <a:t>. Знайти підмасив з максимальною сумою. Вивести цю суму.</a:t>
            </a:r>
          </a:p>
          <a:p>
            <a:endParaRPr lang="uk-UA" sz="3200"/>
          </a:p>
          <a:p>
            <a:r>
              <a:rPr lang="uk-UA" sz="3200" b="1" smtClean="0"/>
              <a:t>Алгоритм: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uk-UA" sz="3200" smtClean="0"/>
              <a:t>Розділити масив на 2 частини і розв’язати рекурсивно 2 підзадачі;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uk-UA" sz="3200" smtClean="0"/>
              <a:t>Розглянути випадок, коли підмасив з максимальною сумою проходить через середину.</a:t>
            </a:r>
            <a:endParaRPr lang="uk-UA" sz="3200"/>
          </a:p>
        </p:txBody>
      </p:sp>
    </p:spTree>
    <p:extLst>
      <p:ext uri="{BB962C8B-B14F-4D97-AF65-F5344CB8AC3E}">
        <p14:creationId xmlns:p14="http://schemas.microsoft.com/office/powerpoint/2010/main" val="2906304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6" y="407762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Ручний аналіз (2.2)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38987" y="1927514"/>
                <a:ext cx="10897384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Tx/>
                  <a:buChar char="-"/>
                </a:pPr>
                <a:r>
                  <a:rPr lang="uk-UA" sz="2800" b="1" smtClean="0"/>
                  <a:t>Скільки підзадач в одному виклику функції?</a:t>
                </a:r>
              </a:p>
              <a:p>
                <a:r>
                  <a:rPr lang="ru-RU" sz="2800"/>
                  <a:t>2 виклики на масиві, у 2 рази меншому.</a:t>
                </a:r>
                <a:r>
                  <a:rPr lang="uk-UA" sz="2800" smtClean="0"/>
                  <a:t> </a:t>
                </a:r>
                <a14:m>
                  <m:oMath xmlns:m="http://schemas.openxmlformats.org/officeDocument/2006/math">
                    <m:r>
                      <a:rPr lang="uk-UA" sz="2800" b="1" i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uk-UA" sz="28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skw"/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uk-UA" sz="2800" smtClean="0"/>
                  <a:t>.</a:t>
                </a:r>
              </a:p>
              <a:p>
                <a:endParaRPr lang="uk-UA" sz="2800" smtClean="0"/>
              </a:p>
              <a:p>
                <a:pPr marL="457200" indent="-457200">
                  <a:buFontTx/>
                  <a:buChar char="-"/>
                </a:pPr>
                <a:r>
                  <a:rPr lang="uk-UA" sz="2800" b="1" smtClean="0"/>
                  <a:t>Яка складність виклику однієї функції (ігноруючи рекурсію)?</a:t>
                </a:r>
              </a:p>
              <a:p>
                <a:r>
                  <a:rPr lang="uk-UA" sz="2800" smtClean="0"/>
                  <a:t>Щоб розділити масив, необхідно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smtClean="0"/>
                  <a:t>.</a:t>
                </a:r>
              </a:p>
              <a:p>
                <a:r>
                  <a:rPr lang="uk-UA" sz="2800" smtClean="0"/>
                  <a:t>Щоб розглянути випадок, коли оптимальний підмасив проходить через середину, необхідно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smtClean="0"/>
                  <a:t>.</a:t>
                </a:r>
              </a:p>
              <a:p>
                <a:r>
                  <a:rPr lang="uk-UA" sz="2800" smtClean="0"/>
                  <a:t>Сумарно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smtClean="0"/>
                  <a:t>.</a:t>
                </a:r>
              </a:p>
              <a:p>
                <a:endParaRPr lang="en-US" sz="280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87" y="1927514"/>
                <a:ext cx="10897384" cy="3970318"/>
              </a:xfrm>
              <a:prstGeom prst="rect">
                <a:avLst/>
              </a:prstGeom>
              <a:blipFill rotWithShape="0">
                <a:blip r:embed="rId2"/>
                <a:stretch>
                  <a:fillRect l="-1175" t="-169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625646" y="5350808"/>
                <a:ext cx="5080365" cy="672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646" y="5350808"/>
                <a:ext cx="5080365" cy="67281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871381" y="6249939"/>
            <a:ext cx="4320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e2_max_subarray_dac.cpp</a:t>
            </a:r>
            <a:endParaRPr lang="uk-UA" sz="2800" i="1" smtClean="0"/>
          </a:p>
        </p:txBody>
      </p:sp>
    </p:spTree>
    <p:extLst>
      <p:ext uri="{BB962C8B-B14F-4D97-AF65-F5344CB8AC3E}">
        <p14:creationId xmlns:p14="http://schemas.microsoft.com/office/powerpoint/2010/main" val="84032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6" y="407762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Ручний аналіз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2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.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3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511643" y="1429257"/>
                <a:ext cx="5080365" cy="672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643" y="1429257"/>
                <a:ext cx="5080365" cy="67281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43061" y="2475202"/>
            <a:ext cx="2875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smtClean="0"/>
              <a:t>Глибина рекурсії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062" y="3949695"/>
            <a:ext cx="2875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smtClean="0"/>
              <a:t>Візуально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365" y="5544396"/>
            <a:ext cx="29788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smtClean="0"/>
              <a:t>Кількість операцій на глибині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837446"/>
                  </p:ext>
                </p:extLst>
              </p:nvPr>
            </p:nvGraphicFramePr>
            <p:xfrm>
              <a:off x="3511643" y="2593837"/>
              <a:ext cx="8128001" cy="373154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2077"/>
                    <a:gridCol w="1102936"/>
                    <a:gridCol w="1018095"/>
                    <a:gridCol w="499620"/>
                    <a:gridCol w="1611984"/>
                    <a:gridCol w="1687398"/>
                    <a:gridCol w="1175891"/>
                  </a:tblGrid>
                  <a:tr h="5659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uk-UA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uk-UA" sz="28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uk-UA" sz="2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uk-UA" sz="28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2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uk-UA" sz="2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2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uk-UA" sz="2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2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uk-UA" sz="2200"/>
                        </a:p>
                      </a:txBody>
                      <a:tcPr anchor="ctr"/>
                    </a:tc>
                  </a:tr>
                  <a:tr h="2627954"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</a:tr>
                  <a:tr h="5376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837446"/>
                  </p:ext>
                </p:extLst>
              </p:nvPr>
            </p:nvGraphicFramePr>
            <p:xfrm>
              <a:off x="3511643" y="2593837"/>
              <a:ext cx="8128001" cy="373154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2077"/>
                    <a:gridCol w="1102936"/>
                    <a:gridCol w="1018095"/>
                    <a:gridCol w="499620"/>
                    <a:gridCol w="1611984"/>
                    <a:gridCol w="1687398"/>
                    <a:gridCol w="1175891"/>
                  </a:tblGrid>
                  <a:tr h="565937"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92" t="-1075" r="-690533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93923" t="-1075" r="-544751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8929" t="-1075" r="-486905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632927" t="-1075" r="-897561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27652" t="-1075" r="-178788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12274" t="-1075" r="-70397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91710" t="-1075" r="-1036" b="-588172"/>
                          </a:stretch>
                        </a:blipFill>
                      </a:tcPr>
                    </a:tc>
                  </a:tr>
                  <a:tr h="2627954"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</a:tr>
                  <a:tr h="537658"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92" t="-597727" r="-690533" b="-306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93923" t="-597727" r="-544751" b="-306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8929" t="-597727" r="-486905" b="-306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27652" t="-597727" r="-178788" b="-306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12274" t="-597727" r="-70397" b="-306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91710" t="-597727" r="-1036" b="-3068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Прямоугольник 9"/>
          <p:cNvSpPr/>
          <p:nvPr/>
        </p:nvSpPr>
        <p:spPr>
          <a:xfrm>
            <a:off x="3751868" y="3261674"/>
            <a:ext cx="584462" cy="23755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Прямоугольник 10"/>
          <p:cNvSpPr/>
          <p:nvPr/>
        </p:nvSpPr>
        <p:spPr>
          <a:xfrm>
            <a:off x="4769963" y="4472915"/>
            <a:ext cx="584462" cy="116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угольник 11"/>
          <p:cNvSpPr/>
          <p:nvPr/>
        </p:nvSpPr>
        <p:spPr>
          <a:xfrm>
            <a:off x="5863473" y="5071621"/>
            <a:ext cx="584462" cy="5656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Прямоугольник 12"/>
          <p:cNvSpPr/>
          <p:nvPr/>
        </p:nvSpPr>
        <p:spPr>
          <a:xfrm>
            <a:off x="7630841" y="5495827"/>
            <a:ext cx="584462" cy="141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Прямоугольник 13"/>
          <p:cNvSpPr/>
          <p:nvPr/>
        </p:nvSpPr>
        <p:spPr>
          <a:xfrm>
            <a:off x="9291529" y="5544395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Прямоугольник 15"/>
          <p:cNvSpPr/>
          <p:nvPr/>
        </p:nvSpPr>
        <p:spPr>
          <a:xfrm>
            <a:off x="4769963" y="3261674"/>
            <a:ext cx="584462" cy="116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Прямоугольник 16"/>
          <p:cNvSpPr/>
          <p:nvPr/>
        </p:nvSpPr>
        <p:spPr>
          <a:xfrm>
            <a:off x="5863473" y="4489464"/>
            <a:ext cx="584462" cy="5656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Прямоугольник 17"/>
          <p:cNvSpPr/>
          <p:nvPr/>
        </p:nvSpPr>
        <p:spPr>
          <a:xfrm>
            <a:off x="5863473" y="3876722"/>
            <a:ext cx="584462" cy="5656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9" name="Прямоугольник 18"/>
          <p:cNvSpPr/>
          <p:nvPr/>
        </p:nvSpPr>
        <p:spPr>
          <a:xfrm>
            <a:off x="5863473" y="3294565"/>
            <a:ext cx="584462" cy="5656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0" name="Прямоугольник 19"/>
          <p:cNvSpPr/>
          <p:nvPr/>
        </p:nvSpPr>
        <p:spPr>
          <a:xfrm>
            <a:off x="7629192" y="5316717"/>
            <a:ext cx="584462" cy="141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3" name="Прямоугольник 22"/>
          <p:cNvSpPr/>
          <p:nvPr/>
        </p:nvSpPr>
        <p:spPr>
          <a:xfrm>
            <a:off x="7629192" y="5175316"/>
            <a:ext cx="584462" cy="141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4" name="Прямоугольник 23"/>
          <p:cNvSpPr/>
          <p:nvPr/>
        </p:nvSpPr>
        <p:spPr>
          <a:xfrm>
            <a:off x="7627543" y="4996206"/>
            <a:ext cx="584462" cy="141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5" name="Прямоугольник 24"/>
          <p:cNvSpPr/>
          <p:nvPr/>
        </p:nvSpPr>
        <p:spPr>
          <a:xfrm>
            <a:off x="7629192" y="3798948"/>
            <a:ext cx="584462" cy="141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6" name="Прямоугольник 25"/>
          <p:cNvSpPr/>
          <p:nvPr/>
        </p:nvSpPr>
        <p:spPr>
          <a:xfrm>
            <a:off x="7627543" y="3619838"/>
            <a:ext cx="584462" cy="141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7" name="Прямоугольник 26"/>
          <p:cNvSpPr/>
          <p:nvPr/>
        </p:nvSpPr>
        <p:spPr>
          <a:xfrm>
            <a:off x="7627543" y="3478437"/>
            <a:ext cx="584462" cy="141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8" name="Прямоугольник 27"/>
          <p:cNvSpPr/>
          <p:nvPr/>
        </p:nvSpPr>
        <p:spPr>
          <a:xfrm>
            <a:off x="7625894" y="3299327"/>
            <a:ext cx="584462" cy="141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9" name="Прямоугольник 28"/>
          <p:cNvSpPr/>
          <p:nvPr/>
        </p:nvSpPr>
        <p:spPr>
          <a:xfrm>
            <a:off x="9293097" y="5432847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0" name="Прямоугольник 29"/>
          <p:cNvSpPr/>
          <p:nvPr/>
        </p:nvSpPr>
        <p:spPr>
          <a:xfrm>
            <a:off x="9291529" y="5321299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1" name="Прямоугольник 30"/>
          <p:cNvSpPr/>
          <p:nvPr/>
        </p:nvSpPr>
        <p:spPr>
          <a:xfrm>
            <a:off x="9293097" y="5209751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2" name="Прямоугольник 31"/>
          <p:cNvSpPr/>
          <p:nvPr/>
        </p:nvSpPr>
        <p:spPr>
          <a:xfrm>
            <a:off x="9291529" y="3669843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3" name="Прямоугольник 32"/>
          <p:cNvSpPr/>
          <p:nvPr/>
        </p:nvSpPr>
        <p:spPr>
          <a:xfrm>
            <a:off x="9293097" y="3558295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4" name="Прямоугольник 33"/>
          <p:cNvSpPr/>
          <p:nvPr/>
        </p:nvSpPr>
        <p:spPr>
          <a:xfrm>
            <a:off x="9291529" y="3446747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5" name="Прямоугольник 34"/>
          <p:cNvSpPr/>
          <p:nvPr/>
        </p:nvSpPr>
        <p:spPr>
          <a:xfrm>
            <a:off x="9293097" y="3335199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6" name="Прямоугольник 35"/>
          <p:cNvSpPr/>
          <p:nvPr/>
        </p:nvSpPr>
        <p:spPr>
          <a:xfrm>
            <a:off x="10760151" y="3669843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7" name="Прямоугольник 36"/>
          <p:cNvSpPr/>
          <p:nvPr/>
        </p:nvSpPr>
        <p:spPr>
          <a:xfrm>
            <a:off x="10761719" y="3558295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8" name="Прямоугольник 37"/>
          <p:cNvSpPr/>
          <p:nvPr/>
        </p:nvSpPr>
        <p:spPr>
          <a:xfrm>
            <a:off x="10760151" y="3446747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9" name="Прямоугольник 38"/>
          <p:cNvSpPr/>
          <p:nvPr/>
        </p:nvSpPr>
        <p:spPr>
          <a:xfrm>
            <a:off x="10761719" y="3335199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0" name="Прямоугольник 39"/>
          <p:cNvSpPr/>
          <p:nvPr/>
        </p:nvSpPr>
        <p:spPr>
          <a:xfrm>
            <a:off x="10765017" y="5590811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1" name="Прямоугольник 40"/>
          <p:cNvSpPr/>
          <p:nvPr/>
        </p:nvSpPr>
        <p:spPr>
          <a:xfrm>
            <a:off x="10766585" y="5479263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2" name="Прямоугольник 41"/>
          <p:cNvSpPr/>
          <p:nvPr/>
        </p:nvSpPr>
        <p:spPr>
          <a:xfrm>
            <a:off x="10765017" y="5367715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3" name="Прямоугольник 42"/>
          <p:cNvSpPr/>
          <p:nvPr/>
        </p:nvSpPr>
        <p:spPr>
          <a:xfrm>
            <a:off x="10766585" y="5256167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80504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6" y="407762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Ручний аналіз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2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.4)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511643" y="1429257"/>
                <a:ext cx="5080365" cy="672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643" y="1429257"/>
                <a:ext cx="5080365" cy="67281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14401" y="2292568"/>
                <a:ext cx="631595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2800" b="1" smtClean="0"/>
                  <a:t>Глибина рекурсії: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𝒍𝒐𝒈</m:t>
                            </m:r>
                          </m:e>
                          <m:sub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2800" b="1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2292568"/>
                <a:ext cx="6315958" cy="523220"/>
              </a:xfrm>
              <a:prstGeom prst="rect">
                <a:avLst/>
              </a:prstGeom>
              <a:blipFill rotWithShape="0">
                <a:blip r:embed="rId3"/>
                <a:stretch>
                  <a:fillRect l="-1931" t="-10465" b="-32558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43061" y="3104616"/>
            <a:ext cx="29788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smtClean="0"/>
              <a:t>Кількість операцій на глибині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8345471"/>
                  </p:ext>
                </p:extLst>
              </p:nvPr>
            </p:nvGraphicFramePr>
            <p:xfrm>
              <a:off x="3511643" y="3331939"/>
              <a:ext cx="8128001" cy="5376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2077"/>
                    <a:gridCol w="1102936"/>
                    <a:gridCol w="1018095"/>
                    <a:gridCol w="499620"/>
                    <a:gridCol w="1611984"/>
                    <a:gridCol w="1687398"/>
                    <a:gridCol w="1175891"/>
                  </a:tblGrid>
                  <a:tr h="5376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8345471"/>
                  </p:ext>
                </p:extLst>
              </p:nvPr>
            </p:nvGraphicFramePr>
            <p:xfrm>
              <a:off x="3511643" y="3331939"/>
              <a:ext cx="8128001" cy="5376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2077"/>
                    <a:gridCol w="1102936"/>
                    <a:gridCol w="1018095"/>
                    <a:gridCol w="499620"/>
                    <a:gridCol w="1611984"/>
                    <a:gridCol w="1687398"/>
                    <a:gridCol w="1175891"/>
                  </a:tblGrid>
                  <a:tr h="537658"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592" t="-7865" r="-690533" b="-30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93923" t="-7865" r="-544751" b="-30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08929" t="-7865" r="-486905" b="-30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27652" t="-7865" r="-178788" b="-30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312274" t="-7865" r="-70397" b="-30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591710" t="-7865" r="-1036" b="-3033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50451" y="4347551"/>
                <a:ext cx="10510885" cy="6490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2800" smtClean="0"/>
                  <a:t>Сумарна кількість операцій</a:t>
                </a:r>
                <a:r>
                  <a:rPr lang="en-US" sz="2800" smtClean="0"/>
                  <a:t>:</a:t>
                </a:r>
                <a:r>
                  <a:rPr lang="uk-UA" sz="2800" smtClean="0"/>
                  <a:t>  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+…+</m:t>
                    </m:r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𝒍𝒐𝒈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d>
                          </m:e>
                        </m:func>
                      </m:sup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nary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𝒍𝒐𝒈</m:t>
                        </m:r>
                      </m:fName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uk-UA" sz="2800" b="1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451" y="4347551"/>
                <a:ext cx="10510885" cy="649024"/>
              </a:xfrm>
              <a:prstGeom prst="rect">
                <a:avLst/>
              </a:prstGeom>
              <a:blipFill rotWithShape="0">
                <a:blip r:embed="rId5"/>
                <a:stretch>
                  <a:fillRect l="-1218" b="-21495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985102" y="5210862"/>
                <a:ext cx="1051088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2800" smtClean="0"/>
                  <a:t>Складність алгоритму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𝒍𝒐𝒈</m:t>
                        </m:r>
                      </m:fName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2800" b="1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102" y="5210862"/>
                <a:ext cx="10510885" cy="523220"/>
              </a:xfrm>
              <a:prstGeom prst="rect">
                <a:avLst/>
              </a:prstGeom>
              <a:blipFill rotWithShape="0">
                <a:blip r:embed="rId6"/>
                <a:stretch>
                  <a:fillRect l="-1218" t="-11628" b="-32558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011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6" y="407762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Ручний аналіз (3.1)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0740" y="1607002"/>
            <a:ext cx="100780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200" b="1" smtClean="0"/>
              <a:t>Задача:</a:t>
            </a:r>
          </a:p>
          <a:p>
            <a:r>
              <a:rPr lang="uk-UA" sz="3200" smtClean="0"/>
              <a:t>Дано масив точок розміру </a:t>
            </a:r>
            <a:r>
              <a:rPr lang="en-US" sz="3200" b="1" smtClean="0"/>
              <a:t>n</a:t>
            </a:r>
            <a:r>
              <a:rPr lang="uk-UA" sz="3200" smtClean="0"/>
              <a:t>. Знайти мінімальну відстань між двома точками.</a:t>
            </a:r>
          </a:p>
          <a:p>
            <a:endParaRPr lang="uk-UA" sz="3200"/>
          </a:p>
          <a:p>
            <a:r>
              <a:rPr lang="uk-UA" sz="3200" b="1" smtClean="0"/>
              <a:t>Алгоритм: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uk-UA" sz="3200" smtClean="0"/>
              <a:t>Розділити масив на 2 частини і розв’язати рекурсивно 2 підзадачі;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uk-UA" sz="3200" smtClean="0"/>
              <a:t>Знайти мінімальну відстань між всіма парами точок з різних частин.</a:t>
            </a:r>
            <a:endParaRPr lang="uk-UA" sz="3200"/>
          </a:p>
        </p:txBody>
      </p:sp>
    </p:spTree>
    <p:extLst>
      <p:ext uri="{BB962C8B-B14F-4D97-AF65-F5344CB8AC3E}">
        <p14:creationId xmlns:p14="http://schemas.microsoft.com/office/powerpoint/2010/main" val="2965866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6" y="407762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Ручний аналіз (3.2)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38987" y="1927514"/>
                <a:ext cx="10897384" cy="3643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Tx/>
                  <a:buChar char="-"/>
                </a:pPr>
                <a:r>
                  <a:rPr lang="uk-UA" sz="2800" b="1" smtClean="0"/>
                  <a:t>Скільки підзадач в одному виклику функції?</a:t>
                </a:r>
              </a:p>
              <a:p>
                <a:r>
                  <a:rPr lang="ru-RU" sz="2800"/>
                  <a:t>2 виклики на масиві точок, у 2 рази меншому.</a:t>
                </a:r>
                <a:r>
                  <a:rPr lang="uk-UA" sz="2800" smtClean="0"/>
                  <a:t> </a:t>
                </a:r>
                <a14:m>
                  <m:oMath xmlns:m="http://schemas.openxmlformats.org/officeDocument/2006/math">
                    <m:r>
                      <a:rPr lang="uk-UA" sz="2800" b="1" i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uk-UA" sz="28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skw"/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uk-UA" sz="2800" smtClean="0"/>
                  <a:t>.</a:t>
                </a:r>
              </a:p>
              <a:p>
                <a:endParaRPr lang="uk-UA" sz="2800" smtClean="0"/>
              </a:p>
              <a:p>
                <a:pPr marL="457200" indent="-457200">
                  <a:buFontTx/>
                  <a:buChar char="-"/>
                </a:pPr>
                <a:r>
                  <a:rPr lang="uk-UA" sz="2800" b="1" smtClean="0"/>
                  <a:t>Яка складність виклику однієї функції (ігноруючи рекурсію)?</a:t>
                </a:r>
              </a:p>
              <a:p>
                <a:r>
                  <a:rPr lang="uk-UA" sz="2800" smtClean="0"/>
                  <a:t>Щоб розділити масив, необхідно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smtClean="0"/>
                  <a:t>.</a:t>
                </a:r>
              </a:p>
              <a:p>
                <a:r>
                  <a:rPr lang="uk-UA" sz="2800" smtClean="0"/>
                  <a:t>Щоб розглянути всі пари точок з різних частин, необхідно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smtClean="0"/>
                  <a:t>.</a:t>
                </a:r>
              </a:p>
              <a:p>
                <a:r>
                  <a:rPr lang="uk-UA" sz="2800" smtClean="0"/>
                  <a:t>Сумарно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smtClean="0"/>
                  <a:t>.</a:t>
                </a:r>
              </a:p>
              <a:p>
                <a:endParaRPr lang="en-US" sz="280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87" y="1927514"/>
                <a:ext cx="10897384" cy="3643433"/>
              </a:xfrm>
              <a:prstGeom prst="rect">
                <a:avLst/>
              </a:prstGeom>
              <a:blipFill rotWithShape="0">
                <a:blip r:embed="rId2"/>
                <a:stretch>
                  <a:fillRect l="-1175" t="-1839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625646" y="5350808"/>
                <a:ext cx="5301515" cy="672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3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646" y="5350808"/>
                <a:ext cx="5301515" cy="67281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871382" y="6249939"/>
            <a:ext cx="4119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e3_min_distance.cpp</a:t>
            </a:r>
            <a:endParaRPr lang="uk-UA" sz="2800" i="1" smtClean="0"/>
          </a:p>
        </p:txBody>
      </p:sp>
    </p:spTree>
    <p:extLst>
      <p:ext uri="{BB962C8B-B14F-4D97-AF65-F5344CB8AC3E}">
        <p14:creationId xmlns:p14="http://schemas.microsoft.com/office/powerpoint/2010/main" val="313634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504946" y="1437531"/>
                <a:ext cx="5301515" cy="672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3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946" y="1437531"/>
                <a:ext cx="5301515" cy="67281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225486" y="407762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Ручний аналіз (3.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3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3061" y="2475202"/>
            <a:ext cx="2875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smtClean="0"/>
              <a:t>Глибина рекурсії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062" y="3949695"/>
            <a:ext cx="2875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smtClean="0"/>
              <a:t>Візуально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365" y="5544396"/>
            <a:ext cx="29788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smtClean="0"/>
              <a:t>Кількість операцій на глибині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8201263"/>
                  </p:ext>
                </p:extLst>
              </p:nvPr>
            </p:nvGraphicFramePr>
            <p:xfrm>
              <a:off x="3511643" y="2593837"/>
              <a:ext cx="8128001" cy="373154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2077"/>
                    <a:gridCol w="1102936"/>
                    <a:gridCol w="1018095"/>
                    <a:gridCol w="499620"/>
                    <a:gridCol w="1611984"/>
                    <a:gridCol w="1687398"/>
                    <a:gridCol w="1175891"/>
                  </a:tblGrid>
                  <a:tr h="5659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uk-UA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uk-UA" sz="28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uk-UA" sz="2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uk-UA" sz="28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2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uk-UA" sz="2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2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uk-UA" sz="2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2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uk-UA" sz="2200"/>
                        </a:p>
                      </a:txBody>
                      <a:tcPr anchor="ctr"/>
                    </a:tc>
                  </a:tr>
                  <a:tr h="2627954"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</a:tr>
                  <a:tr h="5376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8201263"/>
                  </p:ext>
                </p:extLst>
              </p:nvPr>
            </p:nvGraphicFramePr>
            <p:xfrm>
              <a:off x="3511643" y="2593837"/>
              <a:ext cx="8128001" cy="373154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2077"/>
                    <a:gridCol w="1102936"/>
                    <a:gridCol w="1018095"/>
                    <a:gridCol w="499620"/>
                    <a:gridCol w="1611984"/>
                    <a:gridCol w="1687398"/>
                    <a:gridCol w="1175891"/>
                  </a:tblGrid>
                  <a:tr h="565937"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92" t="-1075" r="-690533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93923" t="-1075" r="-544751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8929" t="-1075" r="-486905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632927" t="-1075" r="-897561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27652" t="-1075" r="-178788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12274" t="-1075" r="-70397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91710" t="-1075" r="-1036" b="-588172"/>
                          </a:stretch>
                        </a:blipFill>
                      </a:tcPr>
                    </a:tc>
                  </a:tr>
                  <a:tr h="2627954"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</a:tr>
                  <a:tr h="537658"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92" t="-597727" r="-690533" b="-306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93923" t="-597727" r="-544751" b="-306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8929" t="-597727" r="-486905" b="-306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27652" t="-597727" r="-178788" b="-306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12274" t="-597727" r="-70397" b="-306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91710" t="-597727" r="-1036" b="-3068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Прямоугольник 9"/>
          <p:cNvSpPr/>
          <p:nvPr/>
        </p:nvSpPr>
        <p:spPr>
          <a:xfrm>
            <a:off x="3751868" y="3261674"/>
            <a:ext cx="584462" cy="23755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Прямоугольник 10"/>
          <p:cNvSpPr/>
          <p:nvPr/>
        </p:nvSpPr>
        <p:spPr>
          <a:xfrm>
            <a:off x="4769963" y="4472915"/>
            <a:ext cx="584462" cy="116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угольник 11"/>
          <p:cNvSpPr/>
          <p:nvPr/>
        </p:nvSpPr>
        <p:spPr>
          <a:xfrm>
            <a:off x="5863473" y="5071621"/>
            <a:ext cx="584462" cy="5656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Прямоугольник 12"/>
          <p:cNvSpPr/>
          <p:nvPr/>
        </p:nvSpPr>
        <p:spPr>
          <a:xfrm>
            <a:off x="7630841" y="5495827"/>
            <a:ext cx="584462" cy="141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Прямоугольник 13"/>
          <p:cNvSpPr/>
          <p:nvPr/>
        </p:nvSpPr>
        <p:spPr>
          <a:xfrm>
            <a:off x="9291529" y="5544395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Прямоугольник 15"/>
          <p:cNvSpPr/>
          <p:nvPr/>
        </p:nvSpPr>
        <p:spPr>
          <a:xfrm>
            <a:off x="4769963" y="3261674"/>
            <a:ext cx="584462" cy="116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Прямоугольник 16"/>
          <p:cNvSpPr/>
          <p:nvPr/>
        </p:nvSpPr>
        <p:spPr>
          <a:xfrm>
            <a:off x="5863473" y="4489464"/>
            <a:ext cx="584462" cy="5656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Прямоугольник 17"/>
          <p:cNvSpPr/>
          <p:nvPr/>
        </p:nvSpPr>
        <p:spPr>
          <a:xfrm>
            <a:off x="5863473" y="3876722"/>
            <a:ext cx="584462" cy="5656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9" name="Прямоугольник 18"/>
          <p:cNvSpPr/>
          <p:nvPr/>
        </p:nvSpPr>
        <p:spPr>
          <a:xfrm>
            <a:off x="5863473" y="3294565"/>
            <a:ext cx="584462" cy="5656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0" name="Прямоугольник 19"/>
          <p:cNvSpPr/>
          <p:nvPr/>
        </p:nvSpPr>
        <p:spPr>
          <a:xfrm>
            <a:off x="7629192" y="5316717"/>
            <a:ext cx="584462" cy="141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3" name="Прямоугольник 22"/>
          <p:cNvSpPr/>
          <p:nvPr/>
        </p:nvSpPr>
        <p:spPr>
          <a:xfrm>
            <a:off x="7629192" y="5175316"/>
            <a:ext cx="584462" cy="141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4" name="Прямоугольник 23"/>
          <p:cNvSpPr/>
          <p:nvPr/>
        </p:nvSpPr>
        <p:spPr>
          <a:xfrm>
            <a:off x="7627543" y="4996206"/>
            <a:ext cx="584462" cy="141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5" name="Прямоугольник 24"/>
          <p:cNvSpPr/>
          <p:nvPr/>
        </p:nvSpPr>
        <p:spPr>
          <a:xfrm>
            <a:off x="7629192" y="3798948"/>
            <a:ext cx="584462" cy="141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6" name="Прямоугольник 25"/>
          <p:cNvSpPr/>
          <p:nvPr/>
        </p:nvSpPr>
        <p:spPr>
          <a:xfrm>
            <a:off x="7627543" y="3619838"/>
            <a:ext cx="584462" cy="141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7" name="Прямоугольник 26"/>
          <p:cNvSpPr/>
          <p:nvPr/>
        </p:nvSpPr>
        <p:spPr>
          <a:xfrm>
            <a:off x="7627543" y="3478437"/>
            <a:ext cx="584462" cy="141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8" name="Прямоугольник 27"/>
          <p:cNvSpPr/>
          <p:nvPr/>
        </p:nvSpPr>
        <p:spPr>
          <a:xfrm>
            <a:off x="7625894" y="3299327"/>
            <a:ext cx="584462" cy="141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9" name="Прямоугольник 28"/>
          <p:cNvSpPr/>
          <p:nvPr/>
        </p:nvSpPr>
        <p:spPr>
          <a:xfrm>
            <a:off x="9293097" y="5432847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0" name="Прямоугольник 29"/>
          <p:cNvSpPr/>
          <p:nvPr/>
        </p:nvSpPr>
        <p:spPr>
          <a:xfrm>
            <a:off x="9291529" y="5321299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1" name="Прямоугольник 30"/>
          <p:cNvSpPr/>
          <p:nvPr/>
        </p:nvSpPr>
        <p:spPr>
          <a:xfrm>
            <a:off x="9293097" y="5209751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2" name="Прямоугольник 31"/>
          <p:cNvSpPr/>
          <p:nvPr/>
        </p:nvSpPr>
        <p:spPr>
          <a:xfrm>
            <a:off x="9291529" y="3669843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3" name="Прямоугольник 32"/>
          <p:cNvSpPr/>
          <p:nvPr/>
        </p:nvSpPr>
        <p:spPr>
          <a:xfrm>
            <a:off x="9293097" y="3558295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4" name="Прямоугольник 33"/>
          <p:cNvSpPr/>
          <p:nvPr/>
        </p:nvSpPr>
        <p:spPr>
          <a:xfrm>
            <a:off x="9291529" y="3446747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5" name="Прямоугольник 34"/>
          <p:cNvSpPr/>
          <p:nvPr/>
        </p:nvSpPr>
        <p:spPr>
          <a:xfrm>
            <a:off x="9293097" y="3335199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6" name="Прямоугольник 35"/>
          <p:cNvSpPr/>
          <p:nvPr/>
        </p:nvSpPr>
        <p:spPr>
          <a:xfrm>
            <a:off x="10760151" y="3669843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7" name="Прямоугольник 36"/>
          <p:cNvSpPr/>
          <p:nvPr/>
        </p:nvSpPr>
        <p:spPr>
          <a:xfrm>
            <a:off x="10761719" y="3558295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8" name="Прямоугольник 37"/>
          <p:cNvSpPr/>
          <p:nvPr/>
        </p:nvSpPr>
        <p:spPr>
          <a:xfrm>
            <a:off x="10760151" y="3446747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9" name="Прямоугольник 38"/>
          <p:cNvSpPr/>
          <p:nvPr/>
        </p:nvSpPr>
        <p:spPr>
          <a:xfrm>
            <a:off x="10761719" y="3335199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0" name="Прямоугольник 39"/>
          <p:cNvSpPr/>
          <p:nvPr/>
        </p:nvSpPr>
        <p:spPr>
          <a:xfrm>
            <a:off x="10765017" y="5590811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1" name="Прямоугольник 40"/>
          <p:cNvSpPr/>
          <p:nvPr/>
        </p:nvSpPr>
        <p:spPr>
          <a:xfrm>
            <a:off x="10766585" y="5479263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2" name="Прямоугольник 41"/>
          <p:cNvSpPr/>
          <p:nvPr/>
        </p:nvSpPr>
        <p:spPr>
          <a:xfrm>
            <a:off x="10765017" y="5367715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3" name="Прямоугольник 42"/>
          <p:cNvSpPr/>
          <p:nvPr/>
        </p:nvSpPr>
        <p:spPr>
          <a:xfrm>
            <a:off x="10766585" y="5256167"/>
            <a:ext cx="584462" cy="92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332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6" y="407762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Ручний аналіз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3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.4)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14401" y="2292568"/>
                <a:ext cx="631595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2800" b="1" smtClean="0"/>
                  <a:t>Глибина рекурсії: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𝒍𝒐𝒈</m:t>
                            </m:r>
                          </m:e>
                          <m:sub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2800" b="1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2292568"/>
                <a:ext cx="6315958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1931" t="-10465" b="-32558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782426" y="3085762"/>
            <a:ext cx="29788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smtClean="0"/>
              <a:t>Кількість операцій на глибині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985102" y="5400674"/>
                <a:ext cx="10510885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2800" smtClean="0"/>
                  <a:t>Складність алгоритму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2800" b="1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102" y="5400674"/>
                <a:ext cx="10510885" cy="532966"/>
              </a:xfrm>
              <a:prstGeom prst="rect">
                <a:avLst/>
              </a:prstGeom>
              <a:blipFill rotWithShape="0">
                <a:blip r:embed="rId3"/>
                <a:stretch>
                  <a:fillRect l="-1218" t="-9195" b="-33333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504946" y="1437531"/>
                <a:ext cx="5301515" cy="672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3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946" y="1437531"/>
                <a:ext cx="5301515" cy="67281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9602248"/>
                  </p:ext>
                </p:extLst>
              </p:nvPr>
            </p:nvGraphicFramePr>
            <p:xfrm>
              <a:off x="3874416" y="3312840"/>
              <a:ext cx="7777115" cy="5376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86120"/>
                    <a:gridCol w="1084083"/>
                    <a:gridCol w="1046785"/>
                    <a:gridCol w="478051"/>
                    <a:gridCol w="1222341"/>
                    <a:gridCol w="1407097"/>
                    <a:gridCol w="1652638"/>
                  </a:tblGrid>
                  <a:tr h="5376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9602248"/>
                  </p:ext>
                </p:extLst>
              </p:nvPr>
            </p:nvGraphicFramePr>
            <p:xfrm>
              <a:off x="3874416" y="3312840"/>
              <a:ext cx="7777115" cy="5376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86120"/>
                    <a:gridCol w="1084083"/>
                    <a:gridCol w="1046785"/>
                    <a:gridCol w="478051"/>
                    <a:gridCol w="1222341"/>
                    <a:gridCol w="1407097"/>
                    <a:gridCol w="1652638"/>
                  </a:tblGrid>
                  <a:tr h="537658"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685" t="-7865" r="-776027" b="-30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82584" t="-7865" r="-536517" b="-30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190058" t="-7865" r="-458480" b="-30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286070" t="-7865" r="-250746" b="-30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335931" t="-7865" r="-118182" b="-30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371587" t="-7865" r="-738" b="-3033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57839" y="4157739"/>
                <a:ext cx="10595727" cy="10620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2800" smtClean="0"/>
                  <a:t>Сумарна кількість операцій</a:t>
                </a:r>
                <a:r>
                  <a:rPr lang="en-US" sz="2800" smtClean="0"/>
                  <a:t>:</a:t>
                </a:r>
                <a:r>
                  <a:rPr lang="uk-UA" sz="2800" smtClean="0"/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skw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8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skw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+…+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𝐧</m:t>
                        </m:r>
                        <m:r>
                          <a:rPr lang="en-US" sz="2800" b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skw"/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skw"/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den>
                        </m:f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+…+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uk-UA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uk-UA" sz="2800" b="1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839" y="4157739"/>
                <a:ext cx="10595727" cy="1062022"/>
              </a:xfrm>
              <a:prstGeom prst="rect">
                <a:avLst/>
              </a:prstGeom>
              <a:blipFill rotWithShape="0">
                <a:blip r:embed="rId6"/>
                <a:stretch>
                  <a:fillRect l="-1208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379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6" y="407762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Ручний аналіз (4.1)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327031" y="1444956"/>
                <a:ext cx="10096106" cy="4973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 b="1" smtClean="0"/>
                  <a:t>Задача:</a:t>
                </a:r>
              </a:p>
              <a:p>
                <a:r>
                  <a:rPr lang="uk-UA" sz="3200" smtClean="0"/>
                  <a:t>Дано масив чисел розміру </a:t>
                </a:r>
                <a:r>
                  <a:rPr lang="en-US" sz="3200" b="1" smtClean="0"/>
                  <a:t>n</a:t>
                </a:r>
                <a:r>
                  <a:rPr lang="uk-UA" sz="3200" smtClean="0"/>
                  <a:t> і число </a:t>
                </a:r>
                <a:r>
                  <a:rPr lang="en-US" sz="3200" b="1" smtClean="0"/>
                  <a:t>c</a:t>
                </a:r>
                <a:r>
                  <a:rPr lang="uk-UA" sz="3200" smtClean="0"/>
                  <a:t>. Знайти кількість пар індексів </a:t>
                </a:r>
                <a14:m>
                  <m:oMath xmlns:m="http://schemas.openxmlformats.org/officeDocument/2006/math">
                    <m:r>
                      <a:rPr lang="uk-UA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uk-UA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uk-UA" sz="3200" smtClean="0"/>
                  <a:t>, таких що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uk-UA" sz="32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uk-UA" sz="3200" b="1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uk-UA" sz="3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uk-UA" sz="3200" smtClean="0"/>
                  <a:t>.</a:t>
                </a:r>
              </a:p>
              <a:p>
                <a:endParaRPr lang="uk-UA" sz="3200"/>
              </a:p>
              <a:p>
                <a:r>
                  <a:rPr lang="uk-UA" sz="3200" b="1" smtClean="0"/>
                  <a:t>Алгоритм: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3200" smtClean="0"/>
                  <a:t>Розділити всі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3200" smtClean="0"/>
                  <a:t> </a:t>
                </a:r>
                <a:r>
                  <a:rPr lang="uk-UA" sz="3200" smtClean="0"/>
                  <a:t>на </a:t>
                </a:r>
                <a:r>
                  <a:rPr lang="en-US" sz="3200" smtClean="0"/>
                  <a:t>2</a:t>
                </a:r>
                <a:r>
                  <a:rPr lang="uk-UA" sz="3200" smtClean="0"/>
                  <a:t> частини</a:t>
                </a:r>
                <a:r>
                  <a:rPr lang="en-US" sz="3200" smtClean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sSub>
                          <m:sSub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  <m:sub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320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sSub>
                          <m:sSub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3200" smtClean="0"/>
                  <a:t>)</a:t>
                </a:r>
                <a:r>
                  <a:rPr lang="uk-UA" sz="3200" smtClean="0"/>
                  <a:t>, і розділити всі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uk-UA" sz="3200" smtClean="0"/>
                  <a:t> на 2 частини</a:t>
                </a:r>
                <a:r>
                  <a:rPr lang="en-US" sz="320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sSub>
                          <m:sSub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  <m:sub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32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sSub>
                          <m:sSub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3200"/>
                  <a:t>)</a:t>
                </a:r>
                <a:r>
                  <a:rPr lang="uk-UA" sz="3200" smtClean="0"/>
                  <a:t>;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3200" smtClean="0"/>
                  <a:t>Рекурсивно розв’язати 4 підзадачі для пар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uk-UA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𝒍</m:t>
                                </m:r>
                              </m:e>
                              <m:sub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sub>
                        </m:s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𝒍</m:t>
                                </m:r>
                              </m:e>
                              <m:sub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uk-UA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𝒍</m:t>
                                </m:r>
                              </m:e>
                              <m:sub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sub>
                        </m:sSub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uk-UA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sub>
                        </m:sSub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𝒍</m:t>
                                </m:r>
                              </m:e>
                              <m:sub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uk-UA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sub>
                        </m:sSub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uk-UA" sz="3200" smtClean="0"/>
                  <a:t>.</a:t>
                </a:r>
                <a:endParaRPr lang="uk-UA" sz="320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031" y="1444956"/>
                <a:ext cx="10096106" cy="4973413"/>
              </a:xfrm>
              <a:prstGeom prst="rect">
                <a:avLst/>
              </a:prstGeom>
              <a:blipFill rotWithShape="0">
                <a:blip r:embed="rId2"/>
                <a:stretch>
                  <a:fillRect l="-1570" t="-1593" b="-1593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943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6" y="407762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Ручний аналіз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4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.2)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38987" y="1927514"/>
                <a:ext cx="10897384" cy="3549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Tx/>
                  <a:buChar char="-"/>
                </a:pPr>
                <a:r>
                  <a:rPr lang="uk-UA" sz="2800" b="1" smtClean="0"/>
                  <a:t>Скільки підзадач в одному виклику функції?</a:t>
                </a:r>
              </a:p>
              <a:p>
                <a:r>
                  <a:rPr lang="en-US" sz="2800" smtClean="0"/>
                  <a:t>4</a:t>
                </a:r>
                <a:r>
                  <a:rPr lang="uk-UA" sz="2800" smtClean="0"/>
                  <a:t> виклики на в 2 рази менших масивах. </a:t>
                </a:r>
                <a14:m>
                  <m:oMath xmlns:m="http://schemas.openxmlformats.org/officeDocument/2006/math">
                    <m:r>
                      <a:rPr lang="uk-UA" sz="2800" b="1" i="0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uk-UA" sz="28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skw"/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uk-UA" sz="2800" smtClean="0"/>
                  <a:t>.</a:t>
                </a:r>
              </a:p>
              <a:p>
                <a:endParaRPr lang="uk-UA" sz="2800" smtClean="0"/>
              </a:p>
              <a:p>
                <a:pPr marL="457200" indent="-457200">
                  <a:buFontTx/>
                  <a:buChar char="-"/>
                </a:pPr>
                <a:r>
                  <a:rPr lang="uk-UA" sz="2800" b="1" smtClean="0"/>
                  <a:t>Яка складність виклику однієї функції (ігноруючи рекурсію)?</a:t>
                </a:r>
              </a:p>
              <a:p>
                <a:r>
                  <a:rPr lang="uk-UA" sz="2800" smtClean="0"/>
                  <a:t>Щоб розділити масив, необхідно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smtClean="0"/>
                  <a:t>.</a:t>
                </a:r>
                <a:endParaRPr lang="uk-UA" sz="2800" smtClean="0"/>
              </a:p>
              <a:p>
                <a:r>
                  <a:rPr lang="uk-UA" sz="2800" smtClean="0"/>
                  <a:t>Щоб обробити крайні випадки, </a:t>
                </a:r>
                <a:r>
                  <a:rPr lang="uk-UA" sz="2800"/>
                  <a:t>необхідно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/>
                  <a:t>.</a:t>
                </a:r>
                <a:endParaRPr lang="en-US" sz="2800" smtClean="0"/>
              </a:p>
              <a:p>
                <a:r>
                  <a:rPr lang="uk-UA" sz="2800" smtClean="0"/>
                  <a:t>Сумарно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smtClean="0"/>
                  <a:t>.</a:t>
                </a:r>
              </a:p>
              <a:p>
                <a:endParaRPr lang="en-US" sz="280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87" y="1927514"/>
                <a:ext cx="10897384" cy="3549177"/>
              </a:xfrm>
              <a:prstGeom prst="rect">
                <a:avLst/>
              </a:prstGeom>
              <a:blipFill rotWithShape="0">
                <a:blip r:embed="rId2"/>
                <a:stretch>
                  <a:fillRect l="-1175" t="-189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625646" y="5350808"/>
                <a:ext cx="5080365" cy="672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3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646" y="5350808"/>
                <a:ext cx="5080365" cy="67281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871382" y="6249939"/>
            <a:ext cx="4119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e4_cnt_formula.cpp</a:t>
            </a:r>
            <a:endParaRPr lang="uk-UA" sz="2800" i="1" smtClean="0"/>
          </a:p>
        </p:txBody>
      </p:sp>
    </p:spTree>
    <p:extLst>
      <p:ext uri="{BB962C8B-B14F-4D97-AF65-F5344CB8AC3E}">
        <p14:creationId xmlns:p14="http://schemas.microsoft.com/office/powerpoint/2010/main" val="309728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6" y="407762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Ручний аналіз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4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.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3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3061" y="2475202"/>
            <a:ext cx="2875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smtClean="0"/>
              <a:t>Глибина рекурсії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062" y="3949695"/>
            <a:ext cx="2875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smtClean="0"/>
              <a:t>Візуально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365" y="5544396"/>
            <a:ext cx="29788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smtClean="0"/>
              <a:t>Кількість операцій на глибині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528805"/>
                  </p:ext>
                </p:extLst>
              </p:nvPr>
            </p:nvGraphicFramePr>
            <p:xfrm>
              <a:off x="3511643" y="2593837"/>
              <a:ext cx="8128001" cy="373154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2077"/>
                    <a:gridCol w="1102936"/>
                    <a:gridCol w="1018095"/>
                    <a:gridCol w="499620"/>
                    <a:gridCol w="1611984"/>
                    <a:gridCol w="1687398"/>
                    <a:gridCol w="1175891"/>
                  </a:tblGrid>
                  <a:tr h="5659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uk-UA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uk-UA" sz="28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uk-UA" sz="2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uk-UA" sz="28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2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uk-UA" sz="2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2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uk-UA" sz="2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2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uk-UA" sz="2200"/>
                        </a:p>
                      </a:txBody>
                      <a:tcPr anchor="ctr"/>
                    </a:tc>
                  </a:tr>
                  <a:tr h="2627954"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</a:tr>
                  <a:tr h="5376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528805"/>
                  </p:ext>
                </p:extLst>
              </p:nvPr>
            </p:nvGraphicFramePr>
            <p:xfrm>
              <a:off x="3511643" y="2593837"/>
              <a:ext cx="8128001" cy="373154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2077"/>
                    <a:gridCol w="1102936"/>
                    <a:gridCol w="1018095"/>
                    <a:gridCol w="499620"/>
                    <a:gridCol w="1611984"/>
                    <a:gridCol w="1687398"/>
                    <a:gridCol w="1175891"/>
                  </a:tblGrid>
                  <a:tr h="565937"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92" t="-1075" r="-690533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93923" t="-1075" r="-544751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8929" t="-1075" r="-486905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632927" t="-1075" r="-897561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27652" t="-1075" r="-178788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12274" t="-1075" r="-70397" b="-588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91710" t="-1075" r="-1036" b="-588172"/>
                          </a:stretch>
                        </a:blipFill>
                      </a:tcPr>
                    </a:tc>
                  </a:tr>
                  <a:tr h="2627954"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</a:tr>
                  <a:tr h="537658"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92" t="-597727" r="-690533" b="-306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93923" t="-597727" r="-544751" b="-306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8929" t="-597727" r="-486905" b="-306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27652" t="-597727" r="-178788" b="-306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12274" t="-597727" r="-70397" b="-306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91710" t="-597727" r="-1036" b="-3068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Прямоугольник 9"/>
          <p:cNvSpPr/>
          <p:nvPr/>
        </p:nvSpPr>
        <p:spPr>
          <a:xfrm>
            <a:off x="3730260" y="3261674"/>
            <a:ext cx="311085" cy="11643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318234" y="1341657"/>
                <a:ext cx="5080365" cy="672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3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8234" y="1341657"/>
                <a:ext cx="5080365" cy="672813"/>
              </a:xfrm>
              <a:prstGeom prst="rect">
                <a:avLst/>
              </a:prstGeom>
              <a:blipFill rotWithShape="0">
                <a:blip r:embed="rId3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Прямоугольник 45"/>
          <p:cNvSpPr/>
          <p:nvPr/>
        </p:nvSpPr>
        <p:spPr>
          <a:xfrm>
            <a:off x="4763446" y="3261674"/>
            <a:ext cx="311085" cy="5984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7" name="Прямоугольник 46"/>
          <p:cNvSpPr/>
          <p:nvPr/>
        </p:nvSpPr>
        <p:spPr>
          <a:xfrm>
            <a:off x="5072600" y="3261674"/>
            <a:ext cx="311085" cy="5984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8" name="Прямоугольник 47"/>
          <p:cNvSpPr/>
          <p:nvPr/>
        </p:nvSpPr>
        <p:spPr>
          <a:xfrm>
            <a:off x="4763446" y="3843831"/>
            <a:ext cx="311085" cy="5984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9" name="Прямоугольник 48"/>
          <p:cNvSpPr/>
          <p:nvPr/>
        </p:nvSpPr>
        <p:spPr>
          <a:xfrm>
            <a:off x="5072600" y="3843831"/>
            <a:ext cx="311085" cy="5984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0" name="Прямоугольник 49"/>
          <p:cNvSpPr/>
          <p:nvPr/>
        </p:nvSpPr>
        <p:spPr>
          <a:xfrm>
            <a:off x="5842970" y="3261675"/>
            <a:ext cx="311085" cy="2945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1" name="Прямоугольник 50"/>
          <p:cNvSpPr/>
          <p:nvPr/>
        </p:nvSpPr>
        <p:spPr>
          <a:xfrm>
            <a:off x="6152124" y="3261675"/>
            <a:ext cx="311085" cy="2945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2" name="Прямоугольник 51"/>
          <p:cNvSpPr/>
          <p:nvPr/>
        </p:nvSpPr>
        <p:spPr>
          <a:xfrm>
            <a:off x="5842970" y="3843832"/>
            <a:ext cx="311085" cy="2945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3" name="Прямоугольник 52"/>
          <p:cNvSpPr/>
          <p:nvPr/>
        </p:nvSpPr>
        <p:spPr>
          <a:xfrm>
            <a:off x="6152124" y="3843832"/>
            <a:ext cx="311085" cy="2945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4" name="Прямоугольник 53"/>
          <p:cNvSpPr/>
          <p:nvPr/>
        </p:nvSpPr>
        <p:spPr>
          <a:xfrm>
            <a:off x="5842970" y="3577314"/>
            <a:ext cx="311085" cy="2945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5" name="Прямоугольник 54"/>
          <p:cNvSpPr/>
          <p:nvPr/>
        </p:nvSpPr>
        <p:spPr>
          <a:xfrm>
            <a:off x="6152124" y="3577314"/>
            <a:ext cx="311085" cy="2945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6" name="Прямоугольник 55"/>
          <p:cNvSpPr/>
          <p:nvPr/>
        </p:nvSpPr>
        <p:spPr>
          <a:xfrm>
            <a:off x="5842970" y="4159471"/>
            <a:ext cx="311085" cy="2945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7" name="Прямоугольник 56"/>
          <p:cNvSpPr/>
          <p:nvPr/>
        </p:nvSpPr>
        <p:spPr>
          <a:xfrm>
            <a:off x="6152124" y="4159471"/>
            <a:ext cx="311085" cy="2945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8" name="Прямоугольник 57"/>
          <p:cNvSpPr/>
          <p:nvPr/>
        </p:nvSpPr>
        <p:spPr>
          <a:xfrm>
            <a:off x="5842970" y="4451203"/>
            <a:ext cx="311085" cy="2945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9" name="Прямоугольник 58"/>
          <p:cNvSpPr/>
          <p:nvPr/>
        </p:nvSpPr>
        <p:spPr>
          <a:xfrm>
            <a:off x="6152124" y="4451203"/>
            <a:ext cx="311085" cy="2945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0" name="Прямоугольник 59"/>
          <p:cNvSpPr/>
          <p:nvPr/>
        </p:nvSpPr>
        <p:spPr>
          <a:xfrm>
            <a:off x="5842970" y="5033360"/>
            <a:ext cx="311085" cy="2945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1" name="Прямоугольник 60"/>
          <p:cNvSpPr/>
          <p:nvPr/>
        </p:nvSpPr>
        <p:spPr>
          <a:xfrm>
            <a:off x="6152124" y="5033360"/>
            <a:ext cx="311085" cy="2945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2" name="Прямоугольник 61"/>
          <p:cNvSpPr/>
          <p:nvPr/>
        </p:nvSpPr>
        <p:spPr>
          <a:xfrm>
            <a:off x="5842970" y="4766842"/>
            <a:ext cx="311085" cy="2945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3" name="Прямоугольник 62"/>
          <p:cNvSpPr/>
          <p:nvPr/>
        </p:nvSpPr>
        <p:spPr>
          <a:xfrm>
            <a:off x="6152124" y="4766842"/>
            <a:ext cx="311085" cy="2945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4" name="Прямоугольник 63"/>
          <p:cNvSpPr/>
          <p:nvPr/>
        </p:nvSpPr>
        <p:spPr>
          <a:xfrm>
            <a:off x="5842970" y="5348999"/>
            <a:ext cx="311085" cy="2945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5" name="Прямоугольник 64"/>
          <p:cNvSpPr/>
          <p:nvPr/>
        </p:nvSpPr>
        <p:spPr>
          <a:xfrm>
            <a:off x="6152124" y="5348999"/>
            <a:ext cx="311085" cy="2945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177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6" y="407762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Ручний аналіз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4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.4)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14401" y="2292568"/>
                <a:ext cx="631595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2800" b="1" smtClean="0"/>
                  <a:t>Глибина рекурсії: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𝒍𝒐𝒈</m:t>
                            </m:r>
                          </m:e>
                          <m:sub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2800" b="1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2292568"/>
                <a:ext cx="6315958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1931" t="-10465" b="-32558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782426" y="3085762"/>
            <a:ext cx="29788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smtClean="0"/>
              <a:t>Кількість операцій на глибині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985102" y="5400674"/>
                <a:ext cx="10510885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2800" smtClean="0"/>
                  <a:t>Складність алгоритму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2800" b="1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102" y="5400674"/>
                <a:ext cx="10510885" cy="532966"/>
              </a:xfrm>
              <a:prstGeom prst="rect">
                <a:avLst/>
              </a:prstGeom>
              <a:blipFill rotWithShape="0">
                <a:blip r:embed="rId3"/>
                <a:stretch>
                  <a:fillRect l="-1218" t="-9195" b="-33333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57839" y="4157739"/>
                <a:ext cx="10595727" cy="1034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2800" smtClean="0"/>
                  <a:t>Сумарна кількість операцій</a:t>
                </a:r>
                <a:r>
                  <a:rPr lang="en-US" sz="2800" smtClean="0"/>
                  <a:t>:</a:t>
                </a:r>
                <a:r>
                  <a:rPr lang="uk-UA" sz="2800" smtClean="0"/>
                  <a:t>  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+…+</m:t>
                    </m:r>
                    <m:f>
                      <m:fPr>
                        <m:type m:val="skw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skw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f>
                          <m:fPr>
                            <m:type m:val="skw"/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den>
                        </m:f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skw"/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uk-UA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uk-UA" sz="2800" b="1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839" y="4157739"/>
                <a:ext cx="10595727" cy="1034899"/>
              </a:xfrm>
              <a:prstGeom prst="rect">
                <a:avLst/>
              </a:prstGeom>
              <a:blipFill rotWithShape="0">
                <a:blip r:embed="rId4"/>
                <a:stretch>
                  <a:fillRect l="-1208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318234" y="1341657"/>
                <a:ext cx="5080365" cy="672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3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8234" y="1341657"/>
                <a:ext cx="5080365" cy="672813"/>
              </a:xfrm>
              <a:prstGeom prst="rect">
                <a:avLst/>
              </a:prstGeom>
              <a:blipFill rotWithShape="0">
                <a:blip r:embed="rId5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5150232"/>
                  </p:ext>
                </p:extLst>
              </p:nvPr>
            </p:nvGraphicFramePr>
            <p:xfrm>
              <a:off x="3761295" y="3343340"/>
              <a:ext cx="8128001" cy="5376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2077"/>
                    <a:gridCol w="1102936"/>
                    <a:gridCol w="1018095"/>
                    <a:gridCol w="499620"/>
                    <a:gridCol w="1611984"/>
                    <a:gridCol w="1687398"/>
                    <a:gridCol w="1175891"/>
                  </a:tblGrid>
                  <a:tr h="5376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uk-UA" sz="280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5150232"/>
                  </p:ext>
                </p:extLst>
              </p:nvPr>
            </p:nvGraphicFramePr>
            <p:xfrm>
              <a:off x="3761295" y="3343340"/>
              <a:ext cx="8128001" cy="5376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2077"/>
                    <a:gridCol w="1102936"/>
                    <a:gridCol w="1018095"/>
                    <a:gridCol w="499620"/>
                    <a:gridCol w="1611984"/>
                    <a:gridCol w="1687398"/>
                    <a:gridCol w="1175891"/>
                  </a:tblGrid>
                  <a:tr h="537658"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1183" t="-7865" r="-690533" b="-30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94475" t="-7865" r="-544751" b="-30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209524" t="-7865" r="-486905" b="-30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smtClean="0"/>
                            <a:t>…</a:t>
                          </a:r>
                          <a:endParaRPr lang="uk-UA" sz="2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228030" t="-7865" r="-178788" b="-30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312635" t="-7865" r="-70397" b="-30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592228" t="-7865" r="-1036" b="-3033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3378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Ручний аналіз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5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.</a:t>
            </a:r>
            <a:r>
              <a:rPr lang="en-US" sz="4800" b="1">
                <a:solidFill>
                  <a:srgbClr val="002060"/>
                </a:solidFill>
                <a:cs typeface="Arial" panose="020B0604020202020204" pitchFamily="34" charset="0"/>
              </a:rPr>
              <a:t>1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493736" y="1389376"/>
                <a:ext cx="6739473" cy="672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3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𝒍𝒐𝒈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736" y="1389376"/>
                <a:ext cx="6739473" cy="67281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3680227"/>
                  </p:ext>
                </p:extLst>
              </p:nvPr>
            </p:nvGraphicFramePr>
            <p:xfrm>
              <a:off x="573908" y="2580663"/>
              <a:ext cx="10704230" cy="34770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0937"/>
                    <a:gridCol w="1218231"/>
                    <a:gridCol w="1772239"/>
                    <a:gridCol w="641023"/>
                    <a:gridCol w="3026004"/>
                    <a:gridCol w="678730"/>
                    <a:gridCol w="1757066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b="1" smtClean="0"/>
                            <a:t>Глибина рекурсії</a:t>
                          </a:r>
                          <a:endParaRPr lang="uk-UA" sz="2400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1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2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240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uk-UA" sz="2400"/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b="1" smtClean="0"/>
                            <a:t>Кількість вузлів</a:t>
                          </a:r>
                          <a:endParaRPr lang="uk-UA" sz="2400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smtClean="0"/>
                            <a:t>1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smtClean="0"/>
                            <a:t>2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uk-UA" sz="24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smtClean="0"/>
                            <a:t>n</a:t>
                          </a:r>
                          <a:endParaRPr lang="uk-UA" sz="2400"/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b="1" smtClean="0"/>
                            <a:t>Робота в вузлі</a:t>
                          </a:r>
                          <a:endParaRPr lang="uk-UA" sz="2400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f>
                                      <m:fPr>
                                        <m:type m:val="skw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uk-UA" sz="24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den>
                                </m:f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f>
                                      <m:fPr>
                                        <m:type m:val="skw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uk-UA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smtClean="0"/>
                            <a:t>1</a:t>
                          </a:r>
                          <a:endParaRPr lang="uk-UA" sz="2400"/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b="1" smtClean="0"/>
                            <a:t>Сумарна</a:t>
                          </a:r>
                          <a:r>
                            <a:rPr lang="uk-UA" sz="2400" b="1" baseline="0" smtClean="0"/>
                            <a:t> робота</a:t>
                          </a:r>
                          <a:endParaRPr lang="uk-UA" sz="2400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f>
                                      <m:fPr>
                                        <m:type m:val="skw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f>
                                      <m:fPr>
                                        <m:type m:val="skw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uk-UA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smtClean="0"/>
                            <a:t>n</a:t>
                          </a:r>
                          <a:endParaRPr lang="uk-UA" sz="240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3680227"/>
                  </p:ext>
                </p:extLst>
              </p:nvPr>
            </p:nvGraphicFramePr>
            <p:xfrm>
              <a:off x="573908" y="2580663"/>
              <a:ext cx="10704230" cy="34770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0937"/>
                    <a:gridCol w="1218231"/>
                    <a:gridCol w="1772239"/>
                    <a:gridCol w="641023"/>
                    <a:gridCol w="3026004"/>
                    <a:gridCol w="678730"/>
                    <a:gridCol w="1757066"/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b="1" smtClean="0"/>
                            <a:t>Глибина рекурсії</a:t>
                          </a:r>
                          <a:endParaRPr lang="uk-UA" sz="2400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1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2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73239" t="-5926" r="-80885" b="-336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10417" t="-5926" r="-694" b="-336296"/>
                          </a:stretch>
                        </a:blipFill>
                      </a:tcPr>
                    </a:tc>
                  </a:tr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b="1" smtClean="0"/>
                            <a:t>Кількість вузлів</a:t>
                          </a:r>
                          <a:endParaRPr lang="uk-UA" sz="2400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smtClean="0"/>
                            <a:t>1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smtClean="0"/>
                            <a:t>2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73239" t="-105926" r="-80885" b="-236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smtClean="0"/>
                            <a:t>n</a:t>
                          </a:r>
                          <a:endParaRPr lang="uk-UA" sz="2400"/>
                        </a:p>
                      </a:txBody>
                      <a:tcPr anchor="ctr"/>
                    </a:tc>
                  </a:tr>
                  <a:tr h="945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b="1" smtClean="0"/>
                            <a:t>Робота в вузлі</a:t>
                          </a:r>
                          <a:endParaRPr lang="uk-UA" sz="2400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32500" t="-178205" r="-647500" b="-1044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59794" t="-178205" r="-345017" b="-1044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73239" t="-178205" r="-80885" b="-1044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smtClean="0"/>
                            <a:t>1</a:t>
                          </a:r>
                          <a:endParaRPr lang="uk-UA" sz="2400"/>
                        </a:p>
                      </a:txBody>
                      <a:tcPr anchor="ctr"/>
                    </a:tc>
                  </a:tr>
                  <a:tr h="8851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b="1" smtClean="0"/>
                            <a:t>Сумарна</a:t>
                          </a:r>
                          <a:r>
                            <a:rPr lang="uk-UA" sz="2400" b="1" baseline="0" smtClean="0"/>
                            <a:t> робота</a:t>
                          </a:r>
                          <a:endParaRPr lang="uk-UA" sz="2400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32500" t="-299310" r="-647500" b="-12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59794" t="-299310" r="-345017" b="-12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73239" t="-299310" r="-80885" b="-12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smtClean="0"/>
                            <a:t>n</a:t>
                          </a:r>
                          <a:endParaRPr lang="uk-UA" sz="240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052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Ручний аналіз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5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.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2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493736" y="1389376"/>
                <a:ext cx="6739473" cy="672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3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𝒍𝒐𝒈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736" y="1389376"/>
                <a:ext cx="6739473" cy="67281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0682218"/>
                  </p:ext>
                </p:extLst>
              </p:nvPr>
            </p:nvGraphicFramePr>
            <p:xfrm>
              <a:off x="573908" y="2297858"/>
              <a:ext cx="10704230" cy="170815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0937"/>
                    <a:gridCol w="1218231"/>
                    <a:gridCol w="1772239"/>
                    <a:gridCol w="641023"/>
                    <a:gridCol w="3026004"/>
                    <a:gridCol w="678730"/>
                    <a:gridCol w="1757066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b="1" smtClean="0"/>
                            <a:t>Глибина рекурсії</a:t>
                          </a:r>
                          <a:endParaRPr lang="uk-UA" sz="2400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1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2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240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uk-UA" sz="2400"/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b="1" smtClean="0"/>
                            <a:t>Сумарна</a:t>
                          </a:r>
                          <a:r>
                            <a:rPr lang="uk-UA" sz="2400" b="1" baseline="0" smtClean="0"/>
                            <a:t> робота</a:t>
                          </a:r>
                          <a:endParaRPr lang="uk-UA" sz="2400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f>
                                      <m:fPr>
                                        <m:type m:val="skw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f>
                                      <m:fPr>
                                        <m:type m:val="skw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uk-UA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smtClean="0"/>
                            <a:t>n</a:t>
                          </a:r>
                          <a:endParaRPr lang="uk-UA" sz="240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0682218"/>
                  </p:ext>
                </p:extLst>
              </p:nvPr>
            </p:nvGraphicFramePr>
            <p:xfrm>
              <a:off x="573908" y="2297858"/>
              <a:ext cx="10704230" cy="170815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0937"/>
                    <a:gridCol w="1218231"/>
                    <a:gridCol w="1772239"/>
                    <a:gridCol w="641023"/>
                    <a:gridCol w="3026004"/>
                    <a:gridCol w="678730"/>
                    <a:gridCol w="1757066"/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b="1" smtClean="0"/>
                            <a:t>Глибина рекурсії</a:t>
                          </a:r>
                          <a:endParaRPr lang="uk-UA" sz="2400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1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2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73239" t="-5147" r="-80885" b="-1198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10417" t="-5147" r="-694" b="-119853"/>
                          </a:stretch>
                        </a:blipFill>
                      </a:tcPr>
                    </a:tc>
                  </a:tr>
                  <a:tr h="8851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b="1" smtClean="0"/>
                            <a:t>Сумарна</a:t>
                          </a:r>
                          <a:r>
                            <a:rPr lang="uk-UA" sz="2400" b="1" baseline="0" smtClean="0"/>
                            <a:t> робота</a:t>
                          </a:r>
                          <a:endParaRPr lang="uk-UA" sz="2400" b="1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32500" t="-97945" r="-647500" b="-116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59794" t="-97945" r="-345017" b="-116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73239" t="-97945" r="-80885" b="-116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uk-UA" sz="2400" smtClean="0"/>
                            <a:t>…</a:t>
                          </a:r>
                          <a:endParaRPr lang="uk-UA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smtClean="0"/>
                            <a:t>n</a:t>
                          </a:r>
                          <a:endParaRPr lang="uk-UA" sz="240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1589" y="4355221"/>
                <a:ext cx="11326882" cy="12352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2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en-US" sz="2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uk-UA" sz="2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𝒍𝒐𝒈</m:t>
                          </m:r>
                          <m:d>
                            <m:dPr>
                              <m:ctrlPr>
                                <a:rPr lang="en-US" sz="2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  <m:r>
                            <a:rPr lang="uk-UA" sz="2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uk-UA" sz="2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f>
                            <m:fPr>
                              <m:ctrlPr>
                                <a:rPr lang="en-US" sz="26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skw"/>
                                          <m:ctrlPr>
                                            <a:rPr lang="en-US" sz="26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600" b="1" i="1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sz="26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600" b="1" i="1"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600" b="1" i="1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den>
                          </m:f>
                        </m:e>
                      </m:nary>
                      <m:r>
                        <a:rPr lang="uk-UA" sz="2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nary>
                        <m:naryPr>
                          <m:chr m:val="∑"/>
                          <m:ctrlPr>
                            <a:rPr lang="en-US" sz="2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uk-UA" sz="2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𝒍𝒐𝒈</m:t>
                          </m:r>
                          <m:d>
                            <m:dPr>
                              <m:ctrlPr>
                                <a:rPr lang="en-US" sz="2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  <m:r>
                            <a:rPr lang="uk-UA" sz="2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uk-UA" sz="2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f>
                            <m:fPr>
                              <m:ctrlPr>
                                <a:rPr lang="en-US" sz="26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600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uk-UA" sz="2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6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den>
                          </m:f>
                        </m:e>
                      </m:nary>
                      <m:r>
                        <a:rPr lang="uk-UA" sz="2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nary>
                        <m:naryPr>
                          <m:chr m:val="∑"/>
                          <m:ctrlPr>
                            <a:rPr lang="en-US" sz="2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𝒍𝒐𝒈</m:t>
                          </m:r>
                          <m:d>
                            <m:dPr>
                              <m:ctrlPr>
                                <a:rPr lang="en-US" sz="2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sup>
                        <m:e>
                          <m:f>
                            <m:fPr>
                              <m:ctrlPr>
                                <a:rPr lang="en-US" sz="26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6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nary>
                      <m:r>
                        <a:rPr lang="en-US" sz="2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𝒍𝒐𝒈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𝒍𝒐𝒈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uk-UA" sz="2600" b="1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589" y="4355221"/>
                <a:ext cx="11326882" cy="12352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75293" y="5818808"/>
                <a:ext cx="536377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𝒍𝒐𝒈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𝒍𝒐𝒈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293" y="5818808"/>
                <a:ext cx="5363776" cy="5539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4651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Ручний аналіз (6.1)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578577" y="1672180"/>
                <a:ext cx="7087710" cy="6764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uk-UA" sz="3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uk-UA" sz="3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uk-UA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6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uk-UA" sz="3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  <m:r>
                        <a:rPr lang="en-US" sz="3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577" y="1672180"/>
                <a:ext cx="7087710" cy="67640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41886" y="3189134"/>
                <a:ext cx="10078048" cy="25552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 smtClean="0"/>
                  <a:t>З інтуїції</a:t>
                </a:r>
                <a:r>
                  <a:rPr lang="uk-UA" sz="3200"/>
                  <a:t> </a:t>
                </a:r>
                <a:r>
                  <a:rPr lang="uk-UA" sz="3200" smtClean="0"/>
                  <a:t>та надивленості, можна зробити такі </a:t>
                </a:r>
                <a:r>
                  <a:rPr lang="uk-UA" sz="3200"/>
                  <a:t>в</a:t>
                </a:r>
                <a:r>
                  <a:rPr lang="uk-UA" sz="3200" smtClean="0"/>
                  <a:t>исновки:</a:t>
                </a:r>
              </a:p>
              <a:p>
                <a:pPr marL="457200" indent="-457200">
                  <a:buFontTx/>
                  <a:buChar char="-"/>
                </a:pPr>
                <a:r>
                  <a:rPr lang="uk-UA" sz="3200" smtClean="0"/>
                  <a:t>Зауважимо, що коефіцієнти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uk-UA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uk-UA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skw"/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uk-UA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uk-UA" sz="3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uk-UA" sz="32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uk-UA" sz="32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3200" smtClean="0"/>
                  <a:t>. </a:t>
                </a:r>
                <a:r>
                  <a:rPr lang="uk-UA" sz="3200" smtClean="0"/>
                  <a:t>Значить кількість операцій розростається на кожному кроці рекурсії.</a:t>
                </a:r>
              </a:p>
              <a:p>
                <a:pPr marL="457200" indent="-457200">
                  <a:buFontTx/>
                  <a:buChar char="-"/>
                </a:pPr>
                <a:r>
                  <a:rPr lang="uk-UA" sz="3200" smtClean="0"/>
                  <a:t>Припущення: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p>
                  </m:oMath>
                </a14:m>
                <a:r>
                  <a:rPr lang="en-US" sz="3200" smtClean="0"/>
                  <a:t>.</a:t>
                </a:r>
                <a:endParaRPr lang="uk-UA" sz="320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886" y="3189134"/>
                <a:ext cx="10078048" cy="2555251"/>
              </a:xfrm>
              <a:prstGeom prst="rect">
                <a:avLst/>
              </a:prstGeom>
              <a:blipFill rotWithShape="0">
                <a:blip r:embed="rId3"/>
                <a:stretch>
                  <a:fillRect l="-1633" t="-3103" r="-1028" b="-7399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1169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Ручний аналіз (6.2)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578577" y="1672180"/>
                <a:ext cx="7087710" cy="6764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uk-UA" sz="3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uk-UA" sz="3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uk-UA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6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uk-UA" sz="3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  <m:r>
                        <a:rPr lang="en-US" sz="3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577" y="1672180"/>
                <a:ext cx="7087710" cy="67640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80112" y="2762413"/>
                <a:ext cx="64298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 smtClean="0"/>
                  <a:t>Припущення: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p>
                  </m:oMath>
                </a14:m>
                <a:endParaRPr lang="uk-UA" sz="320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112" y="2762413"/>
                <a:ext cx="6429876" cy="584775"/>
              </a:xfrm>
              <a:prstGeom prst="rect">
                <a:avLst/>
              </a:prstGeom>
              <a:blipFill rotWithShape="0">
                <a:blip r:embed="rId3"/>
                <a:stretch>
                  <a:fillRect l="-2370" t="-12500" b="-34375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780112" y="3686276"/>
                <a:ext cx="6476388" cy="11576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p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4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4000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num>
                                <m:den>
                                  <m:r>
                                    <a:rPr lang="en-US" sz="40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p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uk-UA" sz="40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4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40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num>
                                <m:den>
                                  <m:r>
                                    <a:rPr lang="en-US" sz="4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p>
                      <m:r>
                        <a:rPr lang="en-US" sz="4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𝒐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p>
                      <m:r>
                        <a:rPr lang="en-US" sz="4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112" y="3686276"/>
                <a:ext cx="6476388" cy="115762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16998" y="5371800"/>
                <a:ext cx="2512034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4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uk-UA" sz="4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𝟏𝟔𝟕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998" y="5371800"/>
                <a:ext cx="2512034" cy="61555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866148" y="5371800"/>
                <a:ext cx="3592330" cy="566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uk-UA" sz="3600" b="1" i="1" smtClean="0">
                              <a:latin typeface="Cambria Math" panose="02040503050406030204" pitchFamily="18" charset="0"/>
                            </a:rPr>
                            <m:t>𝟏𝟔𝟕</m:t>
                          </m:r>
                        </m:sup>
                      </m:sSup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600" b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148" y="5371800"/>
                <a:ext cx="3592330" cy="5665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219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Метод підстановки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9020" y="1671418"/>
            <a:ext cx="1007804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/>
              <a:t>Метод підстановки </a:t>
            </a:r>
            <a:r>
              <a:rPr lang="ru-RU" sz="3200" smtClean="0"/>
              <a:t>– це </a:t>
            </a:r>
            <a:r>
              <a:rPr lang="ru-RU" sz="3200"/>
              <a:t>формальний спосіб доведення асимптотичної оцінки алгоритму, маючи рекурентне співвідношення</a:t>
            </a:r>
            <a:r>
              <a:rPr lang="ru-RU" sz="3200" smtClean="0"/>
              <a:t>.</a:t>
            </a:r>
          </a:p>
          <a:p>
            <a:endParaRPr lang="uk-UA" sz="3200" smtClean="0"/>
          </a:p>
          <a:p>
            <a:r>
              <a:rPr lang="uk-UA" sz="3200" smtClean="0"/>
              <a:t>Матеріали:</a:t>
            </a:r>
          </a:p>
          <a:p>
            <a:r>
              <a:rPr lang="en-US" sz="3200">
                <a:hlinkClick r:id="rId2"/>
              </a:rPr>
              <a:t>https://</a:t>
            </a:r>
            <a:r>
              <a:rPr lang="en-US" sz="3200" smtClean="0">
                <a:hlinkClick r:id="rId2"/>
              </a:rPr>
              <a:t>www.youtube.com/watch?v=7lq-rBdM62o</a:t>
            </a:r>
            <a:endParaRPr lang="uk-UA" sz="3200" smtClean="0"/>
          </a:p>
          <a:p>
            <a:r>
              <a:rPr lang="en-US" sz="3200">
                <a:hlinkClick r:id="rId3"/>
              </a:rPr>
              <a:t>https://</a:t>
            </a:r>
            <a:r>
              <a:rPr lang="en-US" sz="3200" smtClean="0">
                <a:hlinkClick r:id="rId3"/>
              </a:rPr>
              <a:t>www.geeksforgeeks.org/dsa/substitution-method-to-solve-recurrence-relations</a:t>
            </a:r>
            <a:endParaRPr lang="uk-UA" sz="3200" smtClean="0"/>
          </a:p>
        </p:txBody>
      </p:sp>
    </p:spTree>
    <p:extLst>
      <p:ext uri="{BB962C8B-B14F-4D97-AF65-F5344CB8AC3E}">
        <p14:creationId xmlns:p14="http://schemas.microsoft.com/office/powerpoint/2010/main" val="170100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Майстер теорема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011986" y="4217419"/>
                <a:ext cx="5702971" cy="9212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uk-UA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uk-UA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uk-UA" sz="4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986" y="4217419"/>
                <a:ext cx="5702971" cy="92121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20615" y="1754723"/>
                <a:ext cx="8880844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 smtClean="0"/>
                  <a:t>Нехай:</a:t>
                </a:r>
                <a:endParaRPr lang="en-US" sz="3200" smtClean="0"/>
              </a:p>
              <a:p>
                <a:pPr marL="457200" indent="-45720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uk-UA" sz="3200" smtClean="0"/>
                  <a:t> це кількість підзадач (константа)</a:t>
                </a:r>
                <a:endParaRPr lang="en-US" sz="3200" smtClean="0"/>
              </a:p>
              <a:p>
                <a:pPr marL="457200" indent="-457200">
                  <a:buFontTx/>
                  <a:buChar char="-"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den>
                    </m:f>
                  </m:oMath>
                </a14:m>
                <a:r>
                  <a:rPr lang="uk-UA" sz="3200" smtClean="0"/>
                  <a:t> це розмір підзадачі (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3200" smtClean="0"/>
                  <a:t> </a:t>
                </a:r>
                <a:r>
                  <a:rPr lang="uk-UA" sz="3200" smtClean="0"/>
                  <a:t>константа)</a:t>
                </a:r>
                <a:endParaRPr lang="en-US" sz="3200" smtClean="0"/>
              </a:p>
              <a:p>
                <a:pPr marL="457200" indent="-45720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uk-UA" sz="3200" smtClean="0"/>
                  <a:t> це робота в одному вузлі (без рекурсії)</a:t>
                </a:r>
                <a:endParaRPr lang="en-US" sz="320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615" y="1754723"/>
                <a:ext cx="8880844" cy="2062103"/>
              </a:xfrm>
              <a:prstGeom prst="rect">
                <a:avLst/>
              </a:prstGeom>
              <a:blipFill rotWithShape="0">
                <a:blip r:embed="rId3"/>
                <a:stretch>
                  <a:fillRect l="-1784" t="-3846" b="-9172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564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Майстер теорема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851730" y="1533710"/>
                <a:ext cx="5702971" cy="9212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uk-UA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uk-UA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uk-UA" sz="4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730" y="1533710"/>
                <a:ext cx="5702971" cy="92121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25485" y="3176940"/>
                <a:ext cx="10454326" cy="1950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3200" smtClean="0"/>
                  <a:t>Якщо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 &lt; </m:t>
                    </m:r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3200" smtClean="0"/>
                  <a:t>, </a:t>
                </a:r>
                <a:r>
                  <a:rPr lang="uk-UA" sz="3200"/>
                  <a:t>то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sz="3200" b="1" i="1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3200" smtClean="0"/>
                  <a:t>Якщо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) ≈ </m:t>
                    </m:r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3200"/>
                  <a:t>, </a:t>
                </a:r>
                <a:r>
                  <a:rPr lang="uk-UA" sz="3200"/>
                  <a:t>то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𝒍𝒐𝒈</m:t>
                        </m:r>
                        <m:d>
                          <m:dPr>
                            <m:ctrlP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en-US" sz="3200" b="1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3200"/>
                  <a:t>Якщо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3200"/>
                  <a:t>, </a:t>
                </a:r>
                <a:r>
                  <a:rPr lang="uk-UA" sz="3200"/>
                  <a:t>то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uk-UA" sz="320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485" y="3176940"/>
                <a:ext cx="10454326" cy="1950599"/>
              </a:xfrm>
              <a:prstGeom prst="rect">
                <a:avLst/>
              </a:prstGeom>
              <a:blipFill rotWithShape="0">
                <a:blip r:embed="rId3"/>
                <a:stretch>
                  <a:fillRect l="-1341" t="-1250" b="-8438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2550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Майстер теорема (1)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 &lt; 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 smtClean="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sz="2800" b="1" i="1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 ≈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𝒍𝒐𝒈</m:t>
                        </m:r>
                        <m:d>
                          <m:d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en-US" sz="2800" b="1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uk-UA" sz="280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blipFill rotWithShape="0">
                <a:blip r:embed="rId3"/>
                <a:stretch>
                  <a:fillRect l="-1050" t="-709" b="-815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50481" y="4615517"/>
                <a:ext cx="5225981" cy="747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481" y="4615517"/>
                <a:ext cx="5225981" cy="7475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48374" y="5610275"/>
                <a:ext cx="3262688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(?)</m:t>
                      </m:r>
                    </m:oMath>
                  </m:oMathPara>
                </a14:m>
                <a:endParaRPr lang="uk-UA" sz="4400" b="1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374" y="5610275"/>
                <a:ext cx="3262688" cy="67710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396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Майстер теорема (1)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 &lt; 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 smtClean="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sz="2800" b="1" i="1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 ≈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𝒍𝒐𝒈</m:t>
                        </m:r>
                        <m:d>
                          <m:d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en-US" sz="2800" b="1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uk-UA" sz="280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blipFill rotWithShape="0">
                <a:blip r:embed="rId3"/>
                <a:stretch>
                  <a:fillRect l="-1050" t="-709" b="-815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50481" y="4615517"/>
                <a:ext cx="5225981" cy="747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481" y="4615517"/>
                <a:ext cx="5225981" cy="7475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48374" y="5610275"/>
                <a:ext cx="3295261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400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374" y="5610275"/>
                <a:ext cx="3295261" cy="67710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8256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Майстер теорема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2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 &lt; 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 smtClean="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sz="2800" b="1" i="1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 ≈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𝒍𝒐𝒈</m:t>
                        </m:r>
                        <m:d>
                          <m:d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en-US" sz="2800" b="1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uk-UA" sz="280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blipFill rotWithShape="0">
                <a:blip r:embed="rId3"/>
                <a:stretch>
                  <a:fillRect l="-1050" t="-709" b="-815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48374" y="5610275"/>
                <a:ext cx="3262688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(?)</m:t>
                      </m:r>
                    </m:oMath>
                  </m:oMathPara>
                </a14:m>
                <a:endParaRPr lang="uk-UA" sz="4400" b="1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374" y="5610275"/>
                <a:ext cx="3262688" cy="67710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60888" y="4615517"/>
                <a:ext cx="5644366" cy="747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888" y="4615517"/>
                <a:ext cx="5644366" cy="7475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718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Майстер теорема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2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 &lt; 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 smtClean="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sz="2800" b="1" i="1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 ≈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𝒍𝒐𝒈</m:t>
                        </m:r>
                        <m:d>
                          <m:d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en-US" sz="2800" b="1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uk-UA" sz="280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blipFill rotWithShape="0">
                <a:blip r:embed="rId3"/>
                <a:stretch>
                  <a:fillRect l="-1050" t="-709" b="-815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60888" y="4615517"/>
                <a:ext cx="5644366" cy="747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888" y="4615517"/>
                <a:ext cx="5644366" cy="7475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398485" y="5610275"/>
                <a:ext cx="516917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𝒍𝒐𝒈</m:t>
                      </m:r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uk-UA" sz="4400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485" y="5610275"/>
                <a:ext cx="5169172" cy="67710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6408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Майстер теорема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3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 &lt; 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 smtClean="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sz="2800" b="1" i="1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 ≈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𝒍𝒐𝒈</m:t>
                        </m:r>
                        <m:d>
                          <m:d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en-US" sz="2800" b="1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uk-UA" sz="280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blipFill rotWithShape="0">
                <a:blip r:embed="rId3"/>
                <a:stretch>
                  <a:fillRect l="-1050" t="-709" b="-815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48374" y="5610275"/>
                <a:ext cx="3262688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(?)</m:t>
                      </m:r>
                    </m:oMath>
                  </m:oMathPara>
                </a14:m>
                <a:endParaRPr lang="uk-UA" sz="4400" b="1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374" y="5610275"/>
                <a:ext cx="3262688" cy="67710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60888" y="4615517"/>
                <a:ext cx="5890074" cy="747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888" y="4615517"/>
                <a:ext cx="5890074" cy="7475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812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Майстер теорема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3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 &lt; 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 smtClean="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sz="2800" b="1" i="1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 ≈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𝒍𝒐𝒈</m:t>
                        </m:r>
                        <m:d>
                          <m:d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en-US" sz="2800" b="1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uk-UA" sz="280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blipFill rotWithShape="0">
                <a:blip r:embed="rId3"/>
                <a:stretch>
                  <a:fillRect l="-1050" t="-709" b="-815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48374" y="5610275"/>
                <a:ext cx="3565528" cy="6924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4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4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400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374" y="5610275"/>
                <a:ext cx="3565528" cy="69243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60888" y="4615517"/>
                <a:ext cx="5890074" cy="747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888" y="4615517"/>
                <a:ext cx="5890074" cy="7475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292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Майстер теорема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4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 &lt; 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 smtClean="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sz="2800" b="1" i="1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 ≈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𝒍𝒐𝒈</m:t>
                        </m:r>
                        <m:d>
                          <m:d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en-US" sz="2800" b="1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uk-UA" sz="280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blipFill rotWithShape="0">
                <a:blip r:embed="rId3"/>
                <a:stretch>
                  <a:fillRect l="-1050" t="-709" b="-815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48374" y="5610275"/>
                <a:ext cx="3262688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(?)</m:t>
                      </m:r>
                    </m:oMath>
                  </m:oMathPara>
                </a14:m>
                <a:endParaRPr lang="uk-UA" sz="4400" b="1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374" y="5610275"/>
                <a:ext cx="3262688" cy="67710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60888" y="4615517"/>
                <a:ext cx="5644366" cy="747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888" y="4615517"/>
                <a:ext cx="5644366" cy="7475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6760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Майстер теорема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4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 &lt; 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 smtClean="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sz="2800" b="1" i="1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 ≈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𝒍𝒐𝒈</m:t>
                        </m:r>
                        <m:d>
                          <m:d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en-US" sz="2800" b="1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uk-UA" sz="280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blipFill rotWithShape="0">
                <a:blip r:embed="rId3"/>
                <a:stretch>
                  <a:fillRect l="-1050" t="-709" b="-815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48374" y="5610275"/>
                <a:ext cx="3565528" cy="6924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4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4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400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374" y="5610275"/>
                <a:ext cx="3565528" cy="69243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60888" y="4615517"/>
                <a:ext cx="5644366" cy="7475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888" y="4615517"/>
                <a:ext cx="5644366" cy="7475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7734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Майстер теорема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5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 &lt; 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 smtClean="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sz="2800" b="1" i="1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 ≈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𝒍𝒐𝒈</m:t>
                        </m:r>
                        <m:d>
                          <m:d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en-US" sz="2800" b="1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uk-UA" sz="280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blipFill rotWithShape="0">
                <a:blip r:embed="rId3"/>
                <a:stretch>
                  <a:fillRect l="-1050" t="-709" b="-815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48374" y="5610275"/>
                <a:ext cx="3262688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(?)</m:t>
                      </m:r>
                    </m:oMath>
                  </m:oMathPara>
                </a14:m>
                <a:endParaRPr lang="uk-UA" sz="4400" b="1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374" y="5610275"/>
                <a:ext cx="3262688" cy="67710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48146" y="4586074"/>
                <a:ext cx="7436523" cy="8767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𝒍𝒐𝒈</m:t>
                          </m:r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146" y="4586074"/>
                <a:ext cx="7436523" cy="87677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8452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Майстер теорема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5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 &lt; 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 smtClean="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sz="2800" b="1" i="1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 ≈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𝒍𝒐𝒈</m:t>
                        </m:r>
                        <m:d>
                          <m:d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en-US" sz="2800" b="1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uk-UA" sz="280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blipFill rotWithShape="0">
                <a:blip r:embed="rId3"/>
                <a:stretch>
                  <a:fillRect l="-1050" t="-709" b="-815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48374" y="5610275"/>
                <a:ext cx="3262688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(?)</m:t>
                      </m:r>
                    </m:oMath>
                  </m:oMathPara>
                </a14:m>
                <a:endParaRPr lang="uk-UA" sz="4400" b="1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374" y="5610275"/>
                <a:ext cx="3262688" cy="67710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48146" y="4586074"/>
                <a:ext cx="7436523" cy="8767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𝒍𝒐𝒈</m:t>
                          </m:r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146" y="4586074"/>
                <a:ext cx="7436523" cy="87677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Shrug Emoji : r/MemeRestoration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8197" y="5102241"/>
            <a:ext cx="1717946" cy="1577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6324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Майстер теорема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6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 &lt; 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 smtClean="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sz="2800" b="1" i="1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 ≈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𝒍𝒐𝒈</m:t>
                        </m:r>
                        <m:d>
                          <m:d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en-US" sz="2800" b="1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uk-UA" sz="280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blipFill rotWithShape="0">
                <a:blip r:embed="rId3"/>
                <a:stretch>
                  <a:fillRect l="-1050" t="-709" b="-815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48374" y="5610275"/>
                <a:ext cx="3262688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(?)</m:t>
                      </m:r>
                    </m:oMath>
                  </m:oMathPara>
                </a14:m>
                <a:endParaRPr lang="uk-UA" sz="4400" b="1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374" y="5610275"/>
                <a:ext cx="3262688" cy="67710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48146" y="4586074"/>
                <a:ext cx="7875361" cy="7515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4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146" y="4586074"/>
                <a:ext cx="7875361" cy="75155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67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Майстер теорема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6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uk-UA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3200" b="1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485" y="1419004"/>
                <a:ext cx="4562467" cy="73699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 &lt; 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 smtClean="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sz="2800" b="1" i="1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 ≈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e>
                            </m:func>
                          </m:sup>
                        </m:s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𝒍𝒐𝒈</m:t>
                        </m:r>
                        <m:d>
                          <m:d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en-US" sz="2800" b="1" smtClean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uk-UA" sz="2800"/>
                  <a:t>Якщо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800"/>
                  <a:t>, </a:t>
                </a:r>
                <a:r>
                  <a:rPr lang="uk-UA" sz="2800"/>
                  <a:t>то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uk-UA" sz="280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863" y="2439941"/>
                <a:ext cx="10454326" cy="1718034"/>
              </a:xfrm>
              <a:prstGeom prst="rect">
                <a:avLst/>
              </a:prstGeom>
              <a:blipFill rotWithShape="0">
                <a:blip r:embed="rId3"/>
                <a:stretch>
                  <a:fillRect l="-1050" t="-709" b="-815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48374" y="5610275"/>
                <a:ext cx="3262688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(?)</m:t>
                      </m:r>
                    </m:oMath>
                  </m:oMathPara>
                </a14:m>
                <a:endParaRPr lang="uk-UA" sz="4400" b="1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374" y="5610275"/>
                <a:ext cx="3262688" cy="67710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48146" y="4586074"/>
                <a:ext cx="7875361" cy="7515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4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146" y="4586074"/>
                <a:ext cx="7875361" cy="75155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4" descr="Shrug Emoji : r/MemeRestoration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8197" y="5102241"/>
            <a:ext cx="1717946" cy="1577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7559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Оцінка складності по часу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944372" y="2878650"/>
                <a:ext cx="3986284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1" i="0" smtClean="0">
                        <a:latin typeface="Cambria Math" panose="02040503050406030204" pitchFamily="18" charset="0"/>
                      </a:rPr>
                      <m:t>𝐎</m:t>
                    </m:r>
                    <m:d>
                      <m:dPr>
                        <m:ctrlPr>
                          <a:rPr lang="en-US" sz="4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4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uk-UA" sz="4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sz="44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4400" b="1" smtClean="0"/>
                  <a:t> </a:t>
                </a:r>
                <a:r>
                  <a:rPr lang="uk-UA" sz="4400" smtClean="0"/>
                  <a:t>зашвидко</a:t>
                </a:r>
                <a:endParaRPr lang="uk-UA" sz="440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4372" y="2878650"/>
                <a:ext cx="3986284" cy="677108"/>
              </a:xfrm>
              <a:prstGeom prst="rect">
                <a:avLst/>
              </a:prstGeom>
              <a:blipFill rotWithShape="0">
                <a:blip r:embed="rId2"/>
                <a:stretch>
                  <a:fillRect t="-25225" r="-7951" b="-4955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616140" y="1310295"/>
                <a:ext cx="4044119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6140" y="1310295"/>
                <a:ext cx="4044119" cy="61555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67" y="1253319"/>
            <a:ext cx="6936984" cy="5332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944371" y="3580937"/>
                <a:ext cx="3816494" cy="7642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1" i="0" smtClean="0">
                        <a:latin typeface="Cambria Math" panose="02040503050406030204" pitchFamily="18" charset="0"/>
                      </a:rPr>
                      <m:t>𝐎</m:t>
                    </m:r>
                    <m:d>
                      <m:dPr>
                        <m:ctrlPr>
                          <a:rPr lang="en-US" sz="4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4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4400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4400" b="1" smtClean="0"/>
                  <a:t> </a:t>
                </a:r>
                <a:r>
                  <a:rPr lang="uk-UA" sz="4400" smtClean="0"/>
                  <a:t>повільно</a:t>
                </a:r>
                <a:endParaRPr lang="uk-UA" sz="44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4371" y="3580937"/>
                <a:ext cx="3816494" cy="764248"/>
              </a:xfrm>
              <a:prstGeom prst="rect">
                <a:avLst/>
              </a:prstGeom>
              <a:blipFill rotWithShape="0">
                <a:blip r:embed="rId5"/>
                <a:stretch>
                  <a:fillRect t="-15079" r="-8307" b="-38889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864638" y="4520416"/>
                <a:ext cx="385599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1" i="0" smtClean="0">
                        <a:latin typeface="Cambria Math" panose="02040503050406030204" pitchFamily="18" charset="0"/>
                      </a:rPr>
                      <m:t>𝐎</m:t>
                    </m:r>
                    <m:d>
                      <m:dPr>
                        <m:ctrlPr>
                          <a:rPr lang="en-US" sz="4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4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𝝋</m:t>
                            </m:r>
                          </m:e>
                          <m:sup>
                            <m:r>
                              <a:rPr lang="en-US" sz="44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4400" b="1" smtClean="0"/>
                  <a:t> </a:t>
                </a:r>
                <a:r>
                  <a:rPr lang="uk-UA" sz="4400" smtClean="0"/>
                  <a:t>ідеально</a:t>
                </a:r>
                <a:endParaRPr lang="uk-UA" sz="440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4638" y="4520416"/>
                <a:ext cx="3855992" cy="677108"/>
              </a:xfrm>
              <a:prstGeom prst="rect">
                <a:avLst/>
              </a:prstGeom>
              <a:blipFill rotWithShape="0">
                <a:blip r:embed="rId6"/>
                <a:stretch>
                  <a:fillRect t="-25225" r="-7899" b="-48649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330086" y="5572214"/>
                <a:ext cx="2616229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≈1.618</m:t>
                      </m:r>
                    </m:oMath>
                  </m:oMathPara>
                </a14:m>
                <a:endParaRPr lang="uk-UA" sz="440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0086" y="5572214"/>
                <a:ext cx="2616229" cy="67710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8131898" y="2022043"/>
            <a:ext cx="2814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</a:t>
            </a:r>
            <a:r>
              <a:rPr lang="uk-UA" sz="2800" i="1" smtClean="0"/>
              <a:t>5</a:t>
            </a:r>
            <a:r>
              <a:rPr lang="en-US" sz="2800" i="1" smtClean="0"/>
              <a:t>_fib_time.cpp</a:t>
            </a:r>
            <a:endParaRPr lang="uk-UA" sz="2800" i="1" smtClean="0"/>
          </a:p>
        </p:txBody>
      </p:sp>
    </p:spTree>
    <p:extLst>
      <p:ext uri="{BB962C8B-B14F-4D97-AF65-F5344CB8AC3E}">
        <p14:creationId xmlns:p14="http://schemas.microsoft.com/office/powerpoint/2010/main" val="253170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5" y="304067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Оцінка складності по операціях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201041" y="2079280"/>
                <a:ext cx="304724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1" i="0" smtClean="0">
                        <a:latin typeface="Cambria Math" panose="02040503050406030204" pitchFamily="18" charset="0"/>
                      </a:rPr>
                      <m:t>𝐎</m:t>
                    </m:r>
                    <m:d>
                      <m:dPr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3600" b="1" smtClean="0"/>
                  <a:t> </a:t>
                </a:r>
                <a:r>
                  <a:rPr lang="uk-UA" sz="3600" smtClean="0"/>
                  <a:t>зашвидко</a:t>
                </a:r>
                <a:endParaRPr lang="uk-UA" sz="360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041" y="2079280"/>
                <a:ext cx="3047244" cy="553998"/>
              </a:xfrm>
              <a:prstGeom prst="rect">
                <a:avLst/>
              </a:prstGeom>
              <a:blipFill rotWithShape="0">
                <a:blip r:embed="rId2"/>
                <a:stretch>
                  <a:fillRect t="-25275" r="-8600" b="-49451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355361" y="2619843"/>
                <a:ext cx="4680031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3600" b="1" i="0" smtClean="0">
                        <a:latin typeface="Cambria Math" panose="02040503050406030204" pitchFamily="18" charset="0"/>
                      </a:rPr>
                      <m:t>𝐎</m:t>
                    </m:r>
                    <m:d>
                      <m:dPr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𝒍𝒐𝒈</m:t>
                        </m:r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uk-UA" sz="3600" b="1" smtClean="0"/>
                  <a:t> </a:t>
                </a:r>
                <a:r>
                  <a:rPr lang="uk-UA" sz="3600" smtClean="0"/>
                  <a:t>повільно</a:t>
                </a:r>
                <a:endParaRPr lang="uk-UA" sz="36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5361" y="2619843"/>
                <a:ext cx="4680031" cy="553998"/>
              </a:xfrm>
              <a:prstGeom prst="rect">
                <a:avLst/>
              </a:prstGeom>
              <a:blipFill rotWithShape="0">
                <a:blip r:embed="rId3"/>
                <a:stretch>
                  <a:fillRect t="-25275" b="-48352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409691" y="3261211"/>
                <a:ext cx="4782309" cy="11793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3600" b="1" i="0" smtClean="0">
                        <a:latin typeface="Cambria Math" panose="02040503050406030204" pitchFamily="18" charset="0"/>
                      </a:rPr>
                      <m:t>𝐎</m:t>
                    </m:r>
                    <m:d>
                      <m:dPr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3600" b="1" smtClean="0"/>
                  <a:t> </a:t>
                </a:r>
                <a:r>
                  <a:rPr lang="uk-UA" sz="3600" smtClean="0"/>
                  <a:t>трохи зашвидко</a:t>
                </a:r>
              </a:p>
              <a:p>
                <a:pPr algn="ctr"/>
                <a:r>
                  <a:rPr lang="uk-UA" sz="3600"/>
                  <a:t>а</a:t>
                </a:r>
                <a:r>
                  <a:rPr lang="uk-UA" sz="3600" smtClean="0"/>
                  <a:t>ле відносно ок</a:t>
                </a:r>
                <a:endParaRPr lang="uk-UA" sz="360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691" y="3261211"/>
                <a:ext cx="4782309" cy="1179362"/>
              </a:xfrm>
              <a:prstGeom prst="rect">
                <a:avLst/>
              </a:prstGeom>
              <a:blipFill rotWithShape="0">
                <a:blip r:embed="rId4"/>
                <a:stretch>
                  <a:fillRect t="-7772" r="-3444" b="-22798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8573831" y="1506137"/>
            <a:ext cx="3400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e6_factors_iters.cpp</a:t>
            </a:r>
            <a:endParaRPr lang="uk-UA" sz="2800" i="1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431567" y="4631685"/>
                <a:ext cx="4586192" cy="2085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0" smtClean="0">
                          <a:latin typeface="Cambria Math" panose="02040503050406030204" pitchFamily="18" charset="0"/>
                        </a:rPr>
                        <m:t>𝐎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𝒍𝒐𝒈</m:t>
                              </m:r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40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4400" b="1" smtClean="0"/>
              </a:p>
              <a:p>
                <a:pPr algn="ctr"/>
                <a:r>
                  <a:rPr lang="uk-UA" sz="4400"/>
                  <a:t>в</a:t>
                </a:r>
                <a:r>
                  <a:rPr lang="uk-UA" sz="4400" smtClean="0"/>
                  <a:t>ізуально ідеально</a:t>
                </a:r>
                <a:endParaRPr lang="uk-UA" sz="440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567" y="4631685"/>
                <a:ext cx="4586192" cy="2085699"/>
              </a:xfrm>
              <a:prstGeom prst="rect">
                <a:avLst/>
              </a:prstGeom>
              <a:blipFill rotWithShape="0">
                <a:blip r:embed="rId5"/>
                <a:stretch>
                  <a:fillRect l="-6915" r="-7048" b="-15205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44" y="1180612"/>
            <a:ext cx="7107347" cy="537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82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324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3599</TotalTime>
  <Words>897</Words>
  <Application>Microsoft Office PowerPoint</Application>
  <PresentationFormat>Широкоэкранный</PresentationFormat>
  <Paragraphs>393</Paragraphs>
  <Slides>40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171</cp:revision>
  <dcterms:created xsi:type="dcterms:W3CDTF">2026-01-27T07:18:31Z</dcterms:created>
  <dcterms:modified xsi:type="dcterms:W3CDTF">2026-02-25T08:39:32Z</dcterms:modified>
</cp:coreProperties>
</file>