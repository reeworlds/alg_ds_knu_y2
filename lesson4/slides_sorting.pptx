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12" r:id="rId3"/>
    <p:sldId id="276" r:id="rId4"/>
    <p:sldId id="308" r:id="rId5"/>
    <p:sldId id="309" r:id="rId6"/>
    <p:sldId id="313" r:id="rId7"/>
    <p:sldId id="317" r:id="rId8"/>
    <p:sldId id="314" r:id="rId9"/>
    <p:sldId id="318" r:id="rId10"/>
    <p:sldId id="319" r:id="rId11"/>
    <p:sldId id="320" r:id="rId12"/>
    <p:sldId id="321" r:id="rId13"/>
    <p:sldId id="326" r:id="rId14"/>
    <p:sldId id="327" r:id="rId15"/>
    <p:sldId id="328" r:id="rId16"/>
    <p:sldId id="329" r:id="rId17"/>
    <p:sldId id="330" r:id="rId18"/>
    <p:sldId id="331" r:id="rId19"/>
    <p:sldId id="332" r:id="rId20"/>
    <p:sldId id="333" r:id="rId21"/>
    <p:sldId id="334" r:id="rId22"/>
    <p:sldId id="288" r:id="rId23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94660"/>
  </p:normalViewPr>
  <p:slideViewPr>
    <p:cSldViewPr snapToGrid="0">
      <p:cViewPr varScale="1">
        <p:scale>
          <a:sx n="81" d="100"/>
          <a:sy n="81" d="100"/>
        </p:scale>
        <p:origin x="53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uk-UA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C7282-A49A-4AD0-93BC-10CA7B10E31B}" type="datetimeFigureOut">
              <a:rPr lang="uk-UA" smtClean="0"/>
              <a:t>18.02.2026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B9907-7997-417B-B641-B57A0D7367C7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32882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C7282-A49A-4AD0-93BC-10CA7B10E31B}" type="datetimeFigureOut">
              <a:rPr lang="uk-UA" smtClean="0"/>
              <a:t>18.02.2026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B9907-7997-417B-B641-B57A0D7367C7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750973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C7282-A49A-4AD0-93BC-10CA7B10E31B}" type="datetimeFigureOut">
              <a:rPr lang="uk-UA" smtClean="0"/>
              <a:t>18.02.2026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B9907-7997-417B-B641-B57A0D7367C7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46011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C7282-A49A-4AD0-93BC-10CA7B10E31B}" type="datetimeFigureOut">
              <a:rPr lang="uk-UA" smtClean="0"/>
              <a:t>18.02.2026</a:t>
            </a:fld>
            <a:endParaRPr lang="uk-UA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B9907-7997-417B-B641-B57A0D7367C7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6492237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C7282-A49A-4AD0-93BC-10CA7B10E31B}" type="datetimeFigureOut">
              <a:rPr lang="uk-UA" smtClean="0"/>
              <a:t>18.02.2026</a:t>
            </a:fld>
            <a:endParaRPr lang="uk-UA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B9907-7997-417B-B641-B57A0D7367C7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6969965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C7282-A49A-4AD0-93BC-10CA7B10E31B}" type="datetimeFigureOut">
              <a:rPr lang="uk-UA" smtClean="0"/>
              <a:t>18.02.2026</a:t>
            </a:fld>
            <a:endParaRPr lang="uk-UA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B9907-7997-417B-B641-B57A0D7367C7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91680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C7282-A49A-4AD0-93BC-10CA7B10E31B}" type="datetimeFigureOut">
              <a:rPr lang="uk-UA" smtClean="0"/>
              <a:t>18.02.2026</a:t>
            </a:fld>
            <a:endParaRPr lang="uk-UA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B9907-7997-417B-B641-B57A0D7367C7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31636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C7282-A49A-4AD0-93BC-10CA7B10E31B}" type="datetimeFigureOut">
              <a:rPr lang="uk-UA" smtClean="0"/>
              <a:t>18.02.2026</a:t>
            </a:fld>
            <a:endParaRPr lang="uk-UA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B9907-7997-417B-B641-B57A0D7367C7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6675218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C7282-A49A-4AD0-93BC-10CA7B10E31B}" type="datetimeFigureOut">
              <a:rPr lang="uk-UA" smtClean="0"/>
              <a:t>18.02.2026</a:t>
            </a:fld>
            <a:endParaRPr lang="uk-UA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B9907-7997-417B-B641-B57A0D7367C7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849251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C7282-A49A-4AD0-93BC-10CA7B10E31B}" type="datetimeFigureOut">
              <a:rPr lang="uk-UA" smtClean="0"/>
              <a:t>18.02.2026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B9907-7997-417B-B641-B57A0D7367C7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9218262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C7282-A49A-4AD0-93BC-10CA7B10E31B}" type="datetimeFigureOut">
              <a:rPr lang="uk-UA" smtClean="0"/>
              <a:t>18.02.2026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B9907-7997-417B-B641-B57A0D7367C7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43699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3C7282-A49A-4AD0-93BC-10CA7B10E31B}" type="datetimeFigureOut">
              <a:rPr lang="uk-UA" smtClean="0"/>
              <a:t>18.02.2026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4B9907-7997-417B-B641-B57A0D7367C7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445524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21790" y="857840"/>
            <a:ext cx="101243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6000" b="1" smtClean="0">
                <a:solidFill>
                  <a:srgbClr val="002060"/>
                </a:solidFill>
                <a:cs typeface="Arial" panose="020B0604020202020204" pitchFamily="34" charset="0"/>
              </a:rPr>
              <a:t>Розділяй і володарюй</a:t>
            </a:r>
            <a:endParaRPr lang="uk-UA" sz="60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5182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25486" y="530310"/>
            <a:ext cx="92759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>
                <a:solidFill>
                  <a:srgbClr val="002060"/>
                </a:solidFill>
                <a:cs typeface="Arial" panose="020B0604020202020204" pitchFamily="34" charset="0"/>
              </a:rPr>
              <a:t>Р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озділяй і володарюй (схема)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951313" y="2321868"/>
                <a:ext cx="10078048" cy="2554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uk-UA" sz="3200" b="1" smtClean="0"/>
                  <a:t>Щоб розв’язати задачу на масиві розміром </a:t>
                </a:r>
                <a:r>
                  <a:rPr lang="en-US" sz="3200" b="1" smtClean="0"/>
                  <a:t>n:</a:t>
                </a:r>
              </a:p>
              <a:p>
                <a:pPr marL="457200" indent="-457200">
                  <a:buFontTx/>
                  <a:buChar char="-"/>
                </a:pPr>
                <a:r>
                  <a:rPr lang="uk-UA" sz="3200" smtClean="0"/>
                  <a:t>Обробити масив, якщо він достатньо малого розміру;</a:t>
                </a:r>
              </a:p>
              <a:p>
                <a:pPr marL="457200" indent="-457200">
                  <a:buFontTx/>
                  <a:buChar char="-"/>
                </a:pPr>
                <a:r>
                  <a:rPr lang="uk-UA" sz="3200"/>
                  <a:t>Розділити масив на дві частини </a:t>
                </a:r>
                <a:r>
                  <a:rPr lang="uk-UA" sz="3200" smtClean="0"/>
                  <a:t>розміру 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uk-UA" sz="3200" smtClean="0"/>
                  <a:t>;</a:t>
                </a:r>
                <a:endParaRPr lang="en-US" sz="3200" smtClean="0"/>
              </a:p>
              <a:p>
                <a:pPr marL="457200" indent="-457200">
                  <a:buFontTx/>
                  <a:buChar char="-"/>
                </a:pPr>
                <a:r>
                  <a:rPr lang="uk-UA" sz="3200" smtClean="0"/>
                  <a:t>Розв’язати задачу для кожної частини окремо;</a:t>
                </a:r>
              </a:p>
              <a:p>
                <a:pPr marL="457200" indent="-457200">
                  <a:buFontTx/>
                  <a:buChar char="-"/>
                </a:pPr>
                <a:r>
                  <a:rPr lang="uk-UA" sz="3200" smtClean="0"/>
                  <a:t>Об’єднати розв’язок окремих частин.</a:t>
                </a:r>
                <a:endParaRPr lang="uk-UA" sz="320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313" y="2321868"/>
                <a:ext cx="10078048" cy="2554545"/>
              </a:xfrm>
              <a:prstGeom prst="rect">
                <a:avLst/>
              </a:prstGeom>
              <a:blipFill rotWithShape="0">
                <a:blip r:embed="rId2"/>
                <a:stretch>
                  <a:fillRect l="-1573" t="-3103" r="-121" b="-7160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1586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926451" y="294640"/>
            <a:ext cx="78576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Сортування бульбашкою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786505" y="2566965"/>
                <a:ext cx="4450245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uk-UA" sz="3200" b="1" smtClean="0"/>
                  <a:t>Проблема: </a:t>
                </a:r>
                <a:r>
                  <a:rPr lang="uk-UA" sz="3200" smtClean="0"/>
                  <a:t>сортування за </a:t>
                </a:r>
                <a14:m>
                  <m:oMath xmlns:m="http://schemas.openxmlformats.org/officeDocument/2006/math"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𝑶</m:t>
                    </m:r>
                    <m:r>
                      <a:rPr lang="uk-UA" sz="3200" b="1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uk-UA" sz="32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uk-UA" sz="32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200" smtClean="0"/>
                  <a:t> </a:t>
                </a:r>
                <a:r>
                  <a:rPr lang="uk-UA" sz="3200" smtClean="0"/>
                  <a:t>на практиці занадто повільно.</a:t>
                </a:r>
                <a:endParaRPr lang="uk-UA" sz="320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6505" y="2566965"/>
                <a:ext cx="4450245" cy="1569660"/>
              </a:xfrm>
              <a:prstGeom prst="rect">
                <a:avLst/>
              </a:prstGeom>
              <a:blipFill rotWithShape="0">
                <a:blip r:embed="rId2"/>
                <a:stretch>
                  <a:fillRect l="-3425" t="-5039" b="-12403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Рисунок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233" y="1816099"/>
            <a:ext cx="5528117" cy="4047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934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7142" y="228652"/>
            <a:ext cx="88234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Швидке сортування (алгоритм)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2998" y="1322626"/>
            <a:ext cx="10510887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3200" b="1" smtClean="0"/>
              <a:t>Алгоритм</a:t>
            </a:r>
            <a:r>
              <a:rPr lang="en-US" sz="3200" b="1" smtClean="0"/>
              <a:t>:</a:t>
            </a:r>
          </a:p>
          <a:p>
            <a:pPr marL="457200" indent="-457200">
              <a:buFontTx/>
              <a:buChar char="-"/>
            </a:pPr>
            <a:r>
              <a:rPr lang="uk-UA" sz="3200" smtClean="0"/>
              <a:t>Вибираємо довільний елемент масиву </a:t>
            </a:r>
            <a:r>
              <a:rPr lang="en-US" sz="3200" smtClean="0"/>
              <a:t>pivot</a:t>
            </a:r>
            <a:r>
              <a:rPr lang="uk-UA" sz="3200" smtClean="0"/>
              <a:t> (наприклад середній);</a:t>
            </a:r>
          </a:p>
          <a:p>
            <a:pPr marL="457200" indent="-457200">
              <a:buFontTx/>
              <a:buChar char="-"/>
            </a:pPr>
            <a:r>
              <a:rPr lang="uk-UA" sz="3200" smtClean="0"/>
              <a:t>Розділяємо </a:t>
            </a:r>
            <a:r>
              <a:rPr lang="uk-UA" sz="3200"/>
              <a:t>масив на </a:t>
            </a:r>
            <a:r>
              <a:rPr lang="uk-UA" sz="3200" smtClean="0"/>
              <a:t>три:</a:t>
            </a:r>
            <a:endParaRPr lang="en-US" sz="3200" smtClean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uk-UA" sz="3200" smtClean="0"/>
              <a:t>Числа </a:t>
            </a:r>
            <a:r>
              <a:rPr lang="en-US" sz="3200" smtClean="0"/>
              <a:t>&lt;</a:t>
            </a:r>
            <a:r>
              <a:rPr lang="uk-UA" sz="3200" smtClean="0"/>
              <a:t> </a:t>
            </a:r>
            <a:r>
              <a:rPr lang="en-US" sz="3200" smtClean="0"/>
              <a:t>pivot</a:t>
            </a:r>
            <a:r>
              <a:rPr lang="uk-UA" sz="3200" smtClean="0"/>
              <a:t> (ліва частина)</a:t>
            </a:r>
            <a:endParaRPr lang="en-US" sz="3200" smtClean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uk-UA" sz="3200" smtClean="0"/>
              <a:t>Числа = </a:t>
            </a:r>
            <a:r>
              <a:rPr lang="en-US" sz="3200"/>
              <a:t>pivot</a:t>
            </a:r>
            <a:r>
              <a:rPr lang="uk-UA" sz="3200" smtClean="0"/>
              <a:t> (середина)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uk-UA" sz="3200" smtClean="0"/>
              <a:t>Числа </a:t>
            </a:r>
            <a:r>
              <a:rPr lang="en-US" sz="3200" smtClean="0"/>
              <a:t>&gt; </a:t>
            </a:r>
            <a:r>
              <a:rPr lang="en-US" sz="3200"/>
              <a:t>pivot</a:t>
            </a:r>
            <a:r>
              <a:rPr lang="en-US" sz="3200" smtClean="0"/>
              <a:t> (</a:t>
            </a:r>
            <a:r>
              <a:rPr lang="uk-UA" sz="3200" smtClean="0"/>
              <a:t>права частина</a:t>
            </a:r>
            <a:r>
              <a:rPr lang="en-US" sz="3200" smtClean="0"/>
              <a:t>)</a:t>
            </a:r>
            <a:endParaRPr lang="en-US" sz="3200"/>
          </a:p>
          <a:p>
            <a:pPr marL="457200" indent="-457200">
              <a:buFontTx/>
              <a:buChar char="-"/>
            </a:pPr>
            <a:r>
              <a:rPr lang="uk-UA" sz="3200" smtClean="0"/>
              <a:t>Рекурсивно сортуємо ліву і праву частину;</a:t>
            </a:r>
          </a:p>
          <a:p>
            <a:pPr marL="457200" indent="-457200">
              <a:buFontTx/>
              <a:buChar char="-"/>
            </a:pPr>
            <a:r>
              <a:rPr lang="uk-UA" sz="3200" smtClean="0"/>
              <a:t>Зливаємо всі масиви разом</a:t>
            </a:r>
            <a:r>
              <a:rPr lang="en-US" sz="3200" smtClean="0"/>
              <a:t>:</a:t>
            </a:r>
          </a:p>
          <a:p>
            <a:r>
              <a:rPr lang="en-US" sz="3200"/>
              <a:t>	</a:t>
            </a:r>
            <a:r>
              <a:rPr lang="en-US" sz="3200" smtClean="0"/>
              <a:t>&lt;</a:t>
            </a:r>
            <a:r>
              <a:rPr lang="uk-UA" sz="3200" smtClean="0"/>
              <a:t>відсортована ліва</a:t>
            </a:r>
            <a:r>
              <a:rPr lang="en-US" sz="3200" smtClean="0"/>
              <a:t>&gt;&lt;</a:t>
            </a:r>
            <a:r>
              <a:rPr lang="uk-UA" sz="3200" smtClean="0"/>
              <a:t>середина</a:t>
            </a:r>
            <a:r>
              <a:rPr lang="en-US" sz="3200" smtClean="0"/>
              <a:t>&gt;&lt;</a:t>
            </a:r>
            <a:r>
              <a:rPr lang="uk-UA" sz="3200" smtClean="0"/>
              <a:t>відсортована права</a:t>
            </a:r>
            <a:r>
              <a:rPr lang="en-US" sz="3200" smtClean="0"/>
              <a:t>&gt;</a:t>
            </a:r>
            <a:endParaRPr lang="uk-UA" sz="3200"/>
          </a:p>
        </p:txBody>
      </p:sp>
    </p:spTree>
    <p:extLst>
      <p:ext uri="{BB962C8B-B14F-4D97-AF65-F5344CB8AC3E}">
        <p14:creationId xmlns:p14="http://schemas.microsoft.com/office/powerpoint/2010/main" val="2148209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7142" y="313493"/>
            <a:ext cx="88234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Швидке сортування (приклад)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208200" y="1350224"/>
            <a:ext cx="4872087" cy="7070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smtClean="0">
                <a:solidFill>
                  <a:schemeClr val="tx1"/>
                </a:solidFill>
              </a:rPr>
              <a:t>quick_sort([8, 3, 2, 3, 4, 7, 1, 4])</a:t>
            </a:r>
            <a:endParaRPr lang="uk-UA" sz="2800">
              <a:solidFill>
                <a:schemeClr val="tx1"/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619261" y="2627856"/>
            <a:ext cx="6064374" cy="398976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sz="2800"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38627" y="2627856"/>
            <a:ext cx="5625643" cy="39087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/>
              <a:t>pivot</a:t>
            </a:r>
            <a:r>
              <a:rPr lang="en-US" sz="3200" smtClean="0"/>
              <a:t> = 3</a:t>
            </a:r>
          </a:p>
          <a:p>
            <a:r>
              <a:rPr lang="en-US" sz="3200" smtClean="0"/>
              <a:t>left = [2, 1]</a:t>
            </a:r>
          </a:p>
          <a:p>
            <a:r>
              <a:rPr lang="en-US" sz="3200" smtClean="0"/>
              <a:t>center = [3, 3]</a:t>
            </a:r>
          </a:p>
          <a:p>
            <a:r>
              <a:rPr lang="en-US" sz="3200" smtClean="0"/>
              <a:t>right = [8, 4, 7, 4]</a:t>
            </a:r>
          </a:p>
          <a:p>
            <a:endParaRPr lang="en-US" sz="1200" smtClean="0"/>
          </a:p>
          <a:p>
            <a:r>
              <a:rPr lang="en-US" sz="3200" smtClean="0"/>
              <a:t>sorted_left = [1, 2]</a:t>
            </a:r>
          </a:p>
          <a:p>
            <a:r>
              <a:rPr lang="en-US" sz="3200" smtClean="0"/>
              <a:t>sorted_right = [4, 4, 7, 8]</a:t>
            </a:r>
          </a:p>
          <a:p>
            <a:endParaRPr lang="en-US" sz="1200" smtClean="0"/>
          </a:p>
          <a:p>
            <a:r>
              <a:rPr lang="en-US" sz="3200" smtClean="0"/>
              <a:t>sorted_arr = [1, 2, 3, 3, 4, 4, 7, 8]</a:t>
            </a:r>
            <a:endParaRPr lang="uk-UA" sz="3200"/>
          </a:p>
        </p:txBody>
      </p:sp>
      <p:cxnSp>
        <p:nvCxnSpPr>
          <p:cNvPr id="9" name="Прямая со стрелкой 8"/>
          <p:cNvCxnSpPr>
            <a:stCxn id="3" idx="2"/>
            <a:endCxn id="6" idx="0"/>
          </p:cNvCxnSpPr>
          <p:nvPr/>
        </p:nvCxnSpPr>
        <p:spPr>
          <a:xfrm>
            <a:off x="3644244" y="2057234"/>
            <a:ext cx="7204" cy="570622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Прямоугольник 9"/>
          <p:cNvSpPr/>
          <p:nvPr/>
        </p:nvSpPr>
        <p:spPr>
          <a:xfrm>
            <a:off x="9953367" y="1954995"/>
            <a:ext cx="1726443" cy="11358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smtClean="0">
                <a:solidFill>
                  <a:schemeClr val="tx1"/>
                </a:solidFill>
              </a:rPr>
              <a:t>…</a:t>
            </a:r>
            <a:endParaRPr lang="uk-UA" sz="2800" b="1">
              <a:solidFill>
                <a:schemeClr val="tx1"/>
              </a:solidFill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9953366" y="4171865"/>
            <a:ext cx="1726443" cy="11358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smtClean="0">
                <a:solidFill>
                  <a:schemeClr val="tx1"/>
                </a:solidFill>
              </a:rPr>
              <a:t>…</a:t>
            </a:r>
            <a:endParaRPr lang="uk-UA" sz="2800" b="1">
              <a:solidFill>
                <a:schemeClr val="tx1"/>
              </a:solidFill>
            </a:endParaRPr>
          </a:p>
        </p:txBody>
      </p:sp>
      <p:cxnSp>
        <p:nvCxnSpPr>
          <p:cNvPr id="12" name="Прямая со стрелкой 11"/>
          <p:cNvCxnSpPr/>
          <p:nvPr/>
        </p:nvCxnSpPr>
        <p:spPr>
          <a:xfrm flipV="1">
            <a:off x="4021463" y="2149311"/>
            <a:ext cx="5913049" cy="2771481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 rot="20065335">
            <a:off x="5833101" y="2772635"/>
            <a:ext cx="282577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smtClean="0"/>
              <a:t>quick_sort([2, 1])</a:t>
            </a:r>
          </a:p>
          <a:p>
            <a:endParaRPr lang="en-US" sz="2800" smtClean="0"/>
          </a:p>
          <a:p>
            <a:r>
              <a:rPr lang="en-US" sz="2800" smtClean="0"/>
              <a:t>sorted_arr = [1, 2]</a:t>
            </a:r>
          </a:p>
        </p:txBody>
      </p:sp>
      <p:cxnSp>
        <p:nvCxnSpPr>
          <p:cNvPr id="19" name="Прямая со стрелкой 18"/>
          <p:cNvCxnSpPr/>
          <p:nvPr/>
        </p:nvCxnSpPr>
        <p:spPr>
          <a:xfrm flipV="1">
            <a:off x="3998457" y="2342545"/>
            <a:ext cx="5913049" cy="2771481"/>
          </a:xfrm>
          <a:prstGeom prst="straightConnector1">
            <a:avLst/>
          </a:prstGeom>
          <a:ln w="571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 rot="20963619">
            <a:off x="6160660" y="4333404"/>
            <a:ext cx="353430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smtClean="0"/>
              <a:t>quick_sort([8, 4, 7, 4])</a:t>
            </a:r>
          </a:p>
          <a:p>
            <a:endParaRPr lang="en-US" sz="2400" smtClean="0"/>
          </a:p>
          <a:p>
            <a:r>
              <a:rPr lang="en-US" sz="2800" smtClean="0"/>
              <a:t>sorted_arr = [4, 4, 7, 8]</a:t>
            </a:r>
          </a:p>
        </p:txBody>
      </p:sp>
      <p:cxnSp>
        <p:nvCxnSpPr>
          <p:cNvPr id="21" name="Прямая со стрелкой 20"/>
          <p:cNvCxnSpPr/>
          <p:nvPr/>
        </p:nvCxnSpPr>
        <p:spPr>
          <a:xfrm flipV="1">
            <a:off x="5033913" y="4515439"/>
            <a:ext cx="4883085" cy="970962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 стрелкой 24"/>
          <p:cNvCxnSpPr/>
          <p:nvPr/>
        </p:nvCxnSpPr>
        <p:spPr>
          <a:xfrm flipV="1">
            <a:off x="5033913" y="4724740"/>
            <a:ext cx="4883085" cy="970962"/>
          </a:xfrm>
          <a:prstGeom prst="straightConnector1">
            <a:avLst/>
          </a:prstGeom>
          <a:ln w="571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2130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7142" y="228652"/>
            <a:ext cx="88234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Швидке сортування (код, 1)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2998" y="1404012"/>
            <a:ext cx="1051088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uk-UA" sz="3200" smtClean="0"/>
              <a:t>Декларація функції;</a:t>
            </a:r>
          </a:p>
          <a:p>
            <a:pPr marL="457200" indent="-457200">
              <a:buFontTx/>
              <a:buChar char="-"/>
            </a:pPr>
            <a:r>
              <a:rPr lang="uk-UA" sz="3200" smtClean="0"/>
              <a:t>Базовий випадок (0 чи 1 елементів в масиві);</a:t>
            </a:r>
            <a:endParaRPr lang="uk-UA" sz="320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7033" y="3007837"/>
            <a:ext cx="6125430" cy="400106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8227" y="3934550"/>
            <a:ext cx="3124636" cy="157184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41082" y="6129181"/>
            <a:ext cx="34240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/>
              <a:t>e1_quick_sort.cpp</a:t>
            </a:r>
            <a:endParaRPr lang="uk-UA" sz="2800" i="1" smtClean="0"/>
          </a:p>
        </p:txBody>
      </p:sp>
    </p:spTree>
    <p:extLst>
      <p:ext uri="{BB962C8B-B14F-4D97-AF65-F5344CB8AC3E}">
        <p14:creationId xmlns:p14="http://schemas.microsoft.com/office/powerpoint/2010/main" val="2637403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7142" y="228652"/>
            <a:ext cx="88234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Швидке сортування (код, 2)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9939" y="1884780"/>
            <a:ext cx="5769204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uk-UA" sz="3200"/>
              <a:t>Вибираємо довільний елемент масиву </a:t>
            </a:r>
            <a:r>
              <a:rPr lang="en-US" sz="3200"/>
              <a:t>pivot</a:t>
            </a:r>
            <a:r>
              <a:rPr lang="uk-UA" sz="3200"/>
              <a:t> (наприклад середній</a:t>
            </a:r>
            <a:r>
              <a:rPr lang="uk-UA" sz="3200" smtClean="0"/>
              <a:t>);</a:t>
            </a:r>
          </a:p>
          <a:p>
            <a:endParaRPr lang="uk-UA" sz="1200"/>
          </a:p>
          <a:p>
            <a:pPr marL="457200" indent="-457200">
              <a:buFontTx/>
              <a:buChar char="-"/>
            </a:pPr>
            <a:r>
              <a:rPr lang="uk-UA" sz="3200"/>
              <a:t>Розділяємо масив на три:</a:t>
            </a:r>
            <a:endParaRPr lang="en-US" sz="320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uk-UA" sz="3200"/>
              <a:t>Числа </a:t>
            </a:r>
            <a:r>
              <a:rPr lang="en-US" sz="3200"/>
              <a:t>&lt;</a:t>
            </a:r>
            <a:r>
              <a:rPr lang="uk-UA" sz="3200"/>
              <a:t> </a:t>
            </a:r>
            <a:r>
              <a:rPr lang="en-US" sz="3200"/>
              <a:t>pivot</a:t>
            </a:r>
            <a:r>
              <a:rPr lang="uk-UA" sz="3200"/>
              <a:t> (</a:t>
            </a:r>
            <a:r>
              <a:rPr lang="uk-UA" sz="3200" smtClean="0"/>
              <a:t>ліва)</a:t>
            </a:r>
            <a:endParaRPr lang="en-US" sz="320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uk-UA" sz="3200"/>
              <a:t>Числа = </a:t>
            </a:r>
            <a:r>
              <a:rPr lang="en-US" sz="3200"/>
              <a:t>pivot</a:t>
            </a:r>
            <a:r>
              <a:rPr lang="uk-UA" sz="3200"/>
              <a:t> (</a:t>
            </a:r>
            <a:r>
              <a:rPr lang="uk-UA" sz="3200" smtClean="0"/>
              <a:t>середня)</a:t>
            </a:r>
            <a:endParaRPr lang="uk-UA" sz="320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uk-UA" sz="3200"/>
              <a:t>Числа </a:t>
            </a:r>
            <a:r>
              <a:rPr lang="en-US" sz="3200"/>
              <a:t>&gt; pivot (</a:t>
            </a:r>
            <a:r>
              <a:rPr lang="uk-UA" sz="3200" smtClean="0"/>
              <a:t>права</a:t>
            </a:r>
            <a:r>
              <a:rPr lang="en-US" sz="3200" smtClean="0"/>
              <a:t>)</a:t>
            </a:r>
            <a:endParaRPr lang="en-US" sz="320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8886" y="1366887"/>
            <a:ext cx="5227647" cy="49066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893948" y="6273539"/>
            <a:ext cx="34240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/>
              <a:t>e1_quick_sort.cpp</a:t>
            </a:r>
            <a:endParaRPr lang="uk-UA" sz="2800" i="1" smtClean="0"/>
          </a:p>
        </p:txBody>
      </p:sp>
    </p:spTree>
    <p:extLst>
      <p:ext uri="{BB962C8B-B14F-4D97-AF65-F5344CB8AC3E}">
        <p14:creationId xmlns:p14="http://schemas.microsoft.com/office/powerpoint/2010/main" val="4125357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7142" y="228652"/>
            <a:ext cx="88234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Швидке сортування (код, 3)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21789" y="1770588"/>
            <a:ext cx="105108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uk-UA" sz="3200" smtClean="0"/>
              <a:t>Рекурсивно сортуємо ліву і праву частину;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2440" y="3066302"/>
            <a:ext cx="7382905" cy="85737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93948" y="6091473"/>
            <a:ext cx="34240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/>
              <a:t>e1_quick_sort.cpp</a:t>
            </a:r>
            <a:endParaRPr lang="uk-UA" sz="2800" i="1" smtClean="0"/>
          </a:p>
        </p:txBody>
      </p:sp>
    </p:spTree>
    <p:extLst>
      <p:ext uri="{BB962C8B-B14F-4D97-AF65-F5344CB8AC3E}">
        <p14:creationId xmlns:p14="http://schemas.microsoft.com/office/powerpoint/2010/main" val="3320222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3442" y="1059649"/>
            <a:ext cx="1051088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uk-UA" sz="3200" smtClean="0"/>
              <a:t>Зливаємо всі масиви разом</a:t>
            </a:r>
            <a:r>
              <a:rPr lang="en-US" sz="3200" smtClean="0"/>
              <a:t>:</a:t>
            </a:r>
          </a:p>
          <a:p>
            <a:r>
              <a:rPr lang="en-US" sz="3200"/>
              <a:t>	</a:t>
            </a:r>
            <a:r>
              <a:rPr lang="en-US" sz="3200" smtClean="0"/>
              <a:t>&lt;</a:t>
            </a:r>
            <a:r>
              <a:rPr lang="uk-UA" sz="3200" smtClean="0"/>
              <a:t>відсортована ліва</a:t>
            </a:r>
            <a:r>
              <a:rPr lang="en-US" sz="3200" smtClean="0"/>
              <a:t>&gt;&lt;</a:t>
            </a:r>
            <a:r>
              <a:rPr lang="uk-UA" sz="3200" smtClean="0"/>
              <a:t>середина</a:t>
            </a:r>
            <a:r>
              <a:rPr lang="en-US" sz="3200" smtClean="0"/>
              <a:t>&gt;&lt;</a:t>
            </a:r>
            <a:r>
              <a:rPr lang="uk-UA" sz="3200" smtClean="0"/>
              <a:t>відсортована права</a:t>
            </a:r>
            <a:r>
              <a:rPr lang="en-US" sz="3200" smtClean="0"/>
              <a:t>&gt;</a:t>
            </a:r>
            <a:endParaRPr lang="uk-UA" sz="320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4674" y="2221709"/>
            <a:ext cx="5552042" cy="44509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27142" y="228652"/>
            <a:ext cx="88234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Швидке сортування (код, 4)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941082" y="6129181"/>
            <a:ext cx="34240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/>
              <a:t>e1_quick_sort.cpp</a:t>
            </a:r>
            <a:endParaRPr lang="uk-UA" sz="2800" i="1" smtClean="0"/>
          </a:p>
        </p:txBody>
      </p:sp>
    </p:spTree>
    <p:extLst>
      <p:ext uri="{BB962C8B-B14F-4D97-AF65-F5344CB8AC3E}">
        <p14:creationId xmlns:p14="http://schemas.microsoft.com/office/powerpoint/2010/main" val="20717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232" y="228652"/>
            <a:ext cx="115195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Швидке сортування (середня складність)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93615" y="6145077"/>
            <a:ext cx="42572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/>
              <a:t>e2_quick_sort_counter.cpp</a:t>
            </a:r>
            <a:endParaRPr lang="uk-UA" sz="2800" i="1" smtClean="0"/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803377"/>
              </p:ext>
            </p:extLst>
          </p:nvPr>
        </p:nvGraphicFramePr>
        <p:xfrm>
          <a:off x="808610" y="1363887"/>
          <a:ext cx="4630655" cy="5273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48528"/>
                <a:gridCol w="3382127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b="1" smtClean="0"/>
                        <a:t>n</a:t>
                      </a:r>
                      <a:endParaRPr lang="uk-UA" sz="32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3200" b="1" smtClean="0"/>
                        <a:t>Операції</a:t>
                      </a:r>
                      <a:endParaRPr lang="uk-UA" sz="3200" b="1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uk-UA" sz="2200" b="1" smtClean="0"/>
                        <a:t>10</a:t>
                      </a:r>
                      <a:endParaRPr lang="uk-UA" sz="22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2200" b="1" smtClean="0"/>
                        <a:t>61</a:t>
                      </a:r>
                      <a:endParaRPr lang="uk-UA" sz="2200" b="1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uk-UA" sz="2200" b="1" smtClean="0"/>
                        <a:t>20</a:t>
                      </a:r>
                      <a:endParaRPr lang="uk-UA" sz="22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2200" b="1" smtClean="0"/>
                        <a:t>149</a:t>
                      </a:r>
                      <a:endParaRPr lang="uk-UA" sz="2200" b="1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uk-UA" sz="2200" b="1" smtClean="0"/>
                        <a:t>35</a:t>
                      </a:r>
                      <a:endParaRPr lang="uk-UA" sz="22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2200" b="1" smtClean="0"/>
                        <a:t>349</a:t>
                      </a:r>
                      <a:endParaRPr lang="uk-UA" sz="2200" b="1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uk-UA" sz="2200" b="1" smtClean="0"/>
                        <a:t>65</a:t>
                      </a:r>
                      <a:endParaRPr lang="uk-UA" sz="22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2200" b="1" smtClean="0"/>
                        <a:t>868</a:t>
                      </a:r>
                      <a:endParaRPr lang="uk-UA" sz="2200" b="1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uk-UA" sz="2200" b="1" smtClean="0"/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2200" b="1" smtClean="0"/>
                        <a:t>1014</a:t>
                      </a:r>
                      <a:endParaRPr lang="uk-UA" sz="2200" b="1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uk-UA" sz="2200" b="1" smtClean="0"/>
                        <a:t>100</a:t>
                      </a:r>
                      <a:endParaRPr lang="uk-UA" sz="22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2200" b="1" smtClean="0"/>
                        <a:t>1431</a:t>
                      </a:r>
                      <a:endParaRPr lang="uk-UA" sz="2200" b="1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uk-UA" sz="2200" b="1" smtClean="0"/>
                        <a:t>200</a:t>
                      </a:r>
                      <a:endParaRPr lang="uk-UA" sz="22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2200" b="1" smtClean="0"/>
                        <a:t>2840</a:t>
                      </a:r>
                      <a:endParaRPr lang="uk-UA" sz="2200" b="1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uk-UA" sz="2200" b="1" smtClean="0"/>
                        <a:t>350</a:t>
                      </a:r>
                      <a:endParaRPr lang="uk-UA" sz="22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2200" b="1" smtClean="0"/>
                        <a:t>6278</a:t>
                      </a:r>
                      <a:endParaRPr lang="uk-UA" sz="2200" b="1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uk-UA" sz="2200" b="1" smtClean="0"/>
                        <a:t>650</a:t>
                      </a:r>
                      <a:endParaRPr lang="uk-UA" sz="22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2200" b="1" smtClean="0"/>
                        <a:t>13127</a:t>
                      </a:r>
                      <a:endParaRPr lang="uk-UA" sz="2200" b="1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uk-UA" sz="2200" b="1" smtClean="0"/>
                        <a:t>800</a:t>
                      </a:r>
                      <a:endParaRPr lang="uk-UA" sz="22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2200" b="1" smtClean="0"/>
                        <a:t>15974</a:t>
                      </a:r>
                      <a:endParaRPr lang="uk-UA" sz="2200" b="1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uk-UA" sz="2200" b="1" smtClean="0"/>
                        <a:t>1000</a:t>
                      </a:r>
                      <a:endParaRPr lang="uk-UA" sz="22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2200" b="1" smtClean="0"/>
                        <a:t>21886</a:t>
                      </a:r>
                      <a:endParaRPr lang="uk-UA" sz="2200" b="1"/>
                    </a:p>
                  </a:txBody>
                  <a:tcPr/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798434" y="5600787"/>
                <a:ext cx="2362826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𝒍𝒐𝒈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uk-UA" sz="3200" b="1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8434" y="5600787"/>
                <a:ext cx="2362826" cy="492443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Рисунок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2835" y="1351836"/>
            <a:ext cx="5212090" cy="4197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972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232" y="96572"/>
            <a:ext cx="115195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Швидке сортування (контрприклад)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170493" y="1078837"/>
            <a:ext cx="9500649" cy="60112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smtClean="0">
                <a:solidFill>
                  <a:schemeClr val="tx1"/>
                </a:solidFill>
              </a:rPr>
              <a:t>quick_sort([6, 4, 2, 1, 3, 5, 7]</a:t>
            </a:r>
            <a:r>
              <a:rPr lang="uk-UA" sz="2800" smtClean="0">
                <a:solidFill>
                  <a:schemeClr val="tx1"/>
                </a:solidFill>
              </a:rPr>
              <a:t>)</a:t>
            </a:r>
            <a:r>
              <a:rPr lang="en-US" sz="2800" smtClean="0">
                <a:solidFill>
                  <a:schemeClr val="tx1"/>
                </a:solidFill>
              </a:rPr>
              <a:t>    pivot = 1</a:t>
            </a:r>
            <a:endParaRPr lang="uk-UA" sz="2800" smtClean="0">
              <a:solidFill>
                <a:schemeClr val="tx1"/>
              </a:solidFill>
            </a:endParaRPr>
          </a:p>
        </p:txBody>
      </p:sp>
      <p:cxnSp>
        <p:nvCxnSpPr>
          <p:cNvPr id="5" name="Прямая со стрелкой 4"/>
          <p:cNvCxnSpPr>
            <a:stCxn id="3" idx="2"/>
          </p:cNvCxnSpPr>
          <p:nvPr/>
        </p:nvCxnSpPr>
        <p:spPr>
          <a:xfrm flipH="1">
            <a:off x="5910606" y="1679961"/>
            <a:ext cx="10212" cy="24509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Прямоугольник 7"/>
          <p:cNvSpPr/>
          <p:nvPr/>
        </p:nvSpPr>
        <p:spPr>
          <a:xfrm>
            <a:off x="1170493" y="1925058"/>
            <a:ext cx="9500649" cy="60112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quick_sort([6, 4, </a:t>
            </a:r>
            <a:r>
              <a:rPr lang="en-US" sz="2800" smtClean="0">
                <a:solidFill>
                  <a:schemeClr val="tx1"/>
                </a:solidFill>
              </a:rPr>
              <a:t>2, </a:t>
            </a:r>
            <a:r>
              <a:rPr lang="en-US" sz="2800">
                <a:solidFill>
                  <a:schemeClr val="tx1"/>
                </a:solidFill>
              </a:rPr>
              <a:t>3, 5, 7]</a:t>
            </a:r>
            <a:r>
              <a:rPr lang="uk-UA" sz="2800">
                <a:solidFill>
                  <a:schemeClr val="tx1"/>
                </a:solidFill>
              </a:rPr>
              <a:t>)</a:t>
            </a:r>
            <a:r>
              <a:rPr lang="en-US" sz="2800">
                <a:solidFill>
                  <a:schemeClr val="tx1"/>
                </a:solidFill>
              </a:rPr>
              <a:t>    pivot = </a:t>
            </a:r>
            <a:r>
              <a:rPr lang="en-US" sz="2800" smtClean="0">
                <a:solidFill>
                  <a:schemeClr val="tx1"/>
                </a:solidFill>
              </a:rPr>
              <a:t>2</a:t>
            </a:r>
            <a:endParaRPr lang="uk-UA" sz="2800">
              <a:solidFill>
                <a:schemeClr val="tx1"/>
              </a:solidFill>
            </a:endParaRPr>
          </a:p>
        </p:txBody>
      </p:sp>
      <p:cxnSp>
        <p:nvCxnSpPr>
          <p:cNvPr id="9" name="Прямая со стрелкой 8"/>
          <p:cNvCxnSpPr>
            <a:stCxn id="8" idx="2"/>
          </p:cNvCxnSpPr>
          <p:nvPr/>
        </p:nvCxnSpPr>
        <p:spPr>
          <a:xfrm flipH="1">
            <a:off x="5910606" y="2526182"/>
            <a:ext cx="10212" cy="24509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Прямоугольник 9"/>
          <p:cNvSpPr/>
          <p:nvPr/>
        </p:nvSpPr>
        <p:spPr>
          <a:xfrm>
            <a:off x="1170493" y="2761853"/>
            <a:ext cx="9500649" cy="60112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quick_sort([6, </a:t>
            </a:r>
            <a:r>
              <a:rPr lang="en-US" sz="2800" smtClean="0">
                <a:solidFill>
                  <a:schemeClr val="tx1"/>
                </a:solidFill>
              </a:rPr>
              <a:t>4, 3, 5</a:t>
            </a:r>
            <a:r>
              <a:rPr lang="en-US" sz="2800">
                <a:solidFill>
                  <a:schemeClr val="tx1"/>
                </a:solidFill>
              </a:rPr>
              <a:t>, 7]</a:t>
            </a:r>
            <a:r>
              <a:rPr lang="uk-UA" sz="2800">
                <a:solidFill>
                  <a:schemeClr val="tx1"/>
                </a:solidFill>
              </a:rPr>
              <a:t>)</a:t>
            </a:r>
            <a:r>
              <a:rPr lang="en-US" sz="2800">
                <a:solidFill>
                  <a:schemeClr val="tx1"/>
                </a:solidFill>
              </a:rPr>
              <a:t>    pivot = </a:t>
            </a:r>
            <a:r>
              <a:rPr lang="en-US" sz="2800" smtClean="0">
                <a:solidFill>
                  <a:schemeClr val="tx1"/>
                </a:solidFill>
              </a:rPr>
              <a:t>3</a:t>
            </a:r>
            <a:endParaRPr lang="uk-UA" sz="2800">
              <a:solidFill>
                <a:schemeClr val="tx1"/>
              </a:solidFill>
            </a:endParaRPr>
          </a:p>
        </p:txBody>
      </p:sp>
      <p:cxnSp>
        <p:nvCxnSpPr>
          <p:cNvPr id="11" name="Прямая со стрелкой 10"/>
          <p:cNvCxnSpPr>
            <a:stCxn id="10" idx="2"/>
          </p:cNvCxnSpPr>
          <p:nvPr/>
        </p:nvCxnSpPr>
        <p:spPr>
          <a:xfrm flipH="1">
            <a:off x="5910606" y="3362977"/>
            <a:ext cx="10212" cy="24509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Прямоугольник 11"/>
          <p:cNvSpPr/>
          <p:nvPr/>
        </p:nvSpPr>
        <p:spPr>
          <a:xfrm>
            <a:off x="1170493" y="3598648"/>
            <a:ext cx="9500649" cy="60112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quick_sort([6, 4, </a:t>
            </a:r>
            <a:r>
              <a:rPr lang="en-US" sz="2800" smtClean="0">
                <a:solidFill>
                  <a:schemeClr val="tx1"/>
                </a:solidFill>
              </a:rPr>
              <a:t>5</a:t>
            </a:r>
            <a:r>
              <a:rPr lang="en-US" sz="2800">
                <a:solidFill>
                  <a:schemeClr val="tx1"/>
                </a:solidFill>
              </a:rPr>
              <a:t>, 7]</a:t>
            </a:r>
            <a:r>
              <a:rPr lang="uk-UA" sz="2800">
                <a:solidFill>
                  <a:schemeClr val="tx1"/>
                </a:solidFill>
              </a:rPr>
              <a:t>)</a:t>
            </a:r>
            <a:r>
              <a:rPr lang="en-US" sz="2800">
                <a:solidFill>
                  <a:schemeClr val="tx1"/>
                </a:solidFill>
              </a:rPr>
              <a:t>    pivot = </a:t>
            </a:r>
            <a:r>
              <a:rPr lang="en-US" sz="2800" smtClean="0">
                <a:solidFill>
                  <a:schemeClr val="tx1"/>
                </a:solidFill>
              </a:rPr>
              <a:t>4</a:t>
            </a:r>
            <a:endParaRPr lang="uk-UA" sz="2800">
              <a:solidFill>
                <a:schemeClr val="tx1"/>
              </a:solidFill>
            </a:endParaRPr>
          </a:p>
        </p:txBody>
      </p:sp>
      <p:cxnSp>
        <p:nvCxnSpPr>
          <p:cNvPr id="13" name="Прямая со стрелкой 12"/>
          <p:cNvCxnSpPr>
            <a:stCxn id="12" idx="2"/>
          </p:cNvCxnSpPr>
          <p:nvPr/>
        </p:nvCxnSpPr>
        <p:spPr>
          <a:xfrm flipH="1">
            <a:off x="5910606" y="4199772"/>
            <a:ext cx="10212" cy="24509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Прямоугольник 13"/>
          <p:cNvSpPr/>
          <p:nvPr/>
        </p:nvSpPr>
        <p:spPr>
          <a:xfrm>
            <a:off x="1170493" y="4426017"/>
            <a:ext cx="9500649" cy="60112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quick_sort([6, </a:t>
            </a:r>
            <a:r>
              <a:rPr lang="en-US" sz="2800" smtClean="0">
                <a:solidFill>
                  <a:schemeClr val="tx1"/>
                </a:solidFill>
              </a:rPr>
              <a:t>5</a:t>
            </a:r>
            <a:r>
              <a:rPr lang="en-US" sz="2800">
                <a:solidFill>
                  <a:schemeClr val="tx1"/>
                </a:solidFill>
              </a:rPr>
              <a:t>, 7]</a:t>
            </a:r>
            <a:r>
              <a:rPr lang="uk-UA" sz="2800">
                <a:solidFill>
                  <a:schemeClr val="tx1"/>
                </a:solidFill>
              </a:rPr>
              <a:t>)</a:t>
            </a:r>
            <a:r>
              <a:rPr lang="en-US" sz="2800">
                <a:solidFill>
                  <a:schemeClr val="tx1"/>
                </a:solidFill>
              </a:rPr>
              <a:t>    pivot = </a:t>
            </a:r>
            <a:r>
              <a:rPr lang="en-US" sz="2800" smtClean="0">
                <a:solidFill>
                  <a:schemeClr val="tx1"/>
                </a:solidFill>
              </a:rPr>
              <a:t>5</a:t>
            </a:r>
            <a:endParaRPr lang="uk-UA" sz="2800">
              <a:solidFill>
                <a:schemeClr val="tx1"/>
              </a:solidFill>
            </a:endParaRPr>
          </a:p>
        </p:txBody>
      </p:sp>
      <p:cxnSp>
        <p:nvCxnSpPr>
          <p:cNvPr id="15" name="Прямая со стрелкой 14"/>
          <p:cNvCxnSpPr>
            <a:stCxn id="14" idx="2"/>
          </p:cNvCxnSpPr>
          <p:nvPr/>
        </p:nvCxnSpPr>
        <p:spPr>
          <a:xfrm flipH="1">
            <a:off x="5910606" y="5027141"/>
            <a:ext cx="10212" cy="24509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Прямоугольник 15"/>
          <p:cNvSpPr/>
          <p:nvPr/>
        </p:nvSpPr>
        <p:spPr>
          <a:xfrm>
            <a:off x="1170493" y="5253386"/>
            <a:ext cx="9500649" cy="60112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quick_sort([</a:t>
            </a:r>
            <a:r>
              <a:rPr lang="en-US" sz="2800" smtClean="0">
                <a:solidFill>
                  <a:schemeClr val="tx1"/>
                </a:solidFill>
              </a:rPr>
              <a:t>6, 7</a:t>
            </a:r>
            <a:r>
              <a:rPr lang="en-US" sz="2800">
                <a:solidFill>
                  <a:schemeClr val="tx1"/>
                </a:solidFill>
              </a:rPr>
              <a:t>]</a:t>
            </a:r>
            <a:r>
              <a:rPr lang="uk-UA" sz="2800">
                <a:solidFill>
                  <a:schemeClr val="tx1"/>
                </a:solidFill>
              </a:rPr>
              <a:t>)</a:t>
            </a:r>
            <a:r>
              <a:rPr lang="en-US" sz="2800">
                <a:solidFill>
                  <a:schemeClr val="tx1"/>
                </a:solidFill>
              </a:rPr>
              <a:t>    pivot = </a:t>
            </a:r>
            <a:r>
              <a:rPr lang="en-US" sz="2800" smtClean="0">
                <a:solidFill>
                  <a:schemeClr val="tx1"/>
                </a:solidFill>
              </a:rPr>
              <a:t>6</a:t>
            </a:r>
            <a:endParaRPr lang="uk-UA" sz="2800">
              <a:solidFill>
                <a:schemeClr val="tx1"/>
              </a:solidFill>
            </a:endParaRPr>
          </a:p>
        </p:txBody>
      </p:sp>
      <p:cxnSp>
        <p:nvCxnSpPr>
          <p:cNvPr id="17" name="Прямая со стрелкой 16"/>
          <p:cNvCxnSpPr>
            <a:stCxn id="16" idx="2"/>
          </p:cNvCxnSpPr>
          <p:nvPr/>
        </p:nvCxnSpPr>
        <p:spPr>
          <a:xfrm flipH="1">
            <a:off x="5910606" y="5854510"/>
            <a:ext cx="10212" cy="24509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Прямоугольник 17"/>
          <p:cNvSpPr/>
          <p:nvPr/>
        </p:nvSpPr>
        <p:spPr>
          <a:xfrm>
            <a:off x="1170493" y="6076870"/>
            <a:ext cx="9500649" cy="60112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quick_sort</a:t>
            </a:r>
            <a:r>
              <a:rPr lang="en-US" sz="2800" smtClean="0">
                <a:solidFill>
                  <a:schemeClr val="tx1"/>
                </a:solidFill>
              </a:rPr>
              <a:t>([7]</a:t>
            </a:r>
            <a:r>
              <a:rPr lang="en-US" sz="2800">
                <a:solidFill>
                  <a:schemeClr val="tx1"/>
                </a:solidFill>
              </a:rPr>
              <a:t>)</a:t>
            </a:r>
            <a:endParaRPr lang="uk-UA" sz="2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0960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232" y="228652"/>
            <a:ext cx="115195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Швидке сортування (найгірша складність)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93615" y="6145077"/>
            <a:ext cx="42572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/>
              <a:t>e2_quick_sort_counter.cpp</a:t>
            </a:r>
            <a:endParaRPr lang="uk-UA" sz="2800" i="1" smtClean="0"/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768357"/>
              </p:ext>
            </p:extLst>
          </p:nvPr>
        </p:nvGraphicFramePr>
        <p:xfrm>
          <a:off x="808610" y="1363887"/>
          <a:ext cx="4630655" cy="5273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48528"/>
                <a:gridCol w="3382127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b="1" smtClean="0"/>
                        <a:t>n</a:t>
                      </a:r>
                      <a:endParaRPr lang="uk-UA" sz="32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3200" b="1" smtClean="0"/>
                        <a:t>Операції</a:t>
                      </a:r>
                      <a:endParaRPr lang="uk-UA" sz="3200" b="1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uk-UA" sz="2200" b="1" smtClean="0"/>
                        <a:t>10</a:t>
                      </a:r>
                      <a:endParaRPr lang="uk-UA" sz="22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smtClean="0"/>
                        <a:t>85</a:t>
                      </a:r>
                      <a:endParaRPr lang="uk-UA" sz="2200" b="1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uk-UA" sz="2200" b="1" smtClean="0"/>
                        <a:t>20</a:t>
                      </a:r>
                      <a:endParaRPr lang="uk-UA" sz="22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2200" b="1" smtClean="0"/>
                        <a:t>270</a:t>
                      </a:r>
                      <a:endParaRPr lang="uk-UA" sz="2200" b="1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uk-UA" sz="2200" b="1" smtClean="0"/>
                        <a:t>35</a:t>
                      </a:r>
                      <a:endParaRPr lang="uk-UA" sz="22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2200" b="1" smtClean="0"/>
                        <a:t>738</a:t>
                      </a:r>
                      <a:endParaRPr lang="uk-UA" sz="2200" b="1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uk-UA" sz="2200" b="1" smtClean="0"/>
                        <a:t>65</a:t>
                      </a:r>
                      <a:endParaRPr lang="uk-UA" sz="22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2200" b="1" smtClean="0"/>
                        <a:t>2343</a:t>
                      </a:r>
                      <a:endParaRPr lang="uk-UA" sz="2200" b="1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uk-UA" sz="2200" b="1" smtClean="0"/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2200" b="1" smtClean="0"/>
                        <a:t>3480</a:t>
                      </a:r>
                      <a:endParaRPr lang="uk-UA" sz="2200" b="1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uk-UA" sz="2200" b="1" smtClean="0"/>
                        <a:t>100</a:t>
                      </a:r>
                      <a:endParaRPr lang="uk-UA" sz="22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2200" b="1" smtClean="0"/>
                        <a:t>5350</a:t>
                      </a:r>
                      <a:endParaRPr lang="uk-UA" sz="2200" b="1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uk-UA" sz="2200" b="1" smtClean="0"/>
                        <a:t>200</a:t>
                      </a:r>
                      <a:endParaRPr lang="uk-UA" sz="22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2200" b="1" smtClean="0"/>
                        <a:t>20700</a:t>
                      </a:r>
                      <a:endParaRPr lang="uk-UA" sz="2200" b="1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uk-UA" sz="2200" b="1" smtClean="0"/>
                        <a:t>350</a:t>
                      </a:r>
                      <a:endParaRPr lang="uk-UA" sz="22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2200" b="1" smtClean="0"/>
                        <a:t>62475</a:t>
                      </a:r>
                      <a:endParaRPr lang="uk-UA" sz="2200" b="1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uk-UA" sz="2200" b="1" smtClean="0"/>
                        <a:t>650</a:t>
                      </a:r>
                      <a:endParaRPr lang="uk-UA" sz="22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2200" b="1" smtClean="0"/>
                        <a:t>213525</a:t>
                      </a:r>
                      <a:endParaRPr lang="uk-UA" sz="2200" b="1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uk-UA" sz="2200" b="1" smtClean="0"/>
                        <a:t>800</a:t>
                      </a:r>
                      <a:endParaRPr lang="uk-UA" sz="22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2200" b="1" smtClean="0"/>
                        <a:t>322800</a:t>
                      </a:r>
                      <a:endParaRPr lang="uk-UA" sz="2200" b="1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uk-UA" sz="2200" b="1" smtClean="0"/>
                        <a:t>1000</a:t>
                      </a:r>
                      <a:endParaRPr lang="uk-UA" sz="22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2200" b="1" smtClean="0"/>
                        <a:t>503500</a:t>
                      </a:r>
                      <a:endParaRPr lang="uk-UA" sz="2200" b="1"/>
                    </a:p>
                  </a:txBody>
                  <a:tcPr/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930514" y="5709643"/>
                <a:ext cx="1196866" cy="5035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p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3200" b="1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0514" y="5709643"/>
                <a:ext cx="1196866" cy="503599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Рисунок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594" y="1348736"/>
            <a:ext cx="5303531" cy="4160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040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7142" y="228652"/>
            <a:ext cx="88234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Сортування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 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злиттям (алгоритм)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2999" y="2104946"/>
            <a:ext cx="841164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3200" b="1" smtClean="0"/>
              <a:t>Алгоритм</a:t>
            </a:r>
            <a:r>
              <a:rPr lang="en-US" sz="3200" b="1" smtClean="0"/>
              <a:t>:</a:t>
            </a:r>
          </a:p>
          <a:p>
            <a:pPr marL="457200" indent="-457200">
              <a:buFontTx/>
              <a:buChar char="-"/>
            </a:pPr>
            <a:r>
              <a:rPr lang="uk-UA" sz="3200" smtClean="0"/>
              <a:t>Розділяємо</a:t>
            </a:r>
            <a:r>
              <a:rPr lang="en-US" sz="3200" smtClean="0"/>
              <a:t> </a:t>
            </a:r>
            <a:r>
              <a:rPr lang="uk-UA" sz="3200" smtClean="0"/>
              <a:t>масив посередині на дві частини (ліву і праву);</a:t>
            </a:r>
          </a:p>
          <a:p>
            <a:pPr marL="457200" indent="-457200">
              <a:buFontTx/>
              <a:buChar char="-"/>
            </a:pPr>
            <a:r>
              <a:rPr lang="uk-UA" sz="3200" smtClean="0"/>
              <a:t>Рекурсивно сортуємо ліву і праву частину;</a:t>
            </a:r>
          </a:p>
          <a:p>
            <a:pPr marL="457200" indent="-457200">
              <a:buFontTx/>
              <a:buChar char="-"/>
            </a:pPr>
            <a:r>
              <a:rPr lang="uk-UA" sz="3200" smtClean="0"/>
              <a:t>Зливаємо дві частини разом.</a:t>
            </a:r>
            <a:endParaRPr lang="uk-UA" sz="3200"/>
          </a:p>
        </p:txBody>
      </p:sp>
    </p:spTree>
    <p:extLst>
      <p:ext uri="{BB962C8B-B14F-4D97-AF65-F5344CB8AC3E}">
        <p14:creationId xmlns:p14="http://schemas.microsoft.com/office/powerpoint/2010/main" val="2237646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7142" y="313493"/>
            <a:ext cx="88234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>
                <a:solidFill>
                  <a:srgbClr val="002060"/>
                </a:solidFill>
                <a:cs typeface="Arial" panose="020B0604020202020204" pitchFamily="34" charset="0"/>
              </a:rPr>
              <a:t>Сортування</a:t>
            </a:r>
            <a:r>
              <a:rPr lang="en-US" sz="4800" b="1">
                <a:solidFill>
                  <a:srgbClr val="002060"/>
                </a:solidFill>
                <a:cs typeface="Arial" panose="020B0604020202020204" pitchFamily="34" charset="0"/>
              </a:rPr>
              <a:t> 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злиттям (</a:t>
            </a:r>
            <a:r>
              <a:rPr lang="uk-UA" sz="4800" b="1">
                <a:solidFill>
                  <a:srgbClr val="002060"/>
                </a:solidFill>
                <a:cs typeface="Arial" panose="020B0604020202020204" pitchFamily="34" charset="0"/>
              </a:rPr>
              <a:t>приклад)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056640" y="1350224"/>
            <a:ext cx="5023647" cy="7070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smtClean="0">
                <a:solidFill>
                  <a:schemeClr val="tx1"/>
                </a:solidFill>
              </a:rPr>
              <a:t>merge_sort([8, 3, 2, 3, 4, 7, 1, 4])</a:t>
            </a:r>
            <a:endParaRPr lang="uk-UA" sz="2800">
              <a:solidFill>
                <a:schemeClr val="tx1"/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619261" y="2627856"/>
            <a:ext cx="6064374" cy="360022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sz="2800"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38627" y="2627856"/>
            <a:ext cx="5625643" cy="34778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smtClean="0"/>
              <a:t>left = [8, 3, 2, 3]</a:t>
            </a:r>
          </a:p>
          <a:p>
            <a:r>
              <a:rPr lang="en-US" sz="3200" smtClean="0"/>
              <a:t>right = [4, 7, 1, 4]</a:t>
            </a:r>
          </a:p>
          <a:p>
            <a:endParaRPr lang="en-US" sz="1200" smtClean="0"/>
          </a:p>
          <a:p>
            <a:r>
              <a:rPr lang="en-US" sz="3200" smtClean="0"/>
              <a:t>sorted_left = [2, 3, 3, 8]</a:t>
            </a:r>
          </a:p>
          <a:p>
            <a:r>
              <a:rPr lang="en-US" sz="3200" smtClean="0"/>
              <a:t>sorted_right = [1, 4, 4, 7]</a:t>
            </a:r>
          </a:p>
          <a:p>
            <a:endParaRPr lang="en-US" sz="1200" smtClean="0"/>
          </a:p>
          <a:p>
            <a:r>
              <a:rPr lang="en-US" sz="2400" b="1" smtClean="0">
                <a:solidFill>
                  <a:schemeClr val="accent6">
                    <a:lumMod val="75000"/>
                  </a:schemeClr>
                </a:solidFill>
              </a:rPr>
              <a:t>???</a:t>
            </a:r>
          </a:p>
          <a:p>
            <a:endParaRPr lang="en-US" sz="1200" smtClean="0"/>
          </a:p>
          <a:p>
            <a:r>
              <a:rPr lang="en-US" sz="3200" smtClean="0"/>
              <a:t>sorted_arr = [1, 2, 3, 3, 4, 4, 7, 8]</a:t>
            </a:r>
            <a:endParaRPr lang="uk-UA" sz="3200"/>
          </a:p>
        </p:txBody>
      </p:sp>
      <p:cxnSp>
        <p:nvCxnSpPr>
          <p:cNvPr id="9" name="Прямая со стрелкой 8"/>
          <p:cNvCxnSpPr>
            <a:stCxn id="3" idx="2"/>
            <a:endCxn id="6" idx="0"/>
          </p:cNvCxnSpPr>
          <p:nvPr/>
        </p:nvCxnSpPr>
        <p:spPr>
          <a:xfrm>
            <a:off x="3568464" y="2057234"/>
            <a:ext cx="82984" cy="570622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Прямоугольник 9"/>
          <p:cNvSpPr/>
          <p:nvPr/>
        </p:nvSpPr>
        <p:spPr>
          <a:xfrm>
            <a:off x="9953367" y="1954995"/>
            <a:ext cx="1726443" cy="11358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smtClean="0">
                <a:solidFill>
                  <a:schemeClr val="tx1"/>
                </a:solidFill>
              </a:rPr>
              <a:t>…</a:t>
            </a:r>
            <a:endParaRPr lang="uk-UA" sz="2800" b="1">
              <a:solidFill>
                <a:schemeClr val="tx1"/>
              </a:solidFill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10079873" y="4836664"/>
            <a:ext cx="1726443" cy="11358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smtClean="0">
                <a:solidFill>
                  <a:schemeClr val="tx1"/>
                </a:solidFill>
              </a:rPr>
              <a:t>…</a:t>
            </a:r>
            <a:endParaRPr lang="uk-UA" sz="2800" b="1">
              <a:solidFill>
                <a:schemeClr val="tx1"/>
              </a:solidFill>
            </a:endParaRPr>
          </a:p>
        </p:txBody>
      </p:sp>
      <p:cxnSp>
        <p:nvCxnSpPr>
          <p:cNvPr id="12" name="Прямая со стрелкой 11"/>
          <p:cNvCxnSpPr/>
          <p:nvPr/>
        </p:nvCxnSpPr>
        <p:spPr>
          <a:xfrm flipV="1">
            <a:off x="4886960" y="2149312"/>
            <a:ext cx="5047552" cy="1795505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 rot="20421727">
            <a:off x="5748174" y="2365816"/>
            <a:ext cx="355270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smtClean="0"/>
              <a:t>merge_sort([8, 3, 2, 3])</a:t>
            </a:r>
          </a:p>
          <a:p>
            <a:endParaRPr lang="en-US" sz="2800" smtClean="0"/>
          </a:p>
          <a:p>
            <a:r>
              <a:rPr lang="en-US" sz="2800" smtClean="0"/>
              <a:t>sorted_arr = [2, 3, 3, 8]</a:t>
            </a:r>
          </a:p>
        </p:txBody>
      </p:sp>
      <p:cxnSp>
        <p:nvCxnSpPr>
          <p:cNvPr id="19" name="Прямая со стрелкой 18"/>
          <p:cNvCxnSpPr/>
          <p:nvPr/>
        </p:nvCxnSpPr>
        <p:spPr>
          <a:xfrm flipV="1">
            <a:off x="4886960" y="2342546"/>
            <a:ext cx="5024546" cy="1829319"/>
          </a:xfrm>
          <a:prstGeom prst="straightConnector1">
            <a:avLst/>
          </a:prstGeom>
          <a:ln w="571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 rot="563172">
            <a:off x="6169214" y="4365148"/>
            <a:ext cx="355270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smtClean="0"/>
              <a:t>merge_sort([4, 7, 4, 1])</a:t>
            </a:r>
          </a:p>
          <a:p>
            <a:endParaRPr lang="en-US" sz="2400" smtClean="0"/>
          </a:p>
          <a:p>
            <a:r>
              <a:rPr lang="en-US" sz="2800" smtClean="0"/>
              <a:t>sorted_arr = [1, 4, 4, 7]</a:t>
            </a:r>
          </a:p>
        </p:txBody>
      </p:sp>
      <p:cxnSp>
        <p:nvCxnSpPr>
          <p:cNvPr id="21" name="Прямая со стрелкой 20"/>
          <p:cNvCxnSpPr/>
          <p:nvPr/>
        </p:nvCxnSpPr>
        <p:spPr>
          <a:xfrm>
            <a:off x="5033913" y="4515439"/>
            <a:ext cx="5045960" cy="788081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 стрелкой 24"/>
          <p:cNvCxnSpPr/>
          <p:nvPr/>
        </p:nvCxnSpPr>
        <p:spPr>
          <a:xfrm>
            <a:off x="5033913" y="4703427"/>
            <a:ext cx="5045960" cy="808013"/>
          </a:xfrm>
          <a:prstGeom prst="straightConnector1">
            <a:avLst/>
          </a:prstGeom>
          <a:ln w="571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8579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7142" y="228652"/>
            <a:ext cx="88234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>
                <a:solidFill>
                  <a:srgbClr val="002060"/>
                </a:solidFill>
                <a:cs typeface="Arial" panose="020B0604020202020204" pitchFamily="34" charset="0"/>
              </a:rPr>
              <a:t>Сортування</a:t>
            </a:r>
            <a:r>
              <a:rPr lang="en-US" sz="4800" b="1">
                <a:solidFill>
                  <a:srgbClr val="002060"/>
                </a:solidFill>
                <a:cs typeface="Arial" panose="020B0604020202020204" pitchFamily="34" charset="0"/>
              </a:rPr>
              <a:t> 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злиттям (</a:t>
            </a:r>
            <a:r>
              <a:rPr lang="uk-UA" sz="4800" b="1">
                <a:solidFill>
                  <a:srgbClr val="002060"/>
                </a:solidFill>
                <a:cs typeface="Arial" panose="020B0604020202020204" pitchFamily="34" charset="0"/>
              </a:rPr>
              <a:t>код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, 1)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2998" y="1404012"/>
            <a:ext cx="1051088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uk-UA" sz="3200" smtClean="0"/>
              <a:t>Декларація функції;</a:t>
            </a:r>
          </a:p>
          <a:p>
            <a:pPr marL="457200" indent="-457200">
              <a:buFontTx/>
              <a:buChar char="-"/>
            </a:pPr>
            <a:r>
              <a:rPr lang="uk-UA" sz="3200" smtClean="0"/>
              <a:t>Базовий випадок (0 чи 1 елементів в масиві);</a:t>
            </a:r>
            <a:endParaRPr lang="uk-UA" sz="320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8227" y="3934550"/>
            <a:ext cx="3124636" cy="1571844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366" y="3003074"/>
            <a:ext cx="6001588" cy="4096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32282" y="5766628"/>
            <a:ext cx="34240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/>
              <a:t>e3_merge_sort.cpp</a:t>
            </a:r>
            <a:endParaRPr lang="uk-UA" sz="2800" i="1" smtClean="0"/>
          </a:p>
        </p:txBody>
      </p:sp>
    </p:spTree>
    <p:extLst>
      <p:ext uri="{BB962C8B-B14F-4D97-AF65-F5344CB8AC3E}">
        <p14:creationId xmlns:p14="http://schemas.microsoft.com/office/powerpoint/2010/main" val="3361110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7142" y="228652"/>
            <a:ext cx="88234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>
                <a:solidFill>
                  <a:srgbClr val="002060"/>
                </a:solidFill>
                <a:cs typeface="Arial" panose="020B0604020202020204" pitchFamily="34" charset="0"/>
              </a:rPr>
              <a:t>Сортування</a:t>
            </a:r>
            <a:r>
              <a:rPr lang="en-US" sz="4800" b="1">
                <a:solidFill>
                  <a:srgbClr val="002060"/>
                </a:solidFill>
                <a:cs typeface="Arial" panose="020B0604020202020204" pitchFamily="34" charset="0"/>
              </a:rPr>
              <a:t> 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злиттям (</a:t>
            </a:r>
            <a:r>
              <a:rPr lang="uk-UA" sz="4800" b="1">
                <a:solidFill>
                  <a:srgbClr val="002060"/>
                </a:solidFill>
                <a:cs typeface="Arial" panose="020B0604020202020204" pitchFamily="34" charset="0"/>
              </a:rPr>
              <a:t>код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, 2)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9939" y="2331820"/>
            <a:ext cx="576920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uk-UA" sz="3200"/>
              <a:t>Розділяємо</a:t>
            </a:r>
            <a:r>
              <a:rPr lang="en-US" sz="3200"/>
              <a:t> </a:t>
            </a:r>
            <a:r>
              <a:rPr lang="uk-UA" sz="3200"/>
              <a:t>масив посередині на дві частини (ліву і праву);</a:t>
            </a:r>
          </a:p>
          <a:p>
            <a:endParaRPr lang="uk-UA" sz="120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8886" y="1847065"/>
            <a:ext cx="5687219" cy="363905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32282" y="5589912"/>
            <a:ext cx="34240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/>
              <a:t>e3_merge_sort.cpp</a:t>
            </a:r>
            <a:endParaRPr lang="uk-UA" sz="2800" i="1" smtClean="0"/>
          </a:p>
        </p:txBody>
      </p:sp>
    </p:spTree>
    <p:extLst>
      <p:ext uri="{BB962C8B-B14F-4D97-AF65-F5344CB8AC3E}">
        <p14:creationId xmlns:p14="http://schemas.microsoft.com/office/powerpoint/2010/main" val="1779709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7142" y="228652"/>
            <a:ext cx="88234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>
                <a:solidFill>
                  <a:srgbClr val="002060"/>
                </a:solidFill>
                <a:cs typeface="Arial" panose="020B0604020202020204" pitchFamily="34" charset="0"/>
              </a:rPr>
              <a:t>Сортування</a:t>
            </a:r>
            <a:r>
              <a:rPr lang="en-US" sz="4800" b="1">
                <a:solidFill>
                  <a:srgbClr val="002060"/>
                </a:solidFill>
                <a:cs typeface="Arial" panose="020B0604020202020204" pitchFamily="34" charset="0"/>
              </a:rPr>
              <a:t> 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злиттям (</a:t>
            </a:r>
            <a:r>
              <a:rPr lang="uk-UA" sz="4800" b="1">
                <a:solidFill>
                  <a:srgbClr val="002060"/>
                </a:solidFill>
                <a:cs typeface="Arial" panose="020B0604020202020204" pitchFamily="34" charset="0"/>
              </a:rPr>
              <a:t>код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, 3)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21789" y="1770588"/>
            <a:ext cx="105108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uk-UA" sz="3200" smtClean="0"/>
              <a:t>Рекурсивно сортуємо ліву і праву частину;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5883" y="3066302"/>
            <a:ext cx="7335274" cy="8002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32282" y="5589912"/>
            <a:ext cx="34240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/>
              <a:t>e3_merge_sort.cpp</a:t>
            </a:r>
            <a:endParaRPr lang="uk-UA" sz="2800" i="1" smtClean="0"/>
          </a:p>
        </p:txBody>
      </p:sp>
    </p:spTree>
    <p:extLst>
      <p:ext uri="{BB962C8B-B14F-4D97-AF65-F5344CB8AC3E}">
        <p14:creationId xmlns:p14="http://schemas.microsoft.com/office/powerpoint/2010/main" val="205953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57528" y="1830873"/>
            <a:ext cx="433927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uk-UA" sz="3200"/>
              <a:t>Зливаємо дві частини разом.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7142" y="228652"/>
            <a:ext cx="88234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>
                <a:solidFill>
                  <a:srgbClr val="002060"/>
                </a:solidFill>
                <a:cs typeface="Arial" panose="020B0604020202020204" pitchFamily="34" charset="0"/>
              </a:rPr>
              <a:t>Сортування</a:t>
            </a:r>
            <a:r>
              <a:rPr lang="en-US" sz="4800" b="1">
                <a:solidFill>
                  <a:srgbClr val="002060"/>
                </a:solidFill>
                <a:cs typeface="Arial" panose="020B0604020202020204" pitchFamily="34" charset="0"/>
              </a:rPr>
              <a:t> 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злиттям (</a:t>
            </a:r>
            <a:r>
              <a:rPr lang="uk-UA" sz="4800" b="1">
                <a:solidFill>
                  <a:srgbClr val="002060"/>
                </a:solidFill>
                <a:cs typeface="Arial" panose="020B0604020202020204" pitchFamily="34" charset="0"/>
              </a:rPr>
              <a:t>код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, 4)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32282" y="5589912"/>
            <a:ext cx="34240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/>
              <a:t>e3_merge_sort.cpp</a:t>
            </a:r>
            <a:endParaRPr lang="uk-UA" sz="2800" i="1" smtClean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1885" y="1138906"/>
            <a:ext cx="5046756" cy="5397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498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6160" y="228652"/>
            <a:ext cx="98653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>
                <a:solidFill>
                  <a:srgbClr val="002060"/>
                </a:solidFill>
                <a:cs typeface="Arial" panose="020B0604020202020204" pitchFamily="34" charset="0"/>
              </a:rPr>
              <a:t>Сортування</a:t>
            </a:r>
            <a:r>
              <a:rPr lang="en-US" sz="4800" b="1">
                <a:solidFill>
                  <a:srgbClr val="002060"/>
                </a:solidFill>
                <a:cs typeface="Arial" panose="020B0604020202020204" pitchFamily="34" charset="0"/>
              </a:rPr>
              <a:t> 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злиттям (</a:t>
            </a:r>
            <a:r>
              <a:rPr lang="uk-UA" sz="4800" b="1">
                <a:solidFill>
                  <a:srgbClr val="002060"/>
                </a:solidFill>
                <a:cs typeface="Arial" panose="020B0604020202020204" pitchFamily="34" charset="0"/>
              </a:rPr>
              <a:t>складність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, 1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)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833958" y="1479553"/>
                <a:ext cx="9966121" cy="2554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uk-UA" sz="3200" smtClean="0"/>
                  <a:t>Кількість операцій </a:t>
                </a:r>
                <a14:m>
                  <m:oMath xmlns:m="http://schemas.openxmlformats.org/officeDocument/2006/math"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) =</m:t>
                    </m:r>
                  </m:oMath>
                </a14:m>
                <a:endParaRPr lang="en-US" sz="3200" b="1" smtClean="0"/>
              </a:p>
              <a:p>
                <a:pPr marL="457200" indent="-457200">
                  <a:buFontTx/>
                  <a:buChar char="-"/>
                </a:pPr>
                <a:r>
                  <a:rPr lang="uk-UA" sz="3200" smtClean="0"/>
                  <a:t>Розділяємо</a:t>
                </a:r>
                <a:r>
                  <a:rPr lang="en-US" sz="3200" smtClean="0"/>
                  <a:t> </a:t>
                </a:r>
                <a:r>
                  <a:rPr lang="uk-UA" sz="3200" smtClean="0"/>
                  <a:t>масив посередині на дві частини (ліву і праву); </a:t>
                </a:r>
                <a14:m>
                  <m:oMath xmlns:m="http://schemas.openxmlformats.org/officeDocument/2006/math"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uk-UA" sz="3200" b="1" smtClean="0"/>
              </a:p>
              <a:p>
                <a:pPr marL="457200" indent="-457200">
                  <a:buFontTx/>
                  <a:buChar char="-"/>
                </a:pPr>
                <a:r>
                  <a:rPr lang="uk-UA" sz="3200" smtClean="0"/>
                  <a:t>Рекурсивно сортуємо ліву і праву частину;</a:t>
                </a:r>
                <a:r>
                  <a:rPr lang="en-US" sz="3200" smtClean="0"/>
                  <a:t> </a:t>
                </a:r>
                <a14:m>
                  <m:oMath xmlns:m="http://schemas.openxmlformats.org/officeDocument/2006/math"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type m:val="skw"/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num>
                      <m:den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uk-UA" sz="3200" b="1" smtClean="0"/>
              </a:p>
              <a:p>
                <a:pPr marL="457200" indent="-457200">
                  <a:buFontTx/>
                  <a:buChar char="-"/>
                </a:pPr>
                <a:r>
                  <a:rPr lang="uk-UA" sz="3200" smtClean="0"/>
                  <a:t>Зливаємо дві частини разом</a:t>
                </a:r>
                <a:r>
                  <a:rPr lang="en-US" sz="3200" smtClean="0"/>
                  <a:t>. </a:t>
                </a:r>
                <a14:m>
                  <m:oMath xmlns:m="http://schemas.openxmlformats.org/officeDocument/2006/math">
                    <m:r>
                      <a:rPr lang="en-US" sz="3200" b="1" i="1"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US" sz="3200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b="1" i="1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32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uk-UA" sz="3200" b="1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958" y="1479553"/>
                <a:ext cx="9966121" cy="2554545"/>
              </a:xfrm>
              <a:prstGeom prst="rect">
                <a:avLst/>
              </a:prstGeom>
              <a:blipFill rotWithShape="0">
                <a:blip r:embed="rId2"/>
                <a:stretch>
                  <a:fillRect l="-1651" t="-2864" b="-7399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Прямоугольник 3"/>
              <p:cNvSpPr/>
              <p:nvPr/>
            </p:nvSpPr>
            <p:spPr>
              <a:xfrm>
                <a:off x="2862190" y="4314025"/>
                <a:ext cx="6193299" cy="8399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4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0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000" b="1" i="1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4000" b="1" i="1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4000" b="1" i="1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4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skw"/>
                              <m:ctrlPr>
                                <a:rPr lang="en-US" sz="4000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4000" b="1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num>
                            <m:den>
                              <m:r>
                                <a:rPr lang="en-US" sz="40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e>
                      </m:d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4000" b="1" i="1"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4000" b="1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4000" b="1" i="1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40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4000" b="1"/>
              </a:p>
            </p:txBody>
          </p:sp>
        </mc:Choice>
        <mc:Fallback xmlns=""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2190" y="4314025"/>
                <a:ext cx="6193299" cy="83991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Прямоугольник 4"/>
              <p:cNvSpPr/>
              <p:nvPr/>
            </p:nvSpPr>
            <p:spPr>
              <a:xfrm>
                <a:off x="3319090" y="5433862"/>
                <a:ext cx="4995855" cy="707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4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0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000" b="1" i="1"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4000" b="1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4000" b="1" i="1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𝒍𝒐𝒈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uk-UA" sz="4000" b="1"/>
              </a:p>
            </p:txBody>
          </p:sp>
        </mc:Choice>
        <mc:Fallback xmlns="">
          <p:sp>
            <p:nvSpPr>
              <p:cNvPr id="5" name="Прямоугольник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9090" y="5433862"/>
                <a:ext cx="4995855" cy="707886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9661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88999" y="198172"/>
            <a:ext cx="101396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>
                <a:solidFill>
                  <a:srgbClr val="002060"/>
                </a:solidFill>
                <a:cs typeface="Arial" panose="020B0604020202020204" pitchFamily="34" charset="0"/>
              </a:rPr>
              <a:t>Сортування</a:t>
            </a:r>
            <a:r>
              <a:rPr lang="en-US" sz="4800" b="1">
                <a:solidFill>
                  <a:srgbClr val="002060"/>
                </a:solidFill>
                <a:cs typeface="Arial" panose="020B0604020202020204" pitchFamily="34" charset="0"/>
              </a:rPr>
              <a:t> 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злиттям (</a:t>
            </a:r>
            <a:r>
              <a:rPr lang="uk-UA" sz="4800" b="1">
                <a:solidFill>
                  <a:srgbClr val="002060"/>
                </a:solidFill>
                <a:cs typeface="Arial" panose="020B0604020202020204" pitchFamily="34" charset="0"/>
              </a:rPr>
              <a:t>складність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, 2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.1)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996098" y="1463086"/>
                <a:ext cx="10250602" cy="30469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uk-UA" sz="3200" smtClean="0"/>
                  <a:t>Інтуїтивно:</a:t>
                </a:r>
              </a:p>
              <a:p>
                <a:pPr marL="457200" indent="-457200">
                  <a:buFontTx/>
                  <a:buChar char="-"/>
                </a:pPr>
                <a:r>
                  <a:rPr lang="uk-UA" sz="3200" smtClean="0"/>
                  <a:t>На кожному кроці рекурсії масив зменшується в 2 рази </a:t>
                </a:r>
                <a:r>
                  <a:rPr lang="en-US" sz="3200" smtClean="0"/>
                  <a:t>=&gt; </a:t>
                </a:r>
                <a:r>
                  <a:rPr lang="uk-UA" sz="3200" smtClean="0"/>
                  <a:t>глибина рекурсії </a:t>
                </a:r>
                <a14:m>
                  <m:oMath xmlns:m="http://schemas.openxmlformats.org/officeDocument/2006/math"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𝒍𝒐𝒈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en-US" sz="3200" smtClean="0"/>
                  <a:t>;</a:t>
                </a:r>
              </a:p>
              <a:p>
                <a:pPr marL="457200" indent="-457200">
                  <a:buFontTx/>
                  <a:buChar char="-"/>
                </a:pPr>
                <a:r>
                  <a:rPr lang="uk-UA" sz="3200" smtClean="0"/>
                  <a:t>На кожній глибині рекурсії кожний елемент обробляється </a:t>
                </a:r>
                <a14:m>
                  <m:oMath xmlns:m="http://schemas.openxmlformats.org/officeDocument/2006/math"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200" smtClean="0"/>
                  <a:t> </a:t>
                </a:r>
                <a:r>
                  <a:rPr lang="uk-UA" sz="3200" smtClean="0"/>
                  <a:t>разів;</a:t>
                </a:r>
              </a:p>
              <a:p>
                <a:pPr marL="457200" indent="-457200">
                  <a:buFontTx/>
                  <a:buChar char="-"/>
                </a:pPr>
                <a:r>
                  <a:rPr lang="uk-UA" sz="3200" smtClean="0"/>
                  <a:t>Всього </a:t>
                </a:r>
                <a14:m>
                  <m:oMath xmlns:m="http://schemas.openxmlformats.org/officeDocument/2006/math"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200" smtClean="0"/>
                  <a:t> </a:t>
                </a:r>
                <a:r>
                  <a:rPr lang="uk-UA" sz="3200" smtClean="0"/>
                  <a:t>елементів.</a:t>
                </a:r>
                <a:endParaRPr lang="uk-UA" sz="320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098" y="1463086"/>
                <a:ext cx="10250602" cy="3046988"/>
              </a:xfrm>
              <a:prstGeom prst="rect">
                <a:avLst/>
              </a:prstGeom>
              <a:blipFill rotWithShape="0">
                <a:blip r:embed="rId2"/>
                <a:stretch>
                  <a:fillRect l="-1546" t="-2600" r="-1665" b="-6000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Прямоугольник 3"/>
              <p:cNvSpPr/>
              <p:nvPr/>
            </p:nvSpPr>
            <p:spPr>
              <a:xfrm>
                <a:off x="3614030" y="4590048"/>
                <a:ext cx="4187493" cy="707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𝒍𝒐𝒈</m:t>
                      </m:r>
                      <m:d>
                        <m:dPr>
                          <m:ctrlPr>
                            <a:rPr lang="en-US" sz="4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0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sz="4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 ∙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40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4000" b="1"/>
              </a:p>
            </p:txBody>
          </p:sp>
        </mc:Choice>
        <mc:Fallback xmlns=""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4030" y="4590048"/>
                <a:ext cx="4187493" cy="707886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Прямоугольник 5"/>
              <p:cNvSpPr/>
              <p:nvPr/>
            </p:nvSpPr>
            <p:spPr>
              <a:xfrm>
                <a:off x="4139398" y="5377908"/>
                <a:ext cx="3136756" cy="707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𝒍𝒐𝒈</m:t>
                      </m:r>
                      <m:d>
                        <m:dPr>
                          <m:ctrlPr>
                            <a:rPr lang="en-US" sz="4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0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sz="40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4000" b="1"/>
              </a:p>
            </p:txBody>
          </p:sp>
        </mc:Choice>
        <mc:Fallback xmlns="">
          <p:sp>
            <p:nvSpPr>
              <p:cNvPr id="6" name="Прямоугольник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9398" y="5377908"/>
                <a:ext cx="3136756" cy="707886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5067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88999" y="198172"/>
            <a:ext cx="101396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>
                <a:solidFill>
                  <a:srgbClr val="002060"/>
                </a:solidFill>
                <a:cs typeface="Arial" panose="020B0604020202020204" pitchFamily="34" charset="0"/>
              </a:rPr>
              <a:t>Сортування</a:t>
            </a:r>
            <a:r>
              <a:rPr lang="en-US" sz="4800" b="1">
                <a:solidFill>
                  <a:srgbClr val="002060"/>
                </a:solidFill>
                <a:cs typeface="Arial" panose="020B0604020202020204" pitchFamily="34" charset="0"/>
              </a:rPr>
              <a:t> 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злиттям (</a:t>
            </a:r>
            <a:r>
              <a:rPr lang="uk-UA" sz="4800" b="1">
                <a:solidFill>
                  <a:srgbClr val="002060"/>
                </a:solidFill>
                <a:cs typeface="Arial" panose="020B0604020202020204" pitchFamily="34" charset="0"/>
              </a:rPr>
              <a:t>складність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, 2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.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2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)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Прямоугольник 5"/>
              <p:cNvSpPr/>
              <p:nvPr/>
            </p:nvSpPr>
            <p:spPr>
              <a:xfrm>
                <a:off x="4652478" y="1001587"/>
                <a:ext cx="3136756" cy="707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𝒍𝒐𝒈</m:t>
                      </m:r>
                      <m:d>
                        <m:dPr>
                          <m:ctrlPr>
                            <a:rPr lang="en-US" sz="4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0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sz="40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4000" b="1"/>
              </a:p>
            </p:txBody>
          </p:sp>
        </mc:Choice>
        <mc:Fallback xmlns="">
          <p:sp>
            <p:nvSpPr>
              <p:cNvPr id="6" name="Прямоугольник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2478" y="1001587"/>
                <a:ext cx="3136756" cy="707886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Прямоугольник 6"/>
          <p:cNvSpPr/>
          <p:nvPr/>
        </p:nvSpPr>
        <p:spPr>
          <a:xfrm>
            <a:off x="2082800" y="1977797"/>
            <a:ext cx="7853680" cy="83803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smtClean="0">
                <a:solidFill>
                  <a:schemeClr val="tx1"/>
                </a:solidFill>
              </a:rPr>
              <a:t>[8, 3, 2, 3, 4, 7, 1, 4]</a:t>
            </a:r>
            <a:endParaRPr lang="uk-UA" sz="4400" b="1">
              <a:solidFill>
                <a:schemeClr val="tx1"/>
              </a:solidFill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2082800" y="2912246"/>
            <a:ext cx="3952240" cy="83803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smtClean="0">
                <a:solidFill>
                  <a:schemeClr val="tx1"/>
                </a:solidFill>
              </a:rPr>
              <a:t>[8, 3, 2, 3]</a:t>
            </a:r>
            <a:endParaRPr lang="uk-UA" sz="4400" b="1">
              <a:solidFill>
                <a:schemeClr val="tx1"/>
              </a:solidFill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6035040" y="2912246"/>
            <a:ext cx="3901440" cy="83803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smtClean="0">
                <a:solidFill>
                  <a:schemeClr val="tx1"/>
                </a:solidFill>
              </a:rPr>
              <a:t>[4, 7, 1, 4]</a:t>
            </a:r>
            <a:endParaRPr lang="uk-UA" sz="4400" b="1">
              <a:solidFill>
                <a:schemeClr val="tx1"/>
              </a:solidFill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2082800" y="3846695"/>
            <a:ext cx="2056598" cy="83803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smtClean="0">
                <a:solidFill>
                  <a:schemeClr val="tx1"/>
                </a:solidFill>
              </a:rPr>
              <a:t>[8, 3]</a:t>
            </a:r>
            <a:endParaRPr lang="uk-UA" sz="4400" b="1">
              <a:solidFill>
                <a:schemeClr val="tx1"/>
              </a:solidFill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6035040" y="3846695"/>
            <a:ext cx="1920240" cy="83803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smtClean="0">
                <a:solidFill>
                  <a:schemeClr val="tx1"/>
                </a:solidFill>
              </a:rPr>
              <a:t>[4, 7]</a:t>
            </a:r>
            <a:endParaRPr lang="uk-UA" sz="4400" b="1">
              <a:solidFill>
                <a:schemeClr val="tx1"/>
              </a:solidFill>
            </a:endParaRPr>
          </a:p>
        </p:txBody>
      </p:sp>
      <p:sp>
        <p:nvSpPr>
          <p:cNvPr id="15" name="Прямоугольник 14"/>
          <p:cNvSpPr/>
          <p:nvPr/>
        </p:nvSpPr>
        <p:spPr>
          <a:xfrm>
            <a:off x="4139398" y="3846695"/>
            <a:ext cx="1895642" cy="83803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smtClean="0">
                <a:solidFill>
                  <a:schemeClr val="tx1"/>
                </a:solidFill>
              </a:rPr>
              <a:t>[2, 3]</a:t>
            </a:r>
            <a:endParaRPr lang="uk-UA" sz="4400" b="1">
              <a:solidFill>
                <a:schemeClr val="tx1"/>
              </a:solidFill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7955280" y="3846695"/>
            <a:ext cx="1981200" cy="83803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smtClean="0">
                <a:solidFill>
                  <a:schemeClr val="tx1"/>
                </a:solidFill>
              </a:rPr>
              <a:t>[1, 4]</a:t>
            </a:r>
            <a:endParaRPr lang="uk-UA" sz="4400" b="1">
              <a:solidFill>
                <a:schemeClr val="tx1"/>
              </a:solidFill>
            </a:endParaRPr>
          </a:p>
        </p:txBody>
      </p:sp>
      <p:sp>
        <p:nvSpPr>
          <p:cNvPr id="18" name="Прямоугольник 17"/>
          <p:cNvSpPr/>
          <p:nvPr/>
        </p:nvSpPr>
        <p:spPr>
          <a:xfrm>
            <a:off x="2082800" y="4813519"/>
            <a:ext cx="1026160" cy="83803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smtClean="0">
                <a:solidFill>
                  <a:schemeClr val="tx1"/>
                </a:solidFill>
              </a:rPr>
              <a:t>[8]</a:t>
            </a:r>
            <a:endParaRPr lang="uk-UA" sz="4400" b="1">
              <a:solidFill>
                <a:schemeClr val="tx1"/>
              </a:solidFill>
            </a:endParaRPr>
          </a:p>
        </p:txBody>
      </p:sp>
      <p:sp>
        <p:nvSpPr>
          <p:cNvPr id="19" name="Прямоугольник 18"/>
          <p:cNvSpPr/>
          <p:nvPr/>
        </p:nvSpPr>
        <p:spPr>
          <a:xfrm>
            <a:off x="6035040" y="4813519"/>
            <a:ext cx="1050758" cy="83803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smtClean="0">
                <a:solidFill>
                  <a:schemeClr val="tx1"/>
                </a:solidFill>
              </a:rPr>
              <a:t>[4]</a:t>
            </a:r>
            <a:endParaRPr lang="uk-UA" sz="4400" b="1">
              <a:solidFill>
                <a:schemeClr val="tx1"/>
              </a:solidFill>
            </a:endParaRPr>
          </a:p>
        </p:txBody>
      </p:sp>
      <p:sp>
        <p:nvSpPr>
          <p:cNvPr id="20" name="Прямоугольник 19"/>
          <p:cNvSpPr/>
          <p:nvPr/>
        </p:nvSpPr>
        <p:spPr>
          <a:xfrm>
            <a:off x="4139398" y="4813519"/>
            <a:ext cx="1026160" cy="83803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smtClean="0">
                <a:solidFill>
                  <a:schemeClr val="tx1"/>
                </a:solidFill>
              </a:rPr>
              <a:t>[2]</a:t>
            </a:r>
            <a:endParaRPr lang="uk-UA" sz="4400" b="1">
              <a:solidFill>
                <a:schemeClr val="tx1"/>
              </a:solidFill>
            </a:endParaRPr>
          </a:p>
        </p:txBody>
      </p:sp>
      <p:sp>
        <p:nvSpPr>
          <p:cNvPr id="21" name="Прямоугольник 20"/>
          <p:cNvSpPr/>
          <p:nvPr/>
        </p:nvSpPr>
        <p:spPr>
          <a:xfrm>
            <a:off x="7955280" y="4813519"/>
            <a:ext cx="1050758" cy="83803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smtClean="0">
                <a:solidFill>
                  <a:schemeClr val="tx1"/>
                </a:solidFill>
              </a:rPr>
              <a:t>[1]</a:t>
            </a:r>
            <a:endParaRPr lang="uk-UA" sz="4400" b="1">
              <a:solidFill>
                <a:schemeClr val="tx1"/>
              </a:solidFill>
            </a:endParaRPr>
          </a:p>
        </p:txBody>
      </p:sp>
      <p:sp>
        <p:nvSpPr>
          <p:cNvPr id="22" name="Прямоугольник 21"/>
          <p:cNvSpPr/>
          <p:nvPr/>
        </p:nvSpPr>
        <p:spPr>
          <a:xfrm>
            <a:off x="3108960" y="4813519"/>
            <a:ext cx="1030438" cy="83803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smtClean="0">
                <a:solidFill>
                  <a:schemeClr val="tx1"/>
                </a:solidFill>
              </a:rPr>
              <a:t>[3]</a:t>
            </a:r>
            <a:endParaRPr lang="uk-UA" sz="4400" b="1">
              <a:solidFill>
                <a:schemeClr val="tx1"/>
              </a:solidFill>
            </a:endParaRPr>
          </a:p>
        </p:txBody>
      </p:sp>
      <p:sp>
        <p:nvSpPr>
          <p:cNvPr id="23" name="Прямоугольник 22"/>
          <p:cNvSpPr/>
          <p:nvPr/>
        </p:nvSpPr>
        <p:spPr>
          <a:xfrm>
            <a:off x="7085798" y="4813519"/>
            <a:ext cx="869482" cy="83803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smtClean="0">
                <a:solidFill>
                  <a:schemeClr val="tx1"/>
                </a:solidFill>
              </a:rPr>
              <a:t>[7]</a:t>
            </a:r>
            <a:endParaRPr lang="uk-UA" sz="4400" b="1">
              <a:solidFill>
                <a:schemeClr val="tx1"/>
              </a:solidFill>
            </a:endParaRPr>
          </a:p>
        </p:txBody>
      </p:sp>
      <p:sp>
        <p:nvSpPr>
          <p:cNvPr id="24" name="Прямоугольник 23"/>
          <p:cNvSpPr/>
          <p:nvPr/>
        </p:nvSpPr>
        <p:spPr>
          <a:xfrm>
            <a:off x="5165558" y="4813519"/>
            <a:ext cx="869482" cy="83803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smtClean="0">
                <a:solidFill>
                  <a:schemeClr val="tx1"/>
                </a:solidFill>
              </a:rPr>
              <a:t>[3]</a:t>
            </a:r>
            <a:endParaRPr lang="uk-UA" sz="4400" b="1">
              <a:solidFill>
                <a:schemeClr val="tx1"/>
              </a:solidFill>
            </a:endParaRPr>
          </a:p>
        </p:txBody>
      </p:sp>
      <p:sp>
        <p:nvSpPr>
          <p:cNvPr id="25" name="Прямоугольник 24"/>
          <p:cNvSpPr/>
          <p:nvPr/>
        </p:nvSpPr>
        <p:spPr>
          <a:xfrm>
            <a:off x="9006038" y="4813519"/>
            <a:ext cx="930442" cy="83803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smtClean="0">
                <a:solidFill>
                  <a:schemeClr val="tx1"/>
                </a:solidFill>
              </a:rPr>
              <a:t>[4]</a:t>
            </a:r>
            <a:endParaRPr lang="uk-UA" sz="4400" b="1">
              <a:solidFill>
                <a:schemeClr val="tx1"/>
              </a:solidFill>
            </a:endParaRPr>
          </a:p>
        </p:txBody>
      </p:sp>
      <p:cxnSp>
        <p:nvCxnSpPr>
          <p:cNvPr id="26" name="Прямая со стрелкой 25"/>
          <p:cNvCxnSpPr/>
          <p:nvPr/>
        </p:nvCxnSpPr>
        <p:spPr>
          <a:xfrm>
            <a:off x="1838960" y="1977797"/>
            <a:ext cx="0" cy="3673756"/>
          </a:xfrm>
          <a:prstGeom prst="straightConnector1">
            <a:avLst/>
          </a:prstGeom>
          <a:ln w="762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 стрелкой 26"/>
          <p:cNvCxnSpPr/>
          <p:nvPr/>
        </p:nvCxnSpPr>
        <p:spPr>
          <a:xfrm flipH="1" flipV="1">
            <a:off x="2082800" y="5919877"/>
            <a:ext cx="7853680" cy="10160"/>
          </a:xfrm>
          <a:prstGeom prst="straightConnector1">
            <a:avLst/>
          </a:prstGeom>
          <a:ln w="762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Прямоугольник 29"/>
              <p:cNvSpPr/>
              <p:nvPr/>
            </p:nvSpPr>
            <p:spPr>
              <a:xfrm>
                <a:off x="5719088" y="5919877"/>
                <a:ext cx="631903" cy="707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𝒏</m:t>
                      </m:r>
                    </m:oMath>
                  </m:oMathPara>
                </a14:m>
                <a:endParaRPr lang="uk-UA" sz="4000" b="1"/>
              </a:p>
            </p:txBody>
          </p:sp>
        </mc:Choice>
        <mc:Fallback xmlns="">
          <p:sp>
            <p:nvSpPr>
              <p:cNvPr id="30" name="Прямоугольник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9088" y="5919877"/>
                <a:ext cx="631903" cy="707886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Прямоугольник 30"/>
              <p:cNvSpPr/>
              <p:nvPr/>
            </p:nvSpPr>
            <p:spPr>
              <a:xfrm rot="18579466">
                <a:off x="177071" y="3376902"/>
                <a:ext cx="1891222" cy="707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𝒍𝒐𝒈</m:t>
                      </m:r>
                      <m:d>
                        <m:dPr>
                          <m:ctrlPr>
                            <a:rPr lang="en-US" sz="4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0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</m:oMath>
                  </m:oMathPara>
                </a14:m>
                <a:endParaRPr lang="uk-UA" sz="4000" b="1"/>
              </a:p>
            </p:txBody>
          </p:sp>
        </mc:Choice>
        <mc:Fallback xmlns="">
          <p:sp>
            <p:nvSpPr>
              <p:cNvPr id="31" name="Прямоугольник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8579466">
                <a:off x="177071" y="3376902"/>
                <a:ext cx="1891222" cy="707886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53699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6607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2871</TotalTime>
  <Words>903</Words>
  <Application>Microsoft Office PowerPoint</Application>
  <PresentationFormat>Широкоэкранный</PresentationFormat>
  <Paragraphs>189</Paragraphs>
  <Slides>22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7" baseType="lpstr">
      <vt:lpstr>Arial</vt:lpstr>
      <vt:lpstr>Calibri</vt:lpstr>
      <vt:lpstr>Calibri Light</vt:lpstr>
      <vt:lpstr>Cambria Math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Учетная запись Майкрософт</dc:creator>
  <cp:lastModifiedBy>Учетная запись Майкрософт</cp:lastModifiedBy>
  <cp:revision>136</cp:revision>
  <dcterms:created xsi:type="dcterms:W3CDTF">2026-01-27T07:18:31Z</dcterms:created>
  <dcterms:modified xsi:type="dcterms:W3CDTF">2026-02-18T01:16:48Z</dcterms:modified>
</cp:coreProperties>
</file>