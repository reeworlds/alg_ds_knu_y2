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2" r:id="rId3"/>
    <p:sldId id="344" r:id="rId4"/>
    <p:sldId id="345" r:id="rId5"/>
    <p:sldId id="346" r:id="rId6"/>
    <p:sldId id="349" r:id="rId7"/>
    <p:sldId id="350" r:id="rId8"/>
    <p:sldId id="351" r:id="rId9"/>
    <p:sldId id="352" r:id="rId10"/>
    <p:sldId id="348" r:id="rId11"/>
    <p:sldId id="347" r:id="rId12"/>
    <p:sldId id="335" r:id="rId13"/>
    <p:sldId id="322" r:id="rId14"/>
    <p:sldId id="342" r:id="rId15"/>
    <p:sldId id="336" r:id="rId16"/>
    <p:sldId id="337" r:id="rId17"/>
    <p:sldId id="338" r:id="rId18"/>
    <p:sldId id="339" r:id="rId19"/>
    <p:sldId id="340" r:id="rId20"/>
    <p:sldId id="341" r:id="rId21"/>
    <p:sldId id="343" r:id="rId22"/>
    <p:sldId id="288" r:id="rId2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288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097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601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922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699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16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16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52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925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8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36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C7282-A49A-4AD0-93BC-10CA7B10E31B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9907-7997-417B-B641-B57A0D7367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52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leetcode.com/problems/kth-largest-element-in-an-array/description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hyperlink" Target="https://leetcode.com/problems/maximum-subarray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1790" y="857840"/>
            <a:ext cx="101243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smtClean="0">
                <a:solidFill>
                  <a:srgbClr val="002060"/>
                </a:solidFill>
                <a:cs typeface="Arial" panose="020B0604020202020204" pitchFamily="34" charset="0"/>
              </a:rPr>
              <a:t>Розділяй і володарюй</a:t>
            </a:r>
            <a:endParaRPr lang="uk-UA" sz="60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1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5486" y="530310"/>
            <a:ext cx="9275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Р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озділяй і володарюй (схема)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51313" y="2321868"/>
                <a:ext cx="1007804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b="1" smtClean="0"/>
                  <a:t>Щоб розв’язати задачу на масиві розміром </a:t>
                </a:r>
                <a:r>
                  <a:rPr lang="en-US" sz="3200" b="1" smtClean="0"/>
                  <a:t>n: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Обробити масив, якщо він достатньо малого розміру;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/>
                  <a:t>Розділити масив на дві частини </a:t>
                </a:r>
                <a:r>
                  <a:rPr lang="uk-UA" sz="3200" smtClean="0"/>
                  <a:t>розміру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uk-UA" sz="3200" smtClean="0"/>
                  <a:t>;</a:t>
                </a:r>
                <a:endParaRPr lang="en-US" sz="3200" smtClean="0"/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Розв’язати задачу для кожної частини окремо;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Об’єднати розв’язок окремих частин.</a:t>
                </a:r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313" y="2321868"/>
                <a:ext cx="10078048" cy="2554545"/>
              </a:xfrm>
              <a:prstGeom prst="rect">
                <a:avLst/>
              </a:prstGeom>
              <a:blipFill rotWithShape="0">
                <a:blip r:embed="rId2"/>
                <a:stretch>
                  <a:fillRect l="-1573" t="-3103" r="-121" b="-716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58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839" y="411532"/>
            <a:ext cx="1013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ий найбільший елемент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6759" y="4979138"/>
            <a:ext cx="11287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mtClean="0">
                <a:hlinkClick r:id="rId2"/>
              </a:rPr>
              <a:t>https</a:t>
            </a:r>
            <a:r>
              <a:rPr lang="en-US" sz="2800" i="1">
                <a:hlinkClick r:id="rId2"/>
              </a:rPr>
              <a:t>://leetcode.com/problems/kth-largest-element-in-an-array/description</a:t>
            </a:r>
            <a:r>
              <a:rPr lang="en-US" sz="2800" i="1" smtClean="0">
                <a:hlinkClick r:id="rId2"/>
              </a:rPr>
              <a:t>/</a:t>
            </a:r>
            <a:endParaRPr lang="uk-UA" sz="2800" i="1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33958" y="2190753"/>
                <a:ext cx="1029909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Дано масив розміру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200" smtClean="0"/>
                  <a:t> </a:t>
                </a:r>
                <a:r>
                  <a:rPr lang="uk-UA" sz="3200" smtClean="0"/>
                  <a:t>і число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3200" smtClean="0"/>
                  <a:t>. </a:t>
                </a:r>
                <a:r>
                  <a:rPr lang="uk-UA" sz="3200" smtClean="0"/>
                  <a:t>Знайти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smtClean="0"/>
                  <a:t>-</a:t>
                </a:r>
                <a:r>
                  <a:rPr lang="uk-UA" sz="3200" smtClean="0"/>
                  <a:t>ий найбільший елемент. Іншими слоами, знайти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/>
                  <a:t>-</a:t>
                </a:r>
                <a:r>
                  <a:rPr lang="uk-UA" sz="3200" smtClean="0"/>
                  <a:t>ий елемент з кінця в відсортованому масиві. Вивести це число.</a:t>
                </a:r>
                <a:endParaRPr lang="uk-UA" sz="3200" b="1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58" y="2190753"/>
                <a:ext cx="10299098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1539" t="-4651" r="-1480" b="-1162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70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2398" y="2195571"/>
            <a:ext cx="996612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/>
              <a:t>nums = [3</a:t>
            </a:r>
            <a:r>
              <a:rPr lang="en-US" sz="4400" b="1" smtClean="0"/>
              <a:t>,</a:t>
            </a:r>
            <a:r>
              <a:rPr lang="uk-UA" sz="4400" b="1" smtClean="0"/>
              <a:t> </a:t>
            </a:r>
            <a:r>
              <a:rPr lang="en-US" sz="4400" b="1" smtClean="0"/>
              <a:t>2,</a:t>
            </a:r>
            <a:r>
              <a:rPr lang="uk-UA" sz="4400" b="1" smtClean="0"/>
              <a:t> </a:t>
            </a:r>
            <a:r>
              <a:rPr lang="en-US" sz="4400" b="1" smtClean="0"/>
              <a:t>1,</a:t>
            </a:r>
            <a:r>
              <a:rPr lang="uk-UA" sz="4400" b="1" smtClean="0"/>
              <a:t> </a:t>
            </a:r>
            <a:r>
              <a:rPr lang="en-US" sz="4400" b="1" smtClean="0"/>
              <a:t>5,</a:t>
            </a:r>
            <a:r>
              <a:rPr lang="uk-UA" sz="4400" b="1" smtClean="0"/>
              <a:t> </a:t>
            </a:r>
            <a:r>
              <a:rPr lang="en-US" sz="4400" b="1" smtClean="0"/>
              <a:t>6,</a:t>
            </a:r>
            <a:r>
              <a:rPr lang="uk-UA" sz="4400" b="1" smtClean="0"/>
              <a:t> </a:t>
            </a:r>
            <a:r>
              <a:rPr lang="en-US" sz="4400" b="1" smtClean="0"/>
              <a:t>4</a:t>
            </a:r>
            <a:r>
              <a:rPr lang="en-US" sz="4400" b="1"/>
              <a:t>], k = </a:t>
            </a:r>
            <a:r>
              <a:rPr lang="en-US" sz="4400" b="1" smtClean="0"/>
              <a:t>2</a:t>
            </a:r>
            <a:endParaRPr lang="uk-UA" sz="4400" b="1" smtClean="0"/>
          </a:p>
          <a:p>
            <a:pPr algn="ctr"/>
            <a:r>
              <a:rPr lang="en-US" sz="4400" b="1" smtClean="0"/>
              <a:t>sorted = [1, 2, 3, 4, </a:t>
            </a:r>
            <a:r>
              <a:rPr lang="en-US" sz="4400" b="1" smtClean="0">
                <a:solidFill>
                  <a:srgbClr val="00B050"/>
                </a:solidFill>
              </a:rPr>
              <a:t>5</a:t>
            </a:r>
            <a:r>
              <a:rPr lang="en-US" sz="4400" b="1" smtClean="0"/>
              <a:t>, 6]</a:t>
            </a:r>
            <a:endParaRPr lang="uk-UA" sz="4400" b="1" smtClean="0"/>
          </a:p>
          <a:p>
            <a:pPr algn="ctr"/>
            <a:endParaRPr lang="uk-UA" sz="2800" b="1"/>
          </a:p>
          <a:p>
            <a:pPr algn="ctr"/>
            <a:r>
              <a:rPr lang="en-US" sz="4400" b="1"/>
              <a:t>nums = [3</a:t>
            </a:r>
            <a:r>
              <a:rPr lang="en-US" sz="4400" b="1" smtClean="0"/>
              <a:t>, 2, 3, 1, 2, 4, 5, 5, 6</a:t>
            </a:r>
            <a:r>
              <a:rPr lang="en-US" sz="4400" b="1"/>
              <a:t>], k = </a:t>
            </a:r>
            <a:r>
              <a:rPr lang="en-US" sz="4400" b="1" smtClean="0"/>
              <a:t>4</a:t>
            </a:r>
          </a:p>
          <a:p>
            <a:pPr algn="ctr"/>
            <a:r>
              <a:rPr lang="en-US" sz="4400" b="1"/>
              <a:t>s</a:t>
            </a:r>
            <a:r>
              <a:rPr lang="en-US" sz="4400" b="1" smtClean="0"/>
              <a:t>orted = [1, 2, 2, 3, 3, </a:t>
            </a:r>
            <a:r>
              <a:rPr lang="en-US" sz="4400" b="1" smtClean="0">
                <a:solidFill>
                  <a:srgbClr val="00B050"/>
                </a:solidFill>
              </a:rPr>
              <a:t>4</a:t>
            </a:r>
            <a:r>
              <a:rPr lang="en-US" sz="4400" b="1" smtClean="0"/>
              <a:t>, 5, 5, 6]</a:t>
            </a:r>
            <a:endParaRPr lang="uk-UA" sz="4400" b="1"/>
          </a:p>
        </p:txBody>
      </p:sp>
      <p:sp>
        <p:nvSpPr>
          <p:cNvPr id="10" name="TextBox 9"/>
          <p:cNvSpPr txBox="1"/>
          <p:nvPr/>
        </p:nvSpPr>
        <p:spPr>
          <a:xfrm>
            <a:off x="339365" y="228652"/>
            <a:ext cx="11651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елемент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(приклади)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5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365" y="228652"/>
            <a:ext cx="11651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елемент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(алгоритм)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54144" y="1511162"/>
                <a:ext cx="1051088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b="1" smtClean="0"/>
                  <a:t>Алгоритм</a:t>
                </a:r>
                <a:r>
                  <a:rPr lang="en-US" sz="3200" b="1" smtClean="0"/>
                  <a:t>: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Вибираємо довільний елемент масиву </a:t>
                </a:r>
                <a:r>
                  <a:rPr lang="en-US" sz="3200" smtClean="0"/>
                  <a:t>pivot</a:t>
                </a:r>
                <a:r>
                  <a:rPr lang="uk-UA" sz="3200" smtClean="0"/>
                  <a:t> (наприклад середній);</a:t>
                </a:r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Розділяємо </a:t>
                </a:r>
                <a:r>
                  <a:rPr lang="uk-UA" sz="3200"/>
                  <a:t>масив на </a:t>
                </a:r>
                <a:r>
                  <a:rPr lang="uk-UA" sz="3200" smtClean="0"/>
                  <a:t>три:</a:t>
                </a:r>
                <a:endParaRPr lang="en-US" sz="3200" smtClean="0"/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Числа </a:t>
                </a:r>
                <a:r>
                  <a:rPr lang="en-US" sz="3200" smtClean="0"/>
                  <a:t>&lt;</a:t>
                </a:r>
                <a:r>
                  <a:rPr lang="uk-UA" sz="3200" smtClean="0"/>
                  <a:t> </a:t>
                </a:r>
                <a:r>
                  <a:rPr lang="en-US" sz="3200" smtClean="0"/>
                  <a:t>pivot</a:t>
                </a:r>
                <a:r>
                  <a:rPr lang="uk-UA" sz="3200" smtClean="0"/>
                  <a:t> (ліва частина)</a:t>
                </a:r>
                <a:endParaRPr lang="en-US" sz="3200" smtClean="0"/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Числа = </a:t>
                </a:r>
                <a:r>
                  <a:rPr lang="en-US" sz="3200"/>
                  <a:t>pivot</a:t>
                </a:r>
                <a:r>
                  <a:rPr lang="uk-UA" sz="3200" smtClean="0"/>
                  <a:t> (середина)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uk-UA" sz="3200" smtClean="0"/>
                  <a:t>Числа </a:t>
                </a:r>
                <a:r>
                  <a:rPr lang="en-US" sz="3200" smtClean="0"/>
                  <a:t>&gt; </a:t>
                </a:r>
                <a:r>
                  <a:rPr lang="en-US" sz="3200"/>
                  <a:t>pivot</a:t>
                </a:r>
                <a:r>
                  <a:rPr lang="en-US" sz="3200" smtClean="0"/>
                  <a:t> (</a:t>
                </a:r>
                <a:r>
                  <a:rPr lang="uk-UA" sz="3200" smtClean="0"/>
                  <a:t>права частина</a:t>
                </a:r>
                <a:r>
                  <a:rPr lang="en-US" sz="3200" smtClean="0"/>
                  <a:t>)</a:t>
                </a:r>
                <a:endParaRPr lang="en-US" sz="3200"/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Дивимось в якій частині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/>
                  <a:t>-</a:t>
                </a:r>
                <a:r>
                  <a:rPr lang="uk-UA" sz="3200"/>
                  <a:t>ий найбільший елемент</a:t>
                </a:r>
                <a:endParaRPr lang="en-US" sz="3200" smtClean="0"/>
              </a:p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Рекурсивно  розв’язуємо задачу для цієї частини</a:t>
                </a:r>
                <a:endParaRPr lang="uk-UA" sz="32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44" y="1511162"/>
                <a:ext cx="10510887" cy="4524315"/>
              </a:xfrm>
              <a:prstGeom prst="rect">
                <a:avLst/>
              </a:prstGeom>
              <a:blipFill rotWithShape="0">
                <a:blip r:embed="rId2"/>
                <a:stretch>
                  <a:fillRect l="-1566" t="-1752" r="-928" b="-363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23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34533" y="1366886"/>
            <a:ext cx="867266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extBox 1"/>
          <p:cNvSpPr txBox="1"/>
          <p:nvPr/>
        </p:nvSpPr>
        <p:spPr>
          <a:xfrm>
            <a:off x="339365" y="228652"/>
            <a:ext cx="11651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елемент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(приклад)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7802" y="1366885"/>
            <a:ext cx="9966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mtClean="0"/>
              <a:t>kth_element</a:t>
            </a:r>
            <a:r>
              <a:rPr lang="uk-UA" sz="2800" smtClean="0"/>
              <a:t>(</a:t>
            </a:r>
            <a:r>
              <a:rPr lang="en-US" sz="2800" smtClean="0"/>
              <a:t>nums </a:t>
            </a:r>
            <a:r>
              <a:rPr lang="en-US" sz="2800"/>
              <a:t>= [3</a:t>
            </a:r>
            <a:r>
              <a:rPr lang="en-US" sz="2800" smtClean="0"/>
              <a:t>, 2, 3, 1, 2, 4, 5, 5, 6</a:t>
            </a:r>
            <a:r>
              <a:rPr lang="en-US" sz="2800"/>
              <a:t>], k = </a:t>
            </a:r>
            <a:r>
              <a:rPr lang="en-US" sz="2800" smtClean="0"/>
              <a:t>4</a:t>
            </a:r>
            <a:r>
              <a:rPr lang="uk-UA" sz="2800" smtClean="0"/>
              <a:t>)</a:t>
            </a:r>
            <a:endParaRPr lang="en-US" sz="280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1734533" y="2219175"/>
            <a:ext cx="8672660" cy="2092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TextBox 6"/>
          <p:cNvSpPr txBox="1"/>
          <p:nvPr/>
        </p:nvSpPr>
        <p:spPr>
          <a:xfrm>
            <a:off x="1913641" y="2219175"/>
            <a:ext cx="815418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mtClean="0"/>
              <a:t>nums </a:t>
            </a:r>
            <a:r>
              <a:rPr lang="en-US" sz="2800"/>
              <a:t>= [3</a:t>
            </a:r>
            <a:r>
              <a:rPr lang="en-US" sz="2800" smtClean="0"/>
              <a:t>, 2, 3, 1, 2, 4, 5, 5, 6]</a:t>
            </a:r>
            <a:r>
              <a:rPr lang="uk-UA" sz="2800" smtClean="0"/>
              <a:t>    </a:t>
            </a:r>
            <a:r>
              <a:rPr lang="en-US" sz="2800" smtClean="0"/>
              <a:t>k </a:t>
            </a:r>
            <a:r>
              <a:rPr lang="en-US" sz="2800"/>
              <a:t>= </a:t>
            </a:r>
            <a:r>
              <a:rPr lang="en-US" sz="2800" smtClean="0"/>
              <a:t>4</a:t>
            </a:r>
            <a:endParaRPr lang="uk-UA" sz="2800" smtClean="0"/>
          </a:p>
          <a:p>
            <a:pPr algn="ctr"/>
            <a:r>
              <a:rPr lang="en-US" sz="2800"/>
              <a:t>p</a:t>
            </a:r>
            <a:r>
              <a:rPr lang="en-US" sz="2800" smtClean="0"/>
              <a:t>ivot = 2</a:t>
            </a:r>
          </a:p>
          <a:p>
            <a:pPr algn="ctr"/>
            <a:r>
              <a:rPr lang="en-US" sz="2800"/>
              <a:t>l</a:t>
            </a:r>
            <a:r>
              <a:rPr lang="en-US" sz="2800" smtClean="0"/>
              <a:t>eft = [1]   center = [2, 2]    right = [3, 3, 4, 5, 5, 6]</a:t>
            </a:r>
            <a:endParaRPr lang="uk-UA" sz="2800" smtClean="0"/>
          </a:p>
          <a:p>
            <a:pPr algn="ctr"/>
            <a:endParaRPr lang="uk-UA" sz="1400" smtClean="0"/>
          </a:p>
          <a:p>
            <a:pPr algn="ctr"/>
            <a:r>
              <a:rPr lang="en-US" sz="2800"/>
              <a:t>kth_element</a:t>
            </a:r>
            <a:r>
              <a:rPr lang="uk-UA" sz="2800"/>
              <a:t>(</a:t>
            </a:r>
            <a:r>
              <a:rPr lang="en-US" sz="2800"/>
              <a:t>nums = </a:t>
            </a:r>
            <a:r>
              <a:rPr lang="en-US" sz="2800" smtClean="0"/>
              <a:t>[</a:t>
            </a:r>
            <a:r>
              <a:rPr lang="en-US" sz="2800"/>
              <a:t>3, 3, 4, 5, 5, 6</a:t>
            </a:r>
            <a:r>
              <a:rPr lang="en-US" sz="2800" smtClean="0"/>
              <a:t>], </a:t>
            </a:r>
            <a:r>
              <a:rPr lang="en-US" sz="2800"/>
              <a:t>k = 4</a:t>
            </a:r>
            <a:r>
              <a:rPr lang="uk-UA" sz="2800"/>
              <a:t>)</a:t>
            </a:r>
            <a:endParaRPr lang="en-US" sz="2800" smtClean="0"/>
          </a:p>
        </p:txBody>
      </p:sp>
      <p:sp>
        <p:nvSpPr>
          <p:cNvPr id="8" name="Прямоугольник 7"/>
          <p:cNvSpPr/>
          <p:nvPr/>
        </p:nvSpPr>
        <p:spPr>
          <a:xfrm>
            <a:off x="1734533" y="4641128"/>
            <a:ext cx="8672660" cy="2092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/>
          <p:cNvSpPr txBox="1"/>
          <p:nvPr/>
        </p:nvSpPr>
        <p:spPr>
          <a:xfrm>
            <a:off x="1913641" y="4641128"/>
            <a:ext cx="815418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mtClean="0"/>
              <a:t>nums </a:t>
            </a:r>
            <a:r>
              <a:rPr lang="en-US" sz="2800"/>
              <a:t>= [3, 3, 4, 5, 5, 6]</a:t>
            </a:r>
            <a:r>
              <a:rPr lang="uk-UA" sz="2800" smtClean="0"/>
              <a:t>    </a:t>
            </a:r>
            <a:r>
              <a:rPr lang="en-US" sz="2800" smtClean="0"/>
              <a:t>k </a:t>
            </a:r>
            <a:r>
              <a:rPr lang="en-US" sz="2800"/>
              <a:t>= </a:t>
            </a:r>
            <a:r>
              <a:rPr lang="en-US" sz="2800" smtClean="0"/>
              <a:t>4</a:t>
            </a:r>
            <a:endParaRPr lang="uk-UA" sz="2800" smtClean="0"/>
          </a:p>
          <a:p>
            <a:pPr algn="ctr"/>
            <a:r>
              <a:rPr lang="en-US" sz="2800"/>
              <a:t>p</a:t>
            </a:r>
            <a:r>
              <a:rPr lang="en-US" sz="2800" smtClean="0"/>
              <a:t>ivot = </a:t>
            </a:r>
            <a:r>
              <a:rPr lang="uk-UA" sz="2800" smtClean="0"/>
              <a:t>5</a:t>
            </a:r>
            <a:endParaRPr lang="en-US" sz="2800" smtClean="0"/>
          </a:p>
          <a:p>
            <a:pPr algn="ctr"/>
            <a:r>
              <a:rPr lang="en-US" sz="2800"/>
              <a:t>l</a:t>
            </a:r>
            <a:r>
              <a:rPr lang="en-US" sz="2800" smtClean="0"/>
              <a:t>eft = [</a:t>
            </a:r>
            <a:r>
              <a:rPr lang="uk-UA" sz="2800" smtClean="0"/>
              <a:t>3, 3, 4</a:t>
            </a:r>
            <a:r>
              <a:rPr lang="en-US" sz="2800" smtClean="0"/>
              <a:t>]   center = [</a:t>
            </a:r>
            <a:r>
              <a:rPr lang="uk-UA" sz="2800" smtClean="0"/>
              <a:t>5</a:t>
            </a:r>
            <a:r>
              <a:rPr lang="en-US" sz="2800" smtClean="0"/>
              <a:t>]    right = [6]</a:t>
            </a:r>
            <a:endParaRPr lang="uk-UA" sz="2800" smtClean="0"/>
          </a:p>
          <a:p>
            <a:pPr algn="ctr"/>
            <a:endParaRPr lang="uk-UA" sz="1400" smtClean="0"/>
          </a:p>
          <a:p>
            <a:pPr algn="ctr"/>
            <a:r>
              <a:rPr lang="en-US" sz="2800"/>
              <a:t>kth_element</a:t>
            </a:r>
            <a:r>
              <a:rPr lang="uk-UA" sz="2800"/>
              <a:t>(</a:t>
            </a:r>
            <a:r>
              <a:rPr lang="en-US" sz="2800"/>
              <a:t>nums = </a:t>
            </a:r>
            <a:r>
              <a:rPr lang="en-US" sz="2800" smtClean="0"/>
              <a:t>[</a:t>
            </a:r>
            <a:r>
              <a:rPr lang="en-US" sz="2800"/>
              <a:t>3, 3, </a:t>
            </a:r>
            <a:r>
              <a:rPr lang="en-US" sz="2800" smtClean="0"/>
              <a:t>4], </a:t>
            </a:r>
            <a:r>
              <a:rPr lang="en-US" sz="2800"/>
              <a:t>k = </a:t>
            </a:r>
            <a:r>
              <a:rPr lang="uk-UA" sz="2800" smtClean="0"/>
              <a:t>1)</a:t>
            </a:r>
            <a:endParaRPr lang="en-US" sz="2800" smtClean="0"/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5872898" y="1932091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5864255" y="4351499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18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2998" y="1404012"/>
            <a:ext cx="10510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Декларація функції;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Базовий випадок (1 елемент в масиві);</a:t>
            </a:r>
            <a:endParaRPr lang="uk-UA" sz="3200"/>
          </a:p>
        </p:txBody>
      </p:sp>
      <p:sp>
        <p:nvSpPr>
          <p:cNvPr id="8" name="TextBox 7"/>
          <p:cNvSpPr txBox="1"/>
          <p:nvPr/>
        </p:nvSpPr>
        <p:spPr>
          <a:xfrm>
            <a:off x="1032282" y="5766628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e6_kth_elemnt.cpp</a:t>
            </a:r>
            <a:endParaRPr lang="uk-UA" sz="2800" i="1" smtClean="0"/>
          </a:p>
        </p:txBody>
      </p:sp>
      <p:sp>
        <p:nvSpPr>
          <p:cNvPr id="9" name="TextBox 8"/>
          <p:cNvSpPr txBox="1"/>
          <p:nvPr/>
        </p:nvSpPr>
        <p:spPr>
          <a:xfrm>
            <a:off x="339365" y="228652"/>
            <a:ext cx="11651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елемент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(код, 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07" y="2926954"/>
            <a:ext cx="5877745" cy="44773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622" y="3812364"/>
            <a:ext cx="316274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1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35449" y="1310326"/>
            <a:ext cx="52554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/>
              <a:t>Вибираємо довільний елемент масиву </a:t>
            </a:r>
            <a:r>
              <a:rPr lang="en-US" sz="3200"/>
              <a:t>pivot</a:t>
            </a:r>
            <a:r>
              <a:rPr lang="uk-UA" sz="3200"/>
              <a:t> (наприклад середній);</a:t>
            </a:r>
          </a:p>
          <a:p>
            <a:pPr marL="457200" indent="-457200">
              <a:buFontTx/>
              <a:buChar char="-"/>
            </a:pPr>
            <a:r>
              <a:rPr lang="uk-UA" sz="3200"/>
              <a:t>Розділяємо масив на три:</a:t>
            </a:r>
            <a:endParaRPr lang="en-US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/>
              <a:t>Числа </a:t>
            </a:r>
            <a:r>
              <a:rPr lang="en-US" sz="3200"/>
              <a:t>&lt;</a:t>
            </a:r>
            <a:r>
              <a:rPr lang="uk-UA" sz="3200"/>
              <a:t> </a:t>
            </a:r>
            <a:r>
              <a:rPr lang="en-US" sz="3200"/>
              <a:t>pivot</a:t>
            </a:r>
            <a:r>
              <a:rPr lang="uk-UA" sz="3200"/>
              <a:t> (ліва частина)</a:t>
            </a:r>
            <a:endParaRPr lang="en-US" sz="32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/>
              <a:t>Числа = </a:t>
            </a:r>
            <a:r>
              <a:rPr lang="en-US" sz="3200"/>
              <a:t>pivot</a:t>
            </a:r>
            <a:r>
              <a:rPr lang="uk-UA" sz="3200"/>
              <a:t> (середина)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uk-UA" sz="3200"/>
              <a:t>Числа </a:t>
            </a:r>
            <a:r>
              <a:rPr lang="en-US" sz="3200"/>
              <a:t>&gt; pivot (</a:t>
            </a:r>
            <a:r>
              <a:rPr lang="uk-UA" sz="3200"/>
              <a:t>права частина</a:t>
            </a:r>
            <a:r>
              <a:rPr lang="en-US" sz="320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522" y="6185786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e6_kth_elemnt.cpp</a:t>
            </a:r>
            <a:endParaRPr lang="uk-UA" sz="2800" i="1"/>
          </a:p>
        </p:txBody>
      </p:sp>
      <p:sp>
        <p:nvSpPr>
          <p:cNvPr id="7" name="TextBox 6"/>
          <p:cNvSpPr txBox="1"/>
          <p:nvPr/>
        </p:nvSpPr>
        <p:spPr>
          <a:xfrm>
            <a:off x="339365" y="228652"/>
            <a:ext cx="11651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елемент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(код, 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31" y="1310326"/>
            <a:ext cx="5577344" cy="487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7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11722" y="1071836"/>
                <a:ext cx="1051088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Tx/>
                  <a:buChar char="-"/>
                </a:pPr>
                <a:r>
                  <a:rPr lang="uk-UA" sz="3200"/>
                  <a:t>Дивимось в якій частині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/>
                  <a:t>-</a:t>
                </a:r>
                <a:r>
                  <a:rPr lang="uk-UA" sz="3200"/>
                  <a:t>ий найбільший елемент</a:t>
                </a:r>
                <a:endParaRPr lang="en-US" sz="3200"/>
              </a:p>
              <a:p>
                <a:pPr marL="457200" indent="-457200">
                  <a:buFontTx/>
                  <a:buChar char="-"/>
                </a:pPr>
                <a:r>
                  <a:rPr lang="uk-UA" sz="3200"/>
                  <a:t>Рекурсивно  розв’язуємо задачу для цієї частини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22" y="1071836"/>
                <a:ext cx="10510887" cy="1077218"/>
              </a:xfrm>
              <a:prstGeom prst="rect">
                <a:avLst/>
              </a:prstGeom>
              <a:blipFill rotWithShape="0">
                <a:blip r:embed="rId2"/>
                <a:stretch>
                  <a:fillRect l="-1566" t="-8475" b="-1807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428522" y="6185786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e6_kth_elemnt.cpp</a:t>
            </a:r>
            <a:endParaRPr lang="uk-UA" sz="2800" i="1"/>
          </a:p>
        </p:txBody>
      </p:sp>
      <p:sp>
        <p:nvSpPr>
          <p:cNvPr id="6" name="TextBox 5"/>
          <p:cNvSpPr txBox="1"/>
          <p:nvPr/>
        </p:nvSpPr>
        <p:spPr>
          <a:xfrm>
            <a:off x="339365" y="228652"/>
            <a:ext cx="11651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елемент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(код, 3)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522" y="2397992"/>
            <a:ext cx="9165711" cy="353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0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232" y="360627"/>
            <a:ext cx="1151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елемент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(складність)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93320" y="2103443"/>
                <a:ext cx="4864537" cy="2473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uk-UA" sz="3200" smtClean="0"/>
                  <a:t>Найкраща складність: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uk-UA" sz="3200" b="1" smtClean="0"/>
              </a:p>
              <a:p>
                <a:endParaRPr lang="en-US" sz="3200" smtClean="0"/>
              </a:p>
              <a:p>
                <a:r>
                  <a:rPr lang="uk-UA" sz="3200" smtClean="0"/>
                  <a:t>Середня </a:t>
                </a:r>
                <a:r>
                  <a:rPr lang="uk-UA" sz="3200"/>
                  <a:t>складність: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/>
              </a:p>
              <a:p>
                <a:endParaRPr lang="en-US" sz="3200" smtClean="0"/>
              </a:p>
              <a:p>
                <a:r>
                  <a:rPr lang="uk-UA" sz="3200" smtClean="0"/>
                  <a:t>Найгірша </a:t>
                </a:r>
                <a:r>
                  <a:rPr lang="uk-UA" sz="3200"/>
                  <a:t>складність: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320" y="2103443"/>
                <a:ext cx="4864537" cy="2473369"/>
              </a:xfrm>
              <a:prstGeom prst="rect">
                <a:avLst/>
              </a:prstGeom>
              <a:blipFill rotWithShape="0">
                <a:blip r:embed="rId2"/>
                <a:stretch>
                  <a:fillRect l="-5013" t="-4680" b="-936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42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232" y="96572"/>
            <a:ext cx="11519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2060"/>
                </a:solidFill>
                <a:cs typeface="Arial" panose="020B0604020202020204" pitchFamily="34" charset="0"/>
              </a:rPr>
              <a:t>K-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ий найбільший елемент 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(контрприклад)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70493" y="1078837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kth_element([6, 4, 2, 1, 3, 5, 7</a:t>
            </a:r>
            <a:r>
              <a:rPr lang="en-US" sz="2800" smtClean="0">
                <a:solidFill>
                  <a:schemeClr val="tx1"/>
                </a:solidFill>
              </a:rPr>
              <a:t>], k=1</a:t>
            </a:r>
            <a:r>
              <a:rPr lang="uk-UA" sz="2800" smtClean="0">
                <a:solidFill>
                  <a:schemeClr val="tx1"/>
                </a:solidFill>
              </a:rPr>
              <a:t>)</a:t>
            </a:r>
            <a:r>
              <a:rPr lang="en-US" sz="2800" smtClean="0">
                <a:solidFill>
                  <a:schemeClr val="tx1"/>
                </a:solidFill>
              </a:rPr>
              <a:t>    pivot = 1</a:t>
            </a:r>
            <a:endParaRPr lang="uk-UA" sz="2800" smtClean="0">
              <a:solidFill>
                <a:schemeClr val="tx1"/>
              </a:solidFill>
            </a:endParaRPr>
          </a:p>
        </p:txBody>
      </p:sp>
      <p:cxnSp>
        <p:nvCxnSpPr>
          <p:cNvPr id="5" name="Прямая со стрелкой 4"/>
          <p:cNvCxnSpPr>
            <a:stCxn id="3" idx="2"/>
          </p:cNvCxnSpPr>
          <p:nvPr/>
        </p:nvCxnSpPr>
        <p:spPr>
          <a:xfrm flipH="1">
            <a:off x="5910606" y="1679961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1170493" y="1925058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kth_element([6, 4, </a:t>
            </a:r>
            <a:r>
              <a:rPr lang="en-US" sz="2800" smtClean="0">
                <a:solidFill>
                  <a:schemeClr val="tx1"/>
                </a:solidFill>
              </a:rPr>
              <a:t>2, </a:t>
            </a:r>
            <a:r>
              <a:rPr lang="en-US" sz="2800">
                <a:solidFill>
                  <a:schemeClr val="tx1"/>
                </a:solidFill>
              </a:rPr>
              <a:t>3, 5, 7] ], k=1</a:t>
            </a:r>
            <a:r>
              <a:rPr lang="uk-UA" sz="2800" smtClean="0">
                <a:solidFill>
                  <a:schemeClr val="tx1"/>
                </a:solidFill>
              </a:rPr>
              <a:t>)</a:t>
            </a:r>
            <a:r>
              <a:rPr lang="en-US" sz="2800" smtClean="0">
                <a:solidFill>
                  <a:schemeClr val="tx1"/>
                </a:solidFill>
              </a:rPr>
              <a:t>    </a:t>
            </a:r>
            <a:r>
              <a:rPr lang="en-US" sz="2800">
                <a:solidFill>
                  <a:schemeClr val="tx1"/>
                </a:solidFill>
              </a:rPr>
              <a:t>pivot = </a:t>
            </a:r>
            <a:r>
              <a:rPr lang="en-US" sz="2800" smtClean="0">
                <a:solidFill>
                  <a:schemeClr val="tx1"/>
                </a:solidFill>
              </a:rPr>
              <a:t>2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/>
          <p:cNvCxnSpPr>
            <a:stCxn id="8" idx="2"/>
          </p:cNvCxnSpPr>
          <p:nvPr/>
        </p:nvCxnSpPr>
        <p:spPr>
          <a:xfrm flipH="1">
            <a:off x="5910606" y="2526182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170493" y="2761853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kth_element([6, </a:t>
            </a:r>
            <a:r>
              <a:rPr lang="en-US" sz="2800" smtClean="0">
                <a:solidFill>
                  <a:schemeClr val="tx1"/>
                </a:solidFill>
              </a:rPr>
              <a:t>4, 3, 5</a:t>
            </a:r>
            <a:r>
              <a:rPr lang="en-US" sz="2800">
                <a:solidFill>
                  <a:schemeClr val="tx1"/>
                </a:solidFill>
              </a:rPr>
              <a:t>, 7] ], k=1</a:t>
            </a:r>
            <a:r>
              <a:rPr lang="uk-UA" sz="2800" smtClean="0">
                <a:solidFill>
                  <a:schemeClr val="tx1"/>
                </a:solidFill>
              </a:rPr>
              <a:t>)</a:t>
            </a:r>
            <a:r>
              <a:rPr lang="en-US" sz="2800" smtClean="0">
                <a:solidFill>
                  <a:schemeClr val="tx1"/>
                </a:solidFill>
              </a:rPr>
              <a:t>    </a:t>
            </a:r>
            <a:r>
              <a:rPr lang="en-US" sz="2800">
                <a:solidFill>
                  <a:schemeClr val="tx1"/>
                </a:solidFill>
              </a:rPr>
              <a:t>pivot = </a:t>
            </a:r>
            <a:r>
              <a:rPr lang="en-US" sz="2800" smtClean="0">
                <a:solidFill>
                  <a:schemeClr val="tx1"/>
                </a:solidFill>
              </a:rPr>
              <a:t>3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>
            <a:stCxn id="10" idx="2"/>
          </p:cNvCxnSpPr>
          <p:nvPr/>
        </p:nvCxnSpPr>
        <p:spPr>
          <a:xfrm flipH="1">
            <a:off x="5910606" y="3362977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170493" y="3598648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kth_element([6, 4, </a:t>
            </a:r>
            <a:r>
              <a:rPr lang="en-US" sz="2800" smtClean="0">
                <a:solidFill>
                  <a:schemeClr val="tx1"/>
                </a:solidFill>
              </a:rPr>
              <a:t>5</a:t>
            </a:r>
            <a:r>
              <a:rPr lang="en-US" sz="2800">
                <a:solidFill>
                  <a:schemeClr val="tx1"/>
                </a:solidFill>
              </a:rPr>
              <a:t>, 7] ], k=1</a:t>
            </a:r>
            <a:r>
              <a:rPr lang="uk-UA" sz="2800" smtClean="0">
                <a:solidFill>
                  <a:schemeClr val="tx1"/>
                </a:solidFill>
              </a:rPr>
              <a:t>)</a:t>
            </a:r>
            <a:r>
              <a:rPr lang="en-US" sz="2800" smtClean="0">
                <a:solidFill>
                  <a:schemeClr val="tx1"/>
                </a:solidFill>
              </a:rPr>
              <a:t>    </a:t>
            </a:r>
            <a:r>
              <a:rPr lang="en-US" sz="2800">
                <a:solidFill>
                  <a:schemeClr val="tx1"/>
                </a:solidFill>
              </a:rPr>
              <a:t>pivot = </a:t>
            </a:r>
            <a:r>
              <a:rPr lang="en-US" sz="2800" smtClean="0">
                <a:solidFill>
                  <a:schemeClr val="tx1"/>
                </a:solidFill>
              </a:rPr>
              <a:t>4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3" name="Прямая со стрелкой 12"/>
          <p:cNvCxnSpPr>
            <a:stCxn id="12" idx="2"/>
          </p:cNvCxnSpPr>
          <p:nvPr/>
        </p:nvCxnSpPr>
        <p:spPr>
          <a:xfrm flipH="1">
            <a:off x="5910606" y="4199772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1170493" y="4426017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kth_element([6, </a:t>
            </a:r>
            <a:r>
              <a:rPr lang="en-US" sz="2800" smtClean="0">
                <a:solidFill>
                  <a:schemeClr val="tx1"/>
                </a:solidFill>
              </a:rPr>
              <a:t>5</a:t>
            </a:r>
            <a:r>
              <a:rPr lang="en-US" sz="2800">
                <a:solidFill>
                  <a:schemeClr val="tx1"/>
                </a:solidFill>
              </a:rPr>
              <a:t>, 7] ], k=1</a:t>
            </a:r>
            <a:r>
              <a:rPr lang="uk-UA" sz="2800" smtClean="0">
                <a:solidFill>
                  <a:schemeClr val="tx1"/>
                </a:solidFill>
              </a:rPr>
              <a:t>)</a:t>
            </a:r>
            <a:r>
              <a:rPr lang="en-US" sz="2800" smtClean="0">
                <a:solidFill>
                  <a:schemeClr val="tx1"/>
                </a:solidFill>
              </a:rPr>
              <a:t>    </a:t>
            </a:r>
            <a:r>
              <a:rPr lang="en-US" sz="2800">
                <a:solidFill>
                  <a:schemeClr val="tx1"/>
                </a:solidFill>
              </a:rPr>
              <a:t>pivot = </a:t>
            </a:r>
            <a:r>
              <a:rPr lang="en-US" sz="2800" smtClean="0">
                <a:solidFill>
                  <a:schemeClr val="tx1"/>
                </a:solidFill>
              </a:rPr>
              <a:t>5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/>
          <p:cNvCxnSpPr>
            <a:stCxn id="14" idx="2"/>
          </p:cNvCxnSpPr>
          <p:nvPr/>
        </p:nvCxnSpPr>
        <p:spPr>
          <a:xfrm flipH="1">
            <a:off x="5910606" y="5027141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1170493" y="5253386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kth_element([</a:t>
            </a:r>
            <a:r>
              <a:rPr lang="en-US" sz="2800" smtClean="0">
                <a:solidFill>
                  <a:schemeClr val="tx1"/>
                </a:solidFill>
              </a:rPr>
              <a:t>6, 7</a:t>
            </a:r>
            <a:r>
              <a:rPr lang="en-US" sz="2800">
                <a:solidFill>
                  <a:schemeClr val="tx1"/>
                </a:solidFill>
              </a:rPr>
              <a:t>] ], k=1</a:t>
            </a:r>
            <a:r>
              <a:rPr lang="uk-UA" sz="2800" smtClean="0">
                <a:solidFill>
                  <a:schemeClr val="tx1"/>
                </a:solidFill>
              </a:rPr>
              <a:t>)</a:t>
            </a:r>
            <a:r>
              <a:rPr lang="en-US" sz="2800" smtClean="0">
                <a:solidFill>
                  <a:schemeClr val="tx1"/>
                </a:solidFill>
              </a:rPr>
              <a:t>    </a:t>
            </a:r>
            <a:r>
              <a:rPr lang="en-US" sz="2800">
                <a:solidFill>
                  <a:schemeClr val="tx1"/>
                </a:solidFill>
              </a:rPr>
              <a:t>pivot = </a:t>
            </a:r>
            <a:r>
              <a:rPr lang="en-US" sz="2800" smtClean="0">
                <a:solidFill>
                  <a:schemeClr val="tx1"/>
                </a:solidFill>
              </a:rPr>
              <a:t>6</a:t>
            </a:r>
            <a:endParaRPr lang="uk-UA" sz="2800">
              <a:solidFill>
                <a:schemeClr val="tx1"/>
              </a:solidFill>
            </a:endParaRPr>
          </a:p>
        </p:txBody>
      </p:sp>
      <p:cxnSp>
        <p:nvCxnSpPr>
          <p:cNvPr id="17" name="Прямая со стрелкой 16"/>
          <p:cNvCxnSpPr>
            <a:stCxn id="16" idx="2"/>
          </p:cNvCxnSpPr>
          <p:nvPr/>
        </p:nvCxnSpPr>
        <p:spPr>
          <a:xfrm flipH="1">
            <a:off x="5910606" y="5854510"/>
            <a:ext cx="10212" cy="24509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1170493" y="6076870"/>
            <a:ext cx="9500649" cy="6011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kth_element([</a:t>
            </a:r>
            <a:r>
              <a:rPr lang="en-US" sz="2800" smtClean="0">
                <a:solidFill>
                  <a:schemeClr val="tx1"/>
                </a:solidFill>
              </a:rPr>
              <a:t>7</a:t>
            </a:r>
            <a:r>
              <a:rPr lang="en-US" sz="2800">
                <a:solidFill>
                  <a:schemeClr val="tx1"/>
                </a:solidFill>
              </a:rPr>
              <a:t>] ], k=1)</a:t>
            </a:r>
            <a:endParaRPr lang="uk-UA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29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839" y="411532"/>
            <a:ext cx="1013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40839" y="4338115"/>
            <a:ext cx="8152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hlinkClick r:id="rId2"/>
              </a:rPr>
              <a:t>https://leetcode.com/problems/maximum-subarray</a:t>
            </a:r>
            <a:r>
              <a:rPr lang="en-US" sz="2800" i="1" smtClean="0">
                <a:hlinkClick r:id="rId2"/>
              </a:rPr>
              <a:t>/</a:t>
            </a:r>
            <a:endParaRPr lang="uk-UA" sz="2800" i="1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33958" y="2190753"/>
                <a:ext cx="996612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uk-UA" sz="3200" smtClean="0"/>
                  <a:t>Дано масив розміру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3200" smtClean="0"/>
                  <a:t>. </a:t>
                </a:r>
                <a:r>
                  <a:rPr lang="uk-UA" sz="3200" smtClean="0"/>
                  <a:t>Знайти підвідрізок з максимальною сумою. Вивести цю суму.</a:t>
                </a:r>
                <a:endParaRPr lang="uk-UA" sz="3200" b="1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58" y="2190753"/>
                <a:ext cx="9966121" cy="1077218"/>
              </a:xfrm>
              <a:prstGeom prst="rect">
                <a:avLst/>
              </a:prstGeom>
              <a:blipFill rotWithShape="0">
                <a:blip r:embed="rId3"/>
                <a:stretch>
                  <a:fillRect l="-1590" t="-6780" b="-17514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7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839" y="411532"/>
            <a:ext cx="1013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 (приклади)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1718" y="1865633"/>
            <a:ext cx="996612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b="1" smtClean="0"/>
              <a:t>-2  1  -3  4  -1  2  1  -5  4</a:t>
            </a:r>
            <a:r>
              <a:rPr lang="en-US" sz="4400" b="1" smtClean="0"/>
              <a:t>  =&gt; 6</a:t>
            </a:r>
            <a:endParaRPr lang="uk-UA" sz="4400" b="1" smtClean="0"/>
          </a:p>
          <a:p>
            <a:pPr algn="ctr"/>
            <a:endParaRPr lang="uk-UA" sz="2800" b="1"/>
          </a:p>
          <a:p>
            <a:pPr algn="ctr"/>
            <a:r>
              <a:rPr lang="uk-UA" sz="4400" b="1" smtClean="0"/>
              <a:t>1</a:t>
            </a:r>
            <a:r>
              <a:rPr lang="en-US" sz="4400" b="1" smtClean="0"/>
              <a:t>  =&gt; 1</a:t>
            </a:r>
            <a:endParaRPr lang="uk-UA" sz="4400" b="1" smtClean="0"/>
          </a:p>
          <a:p>
            <a:pPr algn="ctr"/>
            <a:endParaRPr lang="uk-UA" sz="2800" b="1"/>
          </a:p>
          <a:p>
            <a:pPr algn="ctr"/>
            <a:r>
              <a:rPr lang="uk-UA" sz="4400" b="1" smtClean="0"/>
              <a:t>5  4  -1  7  8</a:t>
            </a:r>
            <a:r>
              <a:rPr lang="en-US" sz="4400" b="1" smtClean="0"/>
              <a:t>  =&gt; 23</a:t>
            </a:r>
            <a:endParaRPr lang="uk-UA" sz="4400" b="1" smtClean="0"/>
          </a:p>
          <a:p>
            <a:pPr algn="ctr"/>
            <a:endParaRPr lang="uk-UA" sz="2800" b="1" smtClean="0"/>
          </a:p>
          <a:p>
            <a:pPr algn="ctr"/>
            <a:r>
              <a:rPr lang="uk-UA" sz="4400" b="1"/>
              <a:t>3 </a:t>
            </a:r>
            <a:r>
              <a:rPr lang="uk-UA" sz="4400" b="1" smtClean="0"/>
              <a:t> -</a:t>
            </a:r>
            <a:r>
              <a:rPr lang="uk-UA" sz="4400" b="1"/>
              <a:t>5 </a:t>
            </a:r>
            <a:r>
              <a:rPr lang="uk-UA" sz="4400" b="1" smtClean="0"/>
              <a:t> 9  1  -</a:t>
            </a:r>
            <a:r>
              <a:rPr lang="uk-UA" sz="4400" b="1"/>
              <a:t>4 </a:t>
            </a:r>
            <a:r>
              <a:rPr lang="uk-UA" sz="4400" b="1" smtClean="0"/>
              <a:t> 2  -1  -4  4  7  -2  </a:t>
            </a:r>
            <a:r>
              <a:rPr lang="uk-UA" sz="4400" b="1"/>
              <a:t>-</a:t>
            </a:r>
            <a:r>
              <a:rPr lang="uk-UA" sz="4400" b="1" smtClean="0"/>
              <a:t>6</a:t>
            </a:r>
            <a:r>
              <a:rPr lang="en-US" sz="4400" b="1" smtClean="0"/>
              <a:t>  =&gt; 14</a:t>
            </a:r>
            <a:endParaRPr lang="uk-UA" sz="4400" b="1"/>
          </a:p>
        </p:txBody>
      </p:sp>
      <p:sp>
        <p:nvSpPr>
          <p:cNvPr id="6" name="Прямоугольник 5"/>
          <p:cNvSpPr/>
          <p:nvPr/>
        </p:nvSpPr>
        <p:spPr>
          <a:xfrm>
            <a:off x="4267200" y="1865633"/>
            <a:ext cx="227584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4759960" y="3003553"/>
            <a:ext cx="57912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угольник 7"/>
          <p:cNvSpPr/>
          <p:nvPr/>
        </p:nvSpPr>
        <p:spPr>
          <a:xfrm>
            <a:off x="3444240" y="4100833"/>
            <a:ext cx="289560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Прямоугольник 8"/>
          <p:cNvSpPr/>
          <p:nvPr/>
        </p:nvSpPr>
        <p:spPr>
          <a:xfrm>
            <a:off x="2458720" y="5177793"/>
            <a:ext cx="473456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978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838" y="208332"/>
            <a:ext cx="10632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 (повільний код)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51" y="1767840"/>
            <a:ext cx="4108609" cy="43688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58" y="1766949"/>
            <a:ext cx="4530539" cy="436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04362" y="6203508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e4_max_subarray_slow.cpp</a:t>
            </a:r>
            <a:endParaRPr lang="uk-UA" sz="2800" i="1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645878" y="993086"/>
                <a:ext cx="1679114" cy="7218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878" y="993086"/>
                <a:ext cx="1679114" cy="72180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7620770" y="977037"/>
                <a:ext cx="1679114" cy="7218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770" y="977037"/>
                <a:ext cx="1679114" cy="72180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63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839" y="208332"/>
            <a:ext cx="1013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 (ідея, 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1558" y="2018033"/>
            <a:ext cx="112666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smtClean="0"/>
              <a:t>Нехай ми розділили маси</a:t>
            </a:r>
            <a:r>
              <a:rPr lang="uk-UA" sz="3200"/>
              <a:t>в</a:t>
            </a:r>
            <a:r>
              <a:rPr lang="uk-UA" sz="3200" smtClean="0"/>
              <a:t> на дві частини. Тоді, підвідрізок з максимальною сумою: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Або повністю знаходиться в лівій частині (підзадача)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Або повністю знаходиться в правій частині (підзадача)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Або перетинає центр. Тоді він складається з суфікса лівої частини і префікса правої частини.</a:t>
            </a:r>
            <a:endParaRPr lang="uk-UA" sz="3200" b="1"/>
          </a:p>
        </p:txBody>
      </p:sp>
    </p:spTree>
    <p:extLst>
      <p:ext uri="{BB962C8B-B14F-4D97-AF65-F5344CB8AC3E}">
        <p14:creationId xmlns:p14="http://schemas.microsoft.com/office/powerpoint/2010/main" val="119357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839" y="208332"/>
            <a:ext cx="1013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 (ідея, 2)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1718" y="1367793"/>
            <a:ext cx="1126660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Або повністю знаходиться в лівій частині (підзадача)</a:t>
            </a:r>
          </a:p>
          <a:p>
            <a:endParaRPr lang="uk-UA" sz="5400" smtClean="0"/>
          </a:p>
          <a:p>
            <a:pPr marL="457200" indent="-457200">
              <a:buFontTx/>
              <a:buChar char="-"/>
            </a:pPr>
            <a:r>
              <a:rPr lang="uk-UA" sz="3200" smtClean="0"/>
              <a:t>Або повністю знаходиться в правій частині (підзадача)</a:t>
            </a:r>
          </a:p>
          <a:p>
            <a:endParaRPr lang="uk-UA" sz="5400" smtClean="0"/>
          </a:p>
          <a:p>
            <a:pPr marL="457200" indent="-457200">
              <a:buFontTx/>
              <a:buChar char="-"/>
            </a:pPr>
            <a:r>
              <a:rPr lang="uk-UA" sz="3200" smtClean="0"/>
              <a:t>Або перетинає центр. Тоді він складається з суфікса лівої частини і префікса правої частини.</a:t>
            </a:r>
            <a:endParaRPr lang="uk-UA" sz="3200" b="1"/>
          </a:p>
        </p:txBody>
      </p:sp>
      <p:sp>
        <p:nvSpPr>
          <p:cNvPr id="4" name="TextBox 3"/>
          <p:cNvSpPr txBox="1"/>
          <p:nvPr/>
        </p:nvSpPr>
        <p:spPr>
          <a:xfrm>
            <a:off x="1199718" y="5817873"/>
            <a:ext cx="99661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b="1" smtClean="0"/>
              <a:t>3  -</a:t>
            </a:r>
            <a:r>
              <a:rPr lang="uk-UA" sz="4400" b="1"/>
              <a:t>5 </a:t>
            </a:r>
            <a:r>
              <a:rPr lang="uk-UA" sz="4400" b="1" smtClean="0"/>
              <a:t> 9  1  -</a:t>
            </a:r>
            <a:r>
              <a:rPr lang="uk-UA" sz="4400" b="1"/>
              <a:t>4 </a:t>
            </a:r>
            <a:r>
              <a:rPr lang="uk-UA" sz="4400" b="1" smtClean="0"/>
              <a:t> 2 </a:t>
            </a:r>
            <a:r>
              <a:rPr lang="en-US" sz="4400" b="1" smtClean="0"/>
              <a:t>|</a:t>
            </a:r>
            <a:r>
              <a:rPr lang="uk-UA" sz="4400" b="1" smtClean="0"/>
              <a:t> -1  -4  4  7  -2  </a:t>
            </a:r>
            <a:r>
              <a:rPr lang="uk-UA" sz="4400" b="1"/>
              <a:t>-</a:t>
            </a:r>
            <a:r>
              <a:rPr lang="uk-UA" sz="4400" b="1" smtClean="0"/>
              <a:t>6</a:t>
            </a:r>
            <a:endParaRPr lang="uk-UA" sz="4400" b="1"/>
          </a:p>
        </p:txBody>
      </p:sp>
      <p:sp>
        <p:nvSpPr>
          <p:cNvPr id="5" name="Прямоугольник 4"/>
          <p:cNvSpPr/>
          <p:nvPr/>
        </p:nvSpPr>
        <p:spPr>
          <a:xfrm>
            <a:off x="3566160" y="5878833"/>
            <a:ext cx="230632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угольник 5"/>
          <p:cNvSpPr/>
          <p:nvPr/>
        </p:nvSpPr>
        <p:spPr>
          <a:xfrm>
            <a:off x="6167120" y="5868673"/>
            <a:ext cx="241808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TextBox 6"/>
          <p:cNvSpPr txBox="1"/>
          <p:nvPr/>
        </p:nvSpPr>
        <p:spPr>
          <a:xfrm>
            <a:off x="1301318" y="4964433"/>
            <a:ext cx="99661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b="1" smtClean="0"/>
              <a:t>-2  1  -3  4 </a:t>
            </a:r>
            <a:r>
              <a:rPr lang="en-US" sz="4400" b="1" smtClean="0"/>
              <a:t>|</a:t>
            </a:r>
            <a:r>
              <a:rPr lang="uk-UA" sz="4400" b="1" smtClean="0"/>
              <a:t> -1  2  </a:t>
            </a:r>
            <a:r>
              <a:rPr lang="en-US" sz="4400" b="1" smtClean="0"/>
              <a:t>-3</a:t>
            </a:r>
            <a:r>
              <a:rPr lang="uk-UA" sz="4400" b="1" smtClean="0"/>
              <a:t>  -5  4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288436" y="5035553"/>
            <a:ext cx="482443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Прямоугольник 8"/>
          <p:cNvSpPr/>
          <p:nvPr/>
        </p:nvSpPr>
        <p:spPr>
          <a:xfrm>
            <a:off x="6136640" y="5035553"/>
            <a:ext cx="116840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TextBox 9"/>
          <p:cNvSpPr txBox="1"/>
          <p:nvPr/>
        </p:nvSpPr>
        <p:spPr>
          <a:xfrm>
            <a:off x="1214539" y="1916433"/>
            <a:ext cx="99661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smtClean="0"/>
              <a:t>3</a:t>
            </a:r>
            <a:r>
              <a:rPr lang="uk-UA" sz="4400" b="1" smtClean="0"/>
              <a:t>  -</a:t>
            </a:r>
            <a:r>
              <a:rPr lang="en-US" sz="4400" b="1" smtClean="0"/>
              <a:t>2</a:t>
            </a:r>
            <a:r>
              <a:rPr lang="uk-UA" sz="4400" b="1" smtClean="0"/>
              <a:t>  9  </a:t>
            </a:r>
            <a:r>
              <a:rPr lang="en-US" sz="4400" b="1" smtClean="0"/>
              <a:t>3</a:t>
            </a:r>
            <a:r>
              <a:rPr lang="uk-UA" sz="4400" b="1" smtClean="0"/>
              <a:t>  -</a:t>
            </a:r>
            <a:r>
              <a:rPr lang="uk-UA" sz="4400" b="1"/>
              <a:t>4 </a:t>
            </a:r>
            <a:r>
              <a:rPr lang="uk-UA" sz="4400" b="1" smtClean="0"/>
              <a:t> 2 </a:t>
            </a:r>
            <a:r>
              <a:rPr lang="en-US" sz="4400" b="1" smtClean="0"/>
              <a:t>|</a:t>
            </a:r>
            <a:r>
              <a:rPr lang="uk-UA" sz="4400" b="1" smtClean="0"/>
              <a:t> -1  -</a:t>
            </a:r>
            <a:r>
              <a:rPr lang="en-US" sz="4400" b="1" smtClean="0"/>
              <a:t>9</a:t>
            </a:r>
            <a:r>
              <a:rPr lang="uk-UA" sz="4400" b="1" smtClean="0"/>
              <a:t>  4  </a:t>
            </a:r>
            <a:r>
              <a:rPr lang="en-US" sz="4400" b="1" smtClean="0"/>
              <a:t>2</a:t>
            </a:r>
            <a:r>
              <a:rPr lang="uk-UA" sz="4400" b="1" smtClean="0"/>
              <a:t>  -2  -</a:t>
            </a:r>
            <a:r>
              <a:rPr lang="en-US" sz="4400" b="1"/>
              <a:t>5</a:t>
            </a:r>
            <a:endParaRPr lang="uk-UA" sz="4400" b="1"/>
          </a:p>
        </p:txBody>
      </p:sp>
      <p:sp>
        <p:nvSpPr>
          <p:cNvPr id="11" name="Прямоугольник 10"/>
          <p:cNvSpPr/>
          <p:nvPr/>
        </p:nvSpPr>
        <p:spPr>
          <a:xfrm>
            <a:off x="2326640" y="1957073"/>
            <a:ext cx="225552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TextBox 11"/>
          <p:cNvSpPr txBox="1"/>
          <p:nvPr/>
        </p:nvSpPr>
        <p:spPr>
          <a:xfrm>
            <a:off x="1214539" y="3196593"/>
            <a:ext cx="99661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smtClean="0"/>
              <a:t>3</a:t>
            </a:r>
            <a:r>
              <a:rPr lang="uk-UA" sz="4400" b="1" smtClean="0"/>
              <a:t>  </a:t>
            </a:r>
            <a:r>
              <a:rPr lang="en-US" sz="4400" b="1" smtClean="0"/>
              <a:t>4</a:t>
            </a:r>
            <a:r>
              <a:rPr lang="uk-UA" sz="4400" b="1" smtClean="0"/>
              <a:t>  </a:t>
            </a:r>
            <a:r>
              <a:rPr lang="en-US" sz="4400" b="1" smtClean="0"/>
              <a:t>-8</a:t>
            </a:r>
            <a:r>
              <a:rPr lang="uk-UA" sz="4400" b="1" smtClean="0"/>
              <a:t> </a:t>
            </a:r>
            <a:r>
              <a:rPr lang="en-US" sz="4400" b="1" smtClean="0"/>
              <a:t>|</a:t>
            </a:r>
            <a:r>
              <a:rPr lang="uk-UA" sz="4400" b="1" smtClean="0"/>
              <a:t> </a:t>
            </a:r>
            <a:r>
              <a:rPr lang="en-US" sz="4400" b="1" smtClean="0"/>
              <a:t>-1</a:t>
            </a:r>
            <a:r>
              <a:rPr lang="uk-UA" sz="4400" b="1" smtClean="0"/>
              <a:t>  </a:t>
            </a:r>
            <a:r>
              <a:rPr lang="en-US" sz="4400" b="1"/>
              <a:t>9</a:t>
            </a:r>
            <a:r>
              <a:rPr lang="uk-UA" sz="4400" b="1" smtClean="0"/>
              <a:t>  -</a:t>
            </a:r>
            <a:r>
              <a:rPr lang="en-US" sz="4400" b="1" smtClean="0"/>
              <a:t>3</a:t>
            </a:r>
            <a:endParaRPr lang="uk-UA" sz="4400" b="1"/>
          </a:p>
        </p:txBody>
      </p:sp>
      <p:sp>
        <p:nvSpPr>
          <p:cNvPr id="13" name="Прямоугольник 12"/>
          <p:cNvSpPr/>
          <p:nvPr/>
        </p:nvSpPr>
        <p:spPr>
          <a:xfrm>
            <a:off x="6990080" y="3234514"/>
            <a:ext cx="477520" cy="684527"/>
          </a:xfrm>
          <a:prstGeom prst="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0879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код, 1)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2998" y="1404012"/>
            <a:ext cx="10510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Декларація функції;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Базовий випадок (1 елемент в масиві);</a:t>
            </a:r>
            <a:endParaRPr lang="uk-UA" sz="3200"/>
          </a:p>
        </p:txBody>
      </p:sp>
      <p:sp>
        <p:nvSpPr>
          <p:cNvPr id="8" name="TextBox 7"/>
          <p:cNvSpPr txBox="1"/>
          <p:nvPr/>
        </p:nvSpPr>
        <p:spPr>
          <a:xfrm>
            <a:off x="1032282" y="5766628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e5_max_subarray_dac.cpp</a:t>
            </a:r>
            <a:endParaRPr lang="uk-UA" sz="2800" i="1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465" y="3007837"/>
            <a:ext cx="5582429" cy="40010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289" y="3820416"/>
            <a:ext cx="298174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5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код,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2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442" y="1148722"/>
            <a:ext cx="10510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 smtClean="0"/>
              <a:t>Або повністю знаходиться в лівій частині (підзадача)</a:t>
            </a:r>
          </a:p>
          <a:p>
            <a:pPr marL="457200" indent="-457200">
              <a:buFontTx/>
              <a:buChar char="-"/>
            </a:pPr>
            <a:r>
              <a:rPr lang="uk-UA" sz="3200" smtClean="0"/>
              <a:t>Або повністю знаходиться в правій частині (підзадача)</a:t>
            </a:r>
            <a:endParaRPr lang="uk-UA" sz="3200"/>
          </a:p>
        </p:txBody>
      </p:sp>
      <p:sp>
        <p:nvSpPr>
          <p:cNvPr id="8" name="TextBox 7"/>
          <p:cNvSpPr txBox="1"/>
          <p:nvPr/>
        </p:nvSpPr>
        <p:spPr>
          <a:xfrm>
            <a:off x="1428522" y="6185786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e5_max_subarray_dac.cpp</a:t>
            </a:r>
            <a:endParaRPr lang="uk-UA" sz="2800" i="1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02" y="2315013"/>
            <a:ext cx="4250918" cy="274887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03" y="5170996"/>
            <a:ext cx="6973273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код,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442" y="1148722"/>
            <a:ext cx="10510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/>
              <a:t>Або перетинає центр. Тоді він складається з </a:t>
            </a:r>
            <a:r>
              <a:rPr lang="uk-UA" sz="3200" smtClean="0"/>
              <a:t>суфікса </a:t>
            </a:r>
            <a:r>
              <a:rPr lang="uk-UA" sz="3200"/>
              <a:t>лівої частини і префікса правої частини.</a:t>
            </a:r>
            <a:endParaRPr lang="uk-UA" sz="3200" b="1"/>
          </a:p>
        </p:txBody>
      </p:sp>
      <p:sp>
        <p:nvSpPr>
          <p:cNvPr id="8" name="TextBox 7"/>
          <p:cNvSpPr txBox="1"/>
          <p:nvPr/>
        </p:nvSpPr>
        <p:spPr>
          <a:xfrm>
            <a:off x="1428522" y="6185786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e5_max_subarray_dac.cpp</a:t>
            </a:r>
            <a:endParaRPr lang="uk-UA" sz="2800" i="1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35" y="2315013"/>
            <a:ext cx="8615866" cy="372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2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7142" y="228652"/>
            <a:ext cx="8823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код, </a:t>
            </a:r>
            <a:r>
              <a:rPr lang="en-US" sz="4800" b="1" smtClean="0">
                <a:solidFill>
                  <a:srgbClr val="002060"/>
                </a:solidFill>
                <a:cs typeface="Arial" panose="020B0604020202020204" pitchFamily="34" charset="0"/>
              </a:rPr>
              <a:t>4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442" y="1308311"/>
            <a:ext cx="105108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uk-UA" sz="3200"/>
              <a:t>Або повністю знаходиться в лівій частині (підзадача)</a:t>
            </a:r>
          </a:p>
          <a:p>
            <a:pPr marL="457200" indent="-457200">
              <a:buFontTx/>
              <a:buChar char="-"/>
            </a:pPr>
            <a:r>
              <a:rPr lang="uk-UA" sz="3200"/>
              <a:t>Або повністю знаходиться в правій частині (підзадача)</a:t>
            </a:r>
          </a:p>
          <a:p>
            <a:pPr marL="457200" indent="-457200">
              <a:buFontTx/>
              <a:buChar char="-"/>
            </a:pPr>
            <a:r>
              <a:rPr lang="uk-UA" sz="3200"/>
              <a:t>Або перетинає центр. Тоді він складається з </a:t>
            </a:r>
            <a:r>
              <a:rPr lang="uk-UA" sz="3200" smtClean="0"/>
              <a:t>суфікса </a:t>
            </a:r>
            <a:r>
              <a:rPr lang="uk-UA" sz="3200"/>
              <a:t>лівої частини і префікса правої частини.</a:t>
            </a:r>
            <a:endParaRPr lang="uk-UA" sz="3200" b="1"/>
          </a:p>
        </p:txBody>
      </p:sp>
      <p:sp>
        <p:nvSpPr>
          <p:cNvPr id="8" name="TextBox 7"/>
          <p:cNvSpPr txBox="1"/>
          <p:nvPr/>
        </p:nvSpPr>
        <p:spPr>
          <a:xfrm>
            <a:off x="1428522" y="5586346"/>
            <a:ext cx="425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e5_max_subarray_dac.cpp</a:t>
            </a:r>
            <a:endParaRPr lang="uk-UA" sz="2800" i="1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51" y="3721654"/>
            <a:ext cx="9793067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4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040" y="228652"/>
            <a:ext cx="11287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>
                <a:solidFill>
                  <a:srgbClr val="002060"/>
                </a:solidFill>
                <a:cs typeface="Arial" panose="020B0604020202020204" pitchFamily="34" charset="0"/>
              </a:rPr>
              <a:t>Макс сума підвідрізка</a:t>
            </a:r>
            <a:r>
              <a:rPr lang="uk-UA" sz="4800" b="1" smtClean="0">
                <a:solidFill>
                  <a:srgbClr val="002060"/>
                </a:solidFill>
                <a:cs typeface="Arial" panose="020B0604020202020204" pitchFamily="34" charset="0"/>
              </a:rPr>
              <a:t> (складність)</a:t>
            </a:r>
            <a:endParaRPr lang="uk-UA" sz="4800" b="1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99875" y="1420071"/>
                <a:ext cx="993548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Tx/>
                  <a:buChar char="-"/>
                </a:pPr>
                <a:r>
                  <a:rPr lang="uk-UA" sz="3200" smtClean="0"/>
                  <a:t>Або повністю знаходиться в лівій частині (</a:t>
                </a:r>
                <a:r>
                  <a:rPr lang="uk-UA" sz="3200"/>
                  <a:t>підзадача</a:t>
                </a:r>
                <a:r>
                  <a:rPr lang="uk-UA" sz="3200" smtClean="0"/>
                  <a:t>).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/>
              </a:p>
              <a:p>
                <a:pPr marL="457200" indent="-457200">
                  <a:buFontTx/>
                  <a:buChar char="-"/>
                </a:pPr>
                <a:r>
                  <a:rPr lang="uk-UA" sz="3200"/>
                  <a:t>Або повністю знаходиться в правій частині (підзадача</a:t>
                </a:r>
                <a:r>
                  <a:rPr lang="uk-UA" sz="3200" smtClean="0"/>
                  <a:t>)</a:t>
                </a:r>
                <a:r>
                  <a:rPr lang="en-US" sz="3200" smtClean="0"/>
                  <a:t>.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3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/>
              </a:p>
              <a:p>
                <a:pPr marL="457200" indent="-457200">
                  <a:buFontTx/>
                  <a:buChar char="-"/>
                </a:pPr>
                <a:r>
                  <a:rPr lang="uk-UA" sz="3200"/>
                  <a:t>Або перетинає центр. Тоді він складається з </a:t>
                </a:r>
                <a:r>
                  <a:rPr lang="uk-UA" sz="3200" smtClean="0"/>
                  <a:t>суфікса </a:t>
                </a:r>
                <a:r>
                  <a:rPr lang="uk-UA" sz="3200"/>
                  <a:t>лівої частини і префікса правої частини</a:t>
                </a:r>
                <a:r>
                  <a:rPr lang="uk-UA" sz="3200" smtClean="0"/>
                  <a:t>.</a:t>
                </a:r>
                <a:r>
                  <a:rPr lang="en-US" sz="3200" smtClean="0"/>
                  <a:t>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uk-UA" sz="3200" b="1"/>
              </a:p>
              <a:p>
                <a:pPr marL="457200" indent="-457200">
                  <a:buFontTx/>
                  <a:buChar char="-"/>
                </a:pPr>
                <a:endParaRPr lang="uk-UA" sz="3200" b="1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875" y="1420071"/>
                <a:ext cx="9935485" cy="3539430"/>
              </a:xfrm>
              <a:prstGeom prst="rect">
                <a:avLst/>
              </a:prstGeom>
              <a:blipFill rotWithShape="0">
                <a:blip r:embed="rId2"/>
                <a:stretch>
                  <a:fillRect l="-1656" t="-2754" r="-135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862190" y="4700105"/>
                <a:ext cx="6193299" cy="839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4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0" y="4700105"/>
                <a:ext cx="6193299" cy="8399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3319090" y="5708182"/>
                <a:ext cx="499585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40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uk-UA" sz="4000" b="1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090" y="5708182"/>
                <a:ext cx="4995855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60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60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984</Words>
  <Application>Microsoft Office PowerPoint</Application>
  <PresentationFormat>Широкоэкранный</PresentationFormat>
  <Paragraphs>118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141</cp:revision>
  <dcterms:created xsi:type="dcterms:W3CDTF">2026-01-27T07:18:31Z</dcterms:created>
  <dcterms:modified xsi:type="dcterms:W3CDTF">2026-02-21T14:44:35Z</dcterms:modified>
</cp:coreProperties>
</file>